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21B14"/>
              </a:gs>
              <a:gs pos="50000">
                <a:srgbClr val="063A2B"/>
              </a:gs>
              <a:gs pos="100000">
                <a:srgbClr val="0A5A52"/>
              </a:gs>
            </a:gsLst>
            <a:lin ang="18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5905500" y="-4000500"/>
            <a:ext cx="10001250" cy="10001250"/>
          </a:xfrm>
          <a:prstGeom prst="ellipse">
            <a:avLst/>
          </a:prstGeom>
          <a:gradFill rotWithShape="1">
            <a:gsLst>
              <a:gs pos="0">
                <a:srgbClr val="2EC4A6">
                  <a:alpha val="34000"/>
                </a:srgbClr>
              </a:gs>
              <a:gs pos="100000">
                <a:srgbClr val="2EC4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-3619500" y="3619500"/>
            <a:ext cx="7810500" cy="7810500"/>
          </a:xfrm>
          <a:prstGeom prst="ellipse">
            <a:avLst/>
          </a:prstGeom>
          <a:gradFill rotWithShape="1">
            <a:gsLst>
              <a:gs pos="0">
                <a:srgbClr val="BD8B22">
                  <a:alpha val="20000"/>
                </a:srgbClr>
              </a:gs>
              <a:gs pos="100000">
                <a:srgbClr val="BD8B2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2857500" y="3619500"/>
            <a:ext cx="6667500" cy="4953000"/>
          </a:xfrm>
          <a:prstGeom prst="ellipse">
            <a:avLst/>
          </a:prstGeom>
          <a:gradFill rotWithShape="1">
            <a:gsLst>
              <a:gs pos="0">
                <a:srgbClr val="1C9A72">
                  <a:alpha val="16000"/>
                </a:srgbClr>
              </a:gs>
              <a:gs pos="100000">
                <a:srgbClr val="1C9A7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 rot="20640000">
            <a:off x="-952500" y="2381250"/>
            <a:ext cx="14287500" cy="17145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 rot="20640000">
            <a:off x="-571500" y="2857500"/>
            <a:ext cx="13906500" cy="19050"/>
          </a:xfrm>
          <a:prstGeom prst="rect">
            <a:avLst/>
          </a:prstGeom>
          <a:gradFill rotWithShape="1">
            <a:gsLst>
              <a:gs pos="0">
                <a:srgbClr val="A8F0DD">
                  <a:alpha val="0"/>
                </a:srgbClr>
              </a:gs>
              <a:gs pos="50000">
                <a:srgbClr val="A8F0DD">
                  <a:alpha val="28000"/>
                </a:srgbClr>
              </a:gs>
              <a:gs pos="100000">
                <a:srgbClr val="A8F0DD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 rot="20640000">
            <a:off x="762000" y="1143000"/>
            <a:ext cx="13335000" cy="14288"/>
          </a:xfrm>
          <a:prstGeom prst="rect">
            <a:avLst/>
          </a:prstGeom>
          <a:gradFill rotWithShape="1">
            <a:gsLst>
              <a:gs pos="0">
                <a:srgbClr val="E3B85A">
                  <a:alpha val="0"/>
                </a:srgbClr>
              </a:gs>
              <a:gs pos="60000">
                <a:srgbClr val="E3B85A">
                  <a:alpha val="22000"/>
                </a:srgbClr>
              </a:gs>
              <a:gs pos="100000">
                <a:srgbClr val="E3B85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533400" y="38100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95250">
              <a:srgbClr val="E3B85A">
                <a:alpha val="3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533400" y="38100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470" y="190"/>
                </a:moveTo>
                <a:cubicBezTo>
                  <a:pt x="390" y="190"/>
                  <a:pt x="320" y="220"/>
                  <a:pt x="270" y="280"/>
                </a:cubicBezTo>
                <a:lnTo>
                  <a:pt x="180" y="240"/>
                </a:lnTo>
                <a:lnTo>
                  <a:pt x="240" y="330"/>
                </a:lnTo>
                <a:lnTo>
                  <a:pt x="170" y="380"/>
                </a:lnTo>
                <a:lnTo>
                  <a:pt x="280" y="370"/>
                </a:lnTo>
                <a:cubicBezTo>
                  <a:pt x="320" y="440"/>
                  <a:pt x="380" y="490"/>
                  <a:pt x="460" y="520"/>
                </a:cubicBezTo>
                <a:cubicBezTo>
                  <a:pt x="410" y="470"/>
                  <a:pt x="380" y="420"/>
                  <a:pt x="370" y="360"/>
                </a:cubicBezTo>
                <a:lnTo>
                  <a:pt x="470" y="310"/>
                </a:lnTo>
                <a:lnTo>
                  <a:pt x="360" y="290"/>
                </a:lnTo>
                <a:cubicBezTo>
                  <a:pt x="390" y="250"/>
                  <a:pt x="430" y="220"/>
                  <a:pt x="470" y="190"/>
                </a:cubicBezTo>
                <a:close/>
              </a:path>
            </a:pathLst>
          </a:cu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790129" y="514499"/>
            <a:ext cx="20538" cy="205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1066800" y="3810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1066800" y="6286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spc="300" dirty="0">
                <a:solidFill>
                  <a:srgbClr val="E3B85A"/>
                </a:solidFill>
                <a:latin typeface="Segoe UI"/>
                <a:cs typeface="Segoe UI"/>
              </a:rPr>
              <a:t>PORTFOLIO PORTAL</a:t>
            </a:r>
            <a:endParaRPr lang="en-US" sz="800" dirty="0"/>
          </a:p>
        </p:txBody>
      </p:sp>
      <p:sp>
        <p:nvSpPr>
          <p:cNvPr id="14" name="Shape 14"/>
          <p:cNvSpPr/>
          <p:nvPr/>
        </p:nvSpPr>
        <p:spPr>
          <a:xfrm>
            <a:off x="533400" y="9906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50" dirty="0">
                <a:solidFill>
                  <a:srgbClr val="6FD9C0"/>
                </a:solidFill>
                <a:latin typeface="Segoe UI"/>
                <a:cs typeface="Segoe UI"/>
              </a:rPr>
              <a:t>REGISTRATION   •   PET &amp; BUDGET CONTROL   •   VISIBILITY</a:t>
            </a:r>
            <a:endParaRPr lang="en-US" sz="850" dirty="0"/>
          </a:p>
        </p:txBody>
      </p:sp>
      <p:sp>
        <p:nvSpPr>
          <p:cNvPr id="15" name="Shape 15"/>
          <p:cNvSpPr/>
          <p:nvPr/>
        </p:nvSpPr>
        <p:spPr>
          <a:xfrm>
            <a:off x="533400" y="1200150"/>
            <a:ext cx="5334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>
              <a:lnSpc>
                <a:spcPct val="8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5600" dirty="0"/>
          </a:p>
        </p:txBody>
      </p:sp>
      <p:sp>
        <p:nvSpPr>
          <p:cNvPr id="16" name="Shape 16"/>
          <p:cNvSpPr/>
          <p:nvPr/>
        </p:nvSpPr>
        <p:spPr>
          <a:xfrm>
            <a:off x="533400" y="19431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E3B85A"/>
                </a:solidFill>
                <a:latin typeface="Segoe UI"/>
                <a:cs typeface="Segoe UI"/>
              </a:rPr>
              <a:t>Portfolio Portal</a:t>
            </a:r>
            <a:endParaRPr lang="en-US" sz="4000" dirty="0"/>
          </a:p>
        </p:txBody>
      </p:sp>
      <p:sp>
        <p:nvSpPr>
          <p:cNvPr id="17" name="Shape 17"/>
          <p:cNvSpPr/>
          <p:nvPr/>
        </p:nvSpPr>
        <p:spPr>
          <a:xfrm>
            <a:off x="533400" y="2686050"/>
            <a:ext cx="533400" cy="28575"/>
          </a:xfrm>
          <a:prstGeom prst="rect">
            <a:avLst/>
          </a:prstGeom>
          <a:gradFill rotWithShape="1">
            <a:gsLst>
              <a:gs pos="0">
                <a:srgbClr val="2EC4A6"/>
              </a:gs>
              <a:gs pos="100000">
                <a:srgbClr val="E3B85A"/>
              </a:gs>
            </a:gsLst>
            <a:lin ang="0" scaled="0"/>
          </a:gradFill>
          <a:ln>
            <a:noFill/>
          </a:ln>
          <a:effectLst>
            <a:glow rad="38100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1181100" y="257175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600" b="0" spc="200" dirty="0">
                <a:solidFill>
                  <a:srgbClr val="D6E8E0"/>
                </a:solidFill>
                <a:latin typeface="Segoe UI Light"/>
                <a:cs typeface="Segoe UI Light"/>
              </a:rPr>
              <a:t>Executive Overview</a:t>
            </a:r>
            <a:endParaRPr lang="en-US" sz="1600" dirty="0"/>
          </a:p>
        </p:txBody>
      </p:sp>
      <p:sp>
        <p:nvSpPr>
          <p:cNvPr id="19" name="Shape 19"/>
          <p:cNvSpPr/>
          <p:nvPr/>
        </p:nvSpPr>
        <p:spPr>
          <a:xfrm>
            <a:off x="533400" y="2895600"/>
            <a:ext cx="5048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350" b="0" dirty="0">
                <a:solidFill>
                  <a:srgbClr val="CFE1D9"/>
                </a:solidFill>
                <a:latin typeface="Segoe UI"/>
                <a:cs typeface="Segoe UI"/>
              </a:rPr>
              <a:t>One governed workspace that connects project registration, PET and budget control, approvals and management reporting for DIB.</a:t>
            </a:r>
            <a:endParaRPr lang="en-US" sz="1350" dirty="0"/>
          </a:p>
        </p:txBody>
      </p:sp>
      <p:sp>
        <p:nvSpPr>
          <p:cNvPr id="20" name="Shape 20"/>
          <p:cNvSpPr/>
          <p:nvPr/>
        </p:nvSpPr>
        <p:spPr>
          <a:xfrm>
            <a:off x="533400" y="3733800"/>
            <a:ext cx="5048250" cy="59055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685800" y="3790950"/>
            <a:ext cx="20383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FROM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B5C7C0"/>
                </a:solidFill>
                <a:latin typeface="Segoe UI"/>
                <a:cs typeface="Segoe UI"/>
              </a:rPr>
              <a:t>Scattered JIRA, spreadsheet and email tracking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2819400" y="3924300"/>
            <a:ext cx="304800" cy="20955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3" name="Shape 23"/>
          <p:cNvSpPr/>
          <p:nvPr/>
        </p:nvSpPr>
        <p:spPr>
          <a:xfrm>
            <a:off x="3238500" y="3790950"/>
            <a:ext cx="2247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E3B85A"/>
                </a:solidFill>
                <a:latin typeface="Segoe UI"/>
                <a:cs typeface="Segoe UI"/>
              </a:rPr>
              <a:t>TO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One governed portfolio record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533400" y="4438650"/>
            <a:ext cx="4000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spc="200" dirty="0">
                <a:solidFill>
                  <a:srgbClr val="E3B85A"/>
                </a:solidFill>
                <a:latin typeface="Segoe UI"/>
                <a:cs typeface="Segoe UI"/>
              </a:rPr>
              <a:t>KEY CAPABILITIES   ·   IN PORTAL TODAY</a:t>
            </a:r>
            <a:endParaRPr lang="en-US" sz="800" dirty="0"/>
          </a:p>
        </p:txBody>
      </p:sp>
      <p:sp>
        <p:nvSpPr>
          <p:cNvPr id="25" name="Shape 25"/>
          <p:cNvSpPr/>
          <p:nvPr/>
        </p:nvSpPr>
        <p:spPr>
          <a:xfrm>
            <a:off x="533400" y="4648200"/>
            <a:ext cx="24955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628650" y="4733925"/>
            <a:ext cx="95250" cy="95250"/>
          </a:xfrm>
          <a:prstGeom prst="ellipse">
            <a:avLst/>
          </a:prstGeom>
          <a:gradFill rotWithShape="1">
            <a:gsLst>
              <a:gs pos="0">
                <a:srgbClr val="3FD6C3"/>
              </a:gs>
              <a:gs pos="100000">
                <a:srgbClr val="0E5A57"/>
              </a:gs>
            </a:gsLst>
            <a:lin ang="5400000" scaled="0"/>
          </a:gra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800100" y="46482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EAF4F0"/>
                </a:solidFill>
                <a:latin typeface="Segoe UI"/>
                <a:cs typeface="Segoe UI"/>
              </a:rPr>
              <a:t>JIRA &amp; Non-JIRA registration</a:t>
            </a:r>
            <a:endParaRPr lang="en-US" sz="950" dirty="0"/>
          </a:p>
        </p:txBody>
      </p:sp>
      <p:sp>
        <p:nvSpPr>
          <p:cNvPr id="28" name="Shape 28"/>
          <p:cNvSpPr/>
          <p:nvPr/>
        </p:nvSpPr>
        <p:spPr>
          <a:xfrm>
            <a:off x="3086100" y="4648200"/>
            <a:ext cx="24955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9" name="Shape 29"/>
          <p:cNvSpPr/>
          <p:nvPr/>
        </p:nvSpPr>
        <p:spPr>
          <a:xfrm>
            <a:off x="3181350" y="4733925"/>
            <a:ext cx="95250" cy="95250"/>
          </a:xfrm>
          <a:prstGeom prst="ellipse">
            <a:avLst/>
          </a:prstGeom>
          <a:gradFill rotWithShape="1">
            <a:gsLst>
              <a:gs pos="0">
                <a:srgbClr val="3FD6C3"/>
              </a:gs>
              <a:gs pos="100000">
                <a:srgbClr val="0E5A57"/>
              </a:gs>
            </a:gsLst>
            <a:lin ang="5400000" scaled="0"/>
          </a:gra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0" name="Shape 30"/>
          <p:cNvSpPr/>
          <p:nvPr/>
        </p:nvSpPr>
        <p:spPr>
          <a:xfrm>
            <a:off x="3352800" y="46482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EAF4F0"/>
                </a:solidFill>
                <a:latin typeface="Segoe UI"/>
                <a:cs typeface="Segoe UI"/>
              </a:rPr>
              <a:t>PET review &amp; approval workflow</a:t>
            </a:r>
            <a:endParaRPr lang="en-US" sz="950" dirty="0"/>
          </a:p>
        </p:txBody>
      </p:sp>
      <p:sp>
        <p:nvSpPr>
          <p:cNvPr id="31" name="Shape 31"/>
          <p:cNvSpPr/>
          <p:nvPr/>
        </p:nvSpPr>
        <p:spPr>
          <a:xfrm>
            <a:off x="533400" y="4972050"/>
            <a:ext cx="24955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2" name="Shape 32"/>
          <p:cNvSpPr/>
          <p:nvPr/>
        </p:nvSpPr>
        <p:spPr>
          <a:xfrm>
            <a:off x="628650" y="5057775"/>
            <a:ext cx="95250" cy="95250"/>
          </a:xfrm>
          <a:prstGeom prst="ellipse">
            <a:avLst/>
          </a:prstGeom>
          <a:gradFill rotWithShape="1">
            <a:gsLst>
              <a:gs pos="0">
                <a:srgbClr val="3FD6C3"/>
              </a:gs>
              <a:gs pos="100000">
                <a:srgbClr val="0E5A57"/>
              </a:gs>
            </a:gsLst>
            <a:lin ang="5400000" scaled="0"/>
          </a:gra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800100" y="497205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EAF4F0"/>
                </a:solidFill>
                <a:latin typeface="Segoe UI"/>
                <a:cs typeface="Segoe UI"/>
              </a:rPr>
              <a:t>CAPEX / OPEX budget control</a:t>
            </a:r>
            <a:endParaRPr lang="en-US" sz="950" dirty="0"/>
          </a:p>
        </p:txBody>
      </p:sp>
      <p:sp>
        <p:nvSpPr>
          <p:cNvPr id="34" name="Shape 34"/>
          <p:cNvSpPr/>
          <p:nvPr/>
        </p:nvSpPr>
        <p:spPr>
          <a:xfrm>
            <a:off x="3086100" y="4972050"/>
            <a:ext cx="24955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5" name="Shape 35"/>
          <p:cNvSpPr/>
          <p:nvPr/>
        </p:nvSpPr>
        <p:spPr>
          <a:xfrm>
            <a:off x="3181350" y="5057775"/>
            <a:ext cx="95250" cy="95250"/>
          </a:xfrm>
          <a:prstGeom prst="ellipse">
            <a:avLst/>
          </a:prstGeom>
          <a:gradFill rotWithShape="1">
            <a:gsLst>
              <a:gs pos="0">
                <a:srgbClr val="3FD6C3"/>
              </a:gs>
              <a:gs pos="100000">
                <a:srgbClr val="0E5A57"/>
              </a:gs>
            </a:gsLst>
            <a:lin ang="5400000" scaled="0"/>
          </a:gra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6" name="Shape 36"/>
          <p:cNvSpPr/>
          <p:nvPr/>
        </p:nvSpPr>
        <p:spPr>
          <a:xfrm>
            <a:off x="3352800" y="497205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EAF4F0"/>
                </a:solidFill>
                <a:latin typeface="Segoe UI"/>
                <a:cs typeface="Segoe UI"/>
              </a:rPr>
              <a:t>Budget lines, CAM/LPO, invoices</a:t>
            </a:r>
            <a:endParaRPr lang="en-US" sz="950" dirty="0"/>
          </a:p>
        </p:txBody>
      </p:sp>
      <p:sp>
        <p:nvSpPr>
          <p:cNvPr id="37" name="Shape 37"/>
          <p:cNvSpPr/>
          <p:nvPr/>
        </p:nvSpPr>
        <p:spPr>
          <a:xfrm>
            <a:off x="533400" y="5295900"/>
            <a:ext cx="24955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8" name="Shape 38"/>
          <p:cNvSpPr/>
          <p:nvPr/>
        </p:nvSpPr>
        <p:spPr>
          <a:xfrm>
            <a:off x="628650" y="5381625"/>
            <a:ext cx="95250" cy="95250"/>
          </a:xfrm>
          <a:prstGeom prst="ellipse">
            <a:avLst/>
          </a:prstGeom>
          <a:gradFill rotWithShape="1">
            <a:gsLst>
              <a:gs pos="0">
                <a:srgbClr val="3FD6C3"/>
              </a:gs>
              <a:gs pos="100000">
                <a:srgbClr val="0E5A57"/>
              </a:gs>
            </a:gsLst>
            <a:lin ang="5400000" scaled="0"/>
          </a:gra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9" name="Shape 39"/>
          <p:cNvSpPr/>
          <p:nvPr/>
        </p:nvSpPr>
        <p:spPr>
          <a:xfrm>
            <a:off x="800100" y="52959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EAF4F0"/>
                </a:solidFill>
                <a:latin typeface="Segoe UI"/>
                <a:cs typeface="Segoe UI"/>
              </a:rPr>
              <a:t>Role-based access &amp; audit trail</a:t>
            </a:r>
            <a:endParaRPr lang="en-US" sz="950" dirty="0"/>
          </a:p>
        </p:txBody>
      </p:sp>
      <p:sp>
        <p:nvSpPr>
          <p:cNvPr id="40" name="Shape 40"/>
          <p:cNvSpPr/>
          <p:nvPr/>
        </p:nvSpPr>
        <p:spPr>
          <a:xfrm>
            <a:off x="3086100" y="5295900"/>
            <a:ext cx="24955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1" name="Shape 41"/>
          <p:cNvSpPr/>
          <p:nvPr/>
        </p:nvSpPr>
        <p:spPr>
          <a:xfrm>
            <a:off x="3181350" y="5381625"/>
            <a:ext cx="95250" cy="95250"/>
          </a:xfrm>
          <a:prstGeom prst="ellipse">
            <a:avLst/>
          </a:prstGeom>
          <a:gradFill rotWithShape="1">
            <a:gsLst>
              <a:gs pos="0">
                <a:srgbClr val="3FD6C3"/>
              </a:gs>
              <a:gs pos="100000">
                <a:srgbClr val="0E5A57"/>
              </a:gs>
            </a:gsLst>
            <a:lin ang="5400000" scaled="0"/>
          </a:gra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2" name="Shape 42"/>
          <p:cNvSpPr/>
          <p:nvPr/>
        </p:nvSpPr>
        <p:spPr>
          <a:xfrm>
            <a:off x="3352800" y="52959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EAF4F0"/>
                </a:solidFill>
                <a:latin typeface="Segoe UI"/>
                <a:cs typeface="Segoe UI"/>
              </a:rPr>
              <a:t>Management report &amp; utilization</a:t>
            </a:r>
            <a:endParaRPr lang="en-US" sz="950" dirty="0"/>
          </a:p>
        </p:txBody>
      </p:sp>
      <p:sp>
        <p:nvSpPr>
          <p:cNvPr id="43" name="Shape 43"/>
          <p:cNvSpPr/>
          <p:nvPr/>
        </p:nvSpPr>
        <p:spPr>
          <a:xfrm>
            <a:off x="6096000" y="381000"/>
            <a:ext cx="53340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144" cap="rnd">
            <a:solidFill>
              <a:srgbClr val="FFFFFF">
                <a:alpha val="40000"/>
              </a:srgbClr>
            </a:solidFill>
            <a:round/>
          </a:ln>
          <a:effectLst>
            <a:glow rad="152400">
              <a:srgbClr val="2EC4A6">
                <a:alpha val="22000"/>
              </a:srgbClr>
            </a:glow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4" name="Shape 44"/>
          <p:cNvSpPr/>
          <p:nvPr/>
        </p:nvSpPr>
        <p:spPr>
          <a:xfrm>
            <a:off x="6096000" y="381000"/>
            <a:ext cx="2857500" cy="19050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E5C45"/>
              </a:gs>
              <a:gs pos="100000">
                <a:srgbClr val="052A1F"/>
              </a:gs>
            </a:gsLst>
            <a:lin ang="36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8763000" y="381000"/>
            <a:ext cx="1905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6" name="Shape 46"/>
          <p:cNvSpPr/>
          <p:nvPr/>
        </p:nvSpPr>
        <p:spPr>
          <a:xfrm>
            <a:off x="6096000" y="381000"/>
            <a:ext cx="2667000" cy="1905000"/>
          </a:xfrm>
          <a:prstGeom prst="ellipse">
            <a:avLst/>
          </a:prstGeom>
          <a:gradFill rotWithShape="1">
            <a:gsLst>
              <a:gs pos="0">
                <a:srgbClr val="2EC4A6">
                  <a:alpha val="18000"/>
                </a:srgbClr>
              </a:gs>
              <a:gs pos="100000">
                <a:srgbClr val="2EC4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7" name="Shape 47"/>
          <p:cNvSpPr/>
          <p:nvPr/>
        </p:nvSpPr>
        <p:spPr>
          <a:xfrm>
            <a:off x="6229350" y="476250"/>
            <a:ext cx="66675" cy="66675"/>
          </a:xfrm>
          <a:prstGeom prst="ellipse">
            <a:avLst/>
          </a:prstGeom>
          <a:solidFill>
            <a:srgbClr val="E5675B">
              <a:alpha val="8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8" name="Shape 48"/>
          <p:cNvSpPr/>
          <p:nvPr/>
        </p:nvSpPr>
        <p:spPr>
          <a:xfrm>
            <a:off x="6334125" y="476250"/>
            <a:ext cx="66675" cy="66675"/>
          </a:xfrm>
          <a:prstGeom prst="ellipse">
            <a:avLst/>
          </a:prstGeom>
          <a:solidFill>
            <a:srgbClr val="E5B85B">
              <a:alpha val="8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9" name="Shape 49"/>
          <p:cNvSpPr/>
          <p:nvPr/>
        </p:nvSpPr>
        <p:spPr>
          <a:xfrm>
            <a:off x="6438900" y="476250"/>
            <a:ext cx="66675" cy="66675"/>
          </a:xfrm>
          <a:prstGeom prst="ellipse">
            <a:avLst/>
          </a:prstGeom>
          <a:solidFill>
            <a:srgbClr val="5BC27A">
              <a:alpha val="8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0" name="Shape 50"/>
          <p:cNvSpPr/>
          <p:nvPr/>
        </p:nvSpPr>
        <p:spPr>
          <a:xfrm>
            <a:off x="6286500" y="628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3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1" name="Shape 51"/>
          <p:cNvSpPr/>
          <p:nvPr/>
        </p:nvSpPr>
        <p:spPr>
          <a:xfrm>
            <a:off x="6286500" y="628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470" y="190"/>
                </a:moveTo>
                <a:cubicBezTo>
                  <a:pt x="390" y="190"/>
                  <a:pt x="320" y="220"/>
                  <a:pt x="270" y="280"/>
                </a:cubicBezTo>
                <a:lnTo>
                  <a:pt x="180" y="240"/>
                </a:lnTo>
                <a:lnTo>
                  <a:pt x="240" y="330"/>
                </a:lnTo>
                <a:lnTo>
                  <a:pt x="170" y="380"/>
                </a:lnTo>
                <a:lnTo>
                  <a:pt x="280" y="370"/>
                </a:lnTo>
                <a:cubicBezTo>
                  <a:pt x="320" y="440"/>
                  <a:pt x="380" y="490"/>
                  <a:pt x="460" y="520"/>
                </a:cubicBezTo>
                <a:cubicBezTo>
                  <a:pt x="410" y="470"/>
                  <a:pt x="380" y="420"/>
                  <a:pt x="370" y="360"/>
                </a:cubicBezTo>
                <a:lnTo>
                  <a:pt x="470" y="310"/>
                </a:lnTo>
                <a:lnTo>
                  <a:pt x="360" y="290"/>
                </a:lnTo>
                <a:cubicBezTo>
                  <a:pt x="390" y="250"/>
                  <a:pt x="430" y="220"/>
                  <a:pt x="470" y="190"/>
                </a:cubicBezTo>
                <a:close/>
              </a:path>
            </a:pathLst>
          </a:cu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2" name="Shape 52"/>
          <p:cNvSpPr/>
          <p:nvPr/>
        </p:nvSpPr>
        <p:spPr>
          <a:xfrm>
            <a:off x="6453932" y="715714"/>
            <a:ext cx="13395" cy="13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3" name="Shape 53"/>
          <p:cNvSpPr/>
          <p:nvPr/>
        </p:nvSpPr>
        <p:spPr>
          <a:xfrm>
            <a:off x="6648450" y="6286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200" dirty="0"/>
          </a:p>
        </p:txBody>
      </p:sp>
      <p:sp>
        <p:nvSpPr>
          <p:cNvPr id="54" name="Shape 54"/>
          <p:cNvSpPr/>
          <p:nvPr/>
        </p:nvSpPr>
        <p:spPr>
          <a:xfrm>
            <a:off x="6648450" y="800100"/>
            <a:ext cx="2095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E3B85A"/>
                </a:solidFill>
                <a:latin typeface="Segoe UI"/>
                <a:cs typeface="Segoe UI"/>
              </a:rPr>
              <a:t>Demand &amp; PET control</a:t>
            </a:r>
            <a:endParaRPr lang="en-US" sz="700" dirty="0"/>
          </a:p>
        </p:txBody>
      </p:sp>
      <p:sp>
        <p:nvSpPr>
          <p:cNvPr id="55" name="Shape 55"/>
          <p:cNvSpPr/>
          <p:nvPr/>
        </p:nvSpPr>
        <p:spPr>
          <a:xfrm>
            <a:off x="6286500" y="99060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Portfolio Control Desk</a:t>
            </a:r>
            <a:endParaRPr lang="en-US" sz="1300" dirty="0"/>
          </a:p>
        </p:txBody>
      </p:sp>
      <p:sp>
        <p:nvSpPr>
          <p:cNvPr id="56" name="Shape 56"/>
          <p:cNvSpPr/>
          <p:nvPr/>
        </p:nvSpPr>
        <p:spPr>
          <a:xfrm>
            <a:off x="6286500" y="1200150"/>
            <a:ext cx="2476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00" b="0" dirty="0">
                <a:solidFill>
                  <a:srgbClr val="BFD3CA"/>
                </a:solidFill>
                <a:latin typeface="Segoe UI"/>
                <a:cs typeface="Segoe UI"/>
              </a:rPr>
              <a:t>Secure access to the DIB project portfolio workspace</a:t>
            </a:r>
            <a:endParaRPr lang="en-US" sz="800" dirty="0"/>
          </a:p>
        </p:txBody>
      </p:sp>
      <p:sp>
        <p:nvSpPr>
          <p:cNvPr id="57" name="Shape 57"/>
          <p:cNvSpPr/>
          <p:nvPr/>
        </p:nvSpPr>
        <p:spPr>
          <a:xfrm>
            <a:off x="6286500" y="1485900"/>
            <a:ext cx="1200150" cy="32385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7144" cap="rnd">
            <a:solidFill>
              <a:srgbClr val="FFFFFF">
                <a:alpha val="20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8" name="Shape 58"/>
          <p:cNvSpPr/>
          <p:nvPr/>
        </p:nvSpPr>
        <p:spPr>
          <a:xfrm>
            <a:off x="6343650" y="1543050"/>
            <a:ext cx="209550" cy="20955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C066"/>
              </a:gs>
              <a:gs pos="100000">
                <a:srgbClr val="A8781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38100">
              <a:srgbClr val="E3B85A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9" name="Shape 59"/>
          <p:cNvSpPr/>
          <p:nvPr/>
        </p:nvSpPr>
        <p:spPr>
          <a:xfrm>
            <a:off x="6400229" y="1587056"/>
            <a:ext cx="96393" cy="121539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noFill/>
          <a:ln w="9525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0" name="Shape 60"/>
          <p:cNvSpPr/>
          <p:nvPr/>
        </p:nvSpPr>
        <p:spPr>
          <a:xfrm>
            <a:off x="6425374" y="1631061"/>
            <a:ext cx="46101" cy="31432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0" y="55"/>
                </a:moveTo>
                <a:lnTo>
                  <a:pt x="38" y="100"/>
                </a:lnTo>
                <a:lnTo>
                  <a:pt x="100" y="0"/>
                </a:lnTo>
              </a:path>
            </a:pathLst>
          </a:custGeom>
          <a:noFill/>
          <a:ln w="1143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1" name="Shape 61"/>
          <p:cNvSpPr/>
          <p:nvPr/>
        </p:nvSpPr>
        <p:spPr>
          <a:xfrm>
            <a:off x="6610350" y="148590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Role-based access</a:t>
            </a:r>
            <a:endParaRPr lang="en-US" sz="750" dirty="0"/>
          </a:p>
        </p:txBody>
      </p:sp>
      <p:sp>
        <p:nvSpPr>
          <p:cNvPr id="62" name="Shape 62"/>
          <p:cNvSpPr/>
          <p:nvPr/>
        </p:nvSpPr>
        <p:spPr>
          <a:xfrm>
            <a:off x="7543800" y="1485900"/>
            <a:ext cx="1200150" cy="32385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7144" cap="rnd">
            <a:solidFill>
              <a:srgbClr val="FFFFFF">
                <a:alpha val="20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3" name="Shape 63"/>
          <p:cNvSpPr/>
          <p:nvPr/>
        </p:nvSpPr>
        <p:spPr>
          <a:xfrm>
            <a:off x="7600950" y="1543050"/>
            <a:ext cx="209550" cy="20955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28B3A3"/>
              </a:gs>
              <a:gs pos="100000">
                <a:srgbClr val="0E5A57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38100">
              <a:srgbClr val="3FD6C3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4" name="Shape 64"/>
          <p:cNvSpPr/>
          <p:nvPr/>
        </p:nvSpPr>
        <p:spPr>
          <a:xfrm>
            <a:off x="7630287" y="1631061"/>
            <a:ext cx="33528" cy="335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5" name="Shape 65"/>
          <p:cNvSpPr/>
          <p:nvPr/>
        </p:nvSpPr>
        <p:spPr>
          <a:xfrm>
            <a:off x="7688961" y="1631061"/>
            <a:ext cx="33528" cy="335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6" name="Shape 66"/>
          <p:cNvSpPr/>
          <p:nvPr/>
        </p:nvSpPr>
        <p:spPr>
          <a:xfrm>
            <a:off x="7747635" y="1631061"/>
            <a:ext cx="33528" cy="335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cxnSp>
        <p:nvCxnSpPr>
          <p:cNvPr id="67" name="Connector 67"/>
          <p:cNvCxnSpPr/>
          <p:nvPr/>
        </p:nvCxnSpPr>
        <p:spPr>
          <a:xfrm>
            <a:off x="7663815" y="1647825"/>
            <a:ext cx="25146" cy="0"/>
          </a:xfrm>
          <a:prstGeom prst="line">
            <a:avLst/>
          </a:prstGeom>
          <a:ln w="9525" cap="rnd">
            <a:solidFill>
              <a:srgbClr val="FFFFFF"/>
            </a:solidFill>
          </a:ln>
        </p:spPr>
      </p:cxnSp>
      <p:cxnSp>
        <p:nvCxnSpPr>
          <p:cNvPr id="68" name="Connector 68"/>
          <p:cNvCxnSpPr/>
          <p:nvPr/>
        </p:nvCxnSpPr>
        <p:spPr>
          <a:xfrm>
            <a:off x="7722489" y="1647825"/>
            <a:ext cx="25146" cy="0"/>
          </a:xfrm>
          <a:prstGeom prst="line">
            <a:avLst/>
          </a:prstGeom>
          <a:ln w="9525" cap="rnd">
            <a:solidFill>
              <a:srgbClr val="FFFFFF"/>
            </a:solidFill>
          </a:ln>
        </p:spPr>
      </p:cxnSp>
      <p:sp>
        <p:nvSpPr>
          <p:cNvPr id="69" name="Shape 69"/>
          <p:cNvSpPr/>
          <p:nvPr/>
        </p:nvSpPr>
        <p:spPr>
          <a:xfrm>
            <a:off x="7867650" y="148590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Workflow history</a:t>
            </a:r>
            <a:endParaRPr lang="en-US" sz="750" dirty="0"/>
          </a:p>
        </p:txBody>
      </p:sp>
      <p:sp>
        <p:nvSpPr>
          <p:cNvPr id="70" name="Shape 70"/>
          <p:cNvSpPr/>
          <p:nvPr/>
        </p:nvSpPr>
        <p:spPr>
          <a:xfrm>
            <a:off x="6286500" y="1847850"/>
            <a:ext cx="1200150" cy="32385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7144" cap="rnd">
            <a:solidFill>
              <a:srgbClr val="FFFFFF">
                <a:alpha val="20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1" name="Shape 71"/>
          <p:cNvSpPr/>
          <p:nvPr/>
        </p:nvSpPr>
        <p:spPr>
          <a:xfrm>
            <a:off x="6343650" y="1905000"/>
            <a:ext cx="209550" cy="20955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38100">
              <a:srgbClr val="2EC4A6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2" name="Shape 72"/>
          <p:cNvSpPr/>
          <p:nvPr/>
        </p:nvSpPr>
        <p:spPr>
          <a:xfrm>
            <a:off x="6406515" y="1955292"/>
            <a:ext cx="83820" cy="108966"/>
          </a:xfrm>
          <a:prstGeom prst="flowChartMagneticDisk">
            <a:avLst/>
          </a:prstGeom>
          <a:noFill/>
          <a:ln w="9525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3" name="Shape 73"/>
          <p:cNvSpPr/>
          <p:nvPr/>
        </p:nvSpPr>
        <p:spPr>
          <a:xfrm>
            <a:off x="6406515" y="1997202"/>
            <a:ext cx="83820" cy="25146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0" y="0"/>
                </a:moveTo>
                <a:cubicBezTo>
                  <a:pt x="0" y="100"/>
                  <a:pt x="100" y="100"/>
                  <a:pt x="100" y="0"/>
                </a:cubicBezTo>
              </a:path>
            </a:pathLst>
          </a:custGeom>
          <a:noFill/>
          <a:ln w="9525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4" name="Shape 74"/>
          <p:cNvSpPr/>
          <p:nvPr/>
        </p:nvSpPr>
        <p:spPr>
          <a:xfrm>
            <a:off x="6610350" y="184785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JIRA data sync</a:t>
            </a:r>
            <a:endParaRPr lang="en-US" sz="750" dirty="0"/>
          </a:p>
        </p:txBody>
      </p:sp>
      <p:sp>
        <p:nvSpPr>
          <p:cNvPr id="75" name="Shape 75"/>
          <p:cNvSpPr/>
          <p:nvPr/>
        </p:nvSpPr>
        <p:spPr>
          <a:xfrm>
            <a:off x="7543800" y="1847850"/>
            <a:ext cx="1200150" cy="32385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7144" cap="rnd">
            <a:solidFill>
              <a:srgbClr val="FFFFFF">
                <a:alpha val="20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6" name="Shape 76"/>
          <p:cNvSpPr/>
          <p:nvPr/>
        </p:nvSpPr>
        <p:spPr>
          <a:xfrm>
            <a:off x="7600950" y="1905000"/>
            <a:ext cx="209550" cy="20955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C066"/>
              </a:gs>
              <a:gs pos="100000">
                <a:srgbClr val="A8781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38100">
              <a:srgbClr val="E3B85A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7" name="Shape 77"/>
          <p:cNvSpPr/>
          <p:nvPr/>
        </p:nvSpPr>
        <p:spPr>
          <a:xfrm>
            <a:off x="7642860" y="1959483"/>
            <a:ext cx="125730" cy="125730"/>
          </a:xfrm>
          <a:prstGeom prst="blockArc">
            <a:avLst>
              <a:gd name="adj1" fmla="val 10800000"/>
              <a:gd name="adj2" fmla="val 0"/>
              <a:gd name="adj3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cxnSp>
        <p:nvCxnSpPr>
          <p:cNvPr id="78" name="Connector 78"/>
          <p:cNvCxnSpPr/>
          <p:nvPr/>
        </p:nvCxnSpPr>
        <p:spPr>
          <a:xfrm flipV="1">
            <a:off x="7705725" y="1984629"/>
            <a:ext cx="33528" cy="37719"/>
          </a:xfrm>
          <a:prstGeom prst="line">
            <a:avLst/>
          </a:prstGeom>
          <a:ln w="11430" cap="rnd">
            <a:solidFill>
              <a:srgbClr val="FFFFFF"/>
            </a:solidFill>
          </a:ln>
        </p:spPr>
      </p:cxnSp>
      <p:sp>
        <p:nvSpPr>
          <p:cNvPr id="79" name="Shape 79"/>
          <p:cNvSpPr/>
          <p:nvPr/>
        </p:nvSpPr>
        <p:spPr>
          <a:xfrm>
            <a:off x="7695248" y="2011870"/>
            <a:ext cx="20955" cy="209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0" name="Shape 80"/>
          <p:cNvSpPr/>
          <p:nvPr/>
        </p:nvSpPr>
        <p:spPr>
          <a:xfrm>
            <a:off x="7867650" y="184785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CAPEX / OPEX control</a:t>
            </a:r>
            <a:endParaRPr lang="en-US" sz="750" dirty="0"/>
          </a:p>
        </p:txBody>
      </p:sp>
      <p:sp>
        <p:nvSpPr>
          <p:cNvPr id="81" name="Shape 81"/>
          <p:cNvSpPr/>
          <p:nvPr/>
        </p:nvSpPr>
        <p:spPr>
          <a:xfrm>
            <a:off x="9144000" y="533400"/>
            <a:ext cx="2095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BD8B22"/>
                </a:solidFill>
                <a:latin typeface="Segoe UI"/>
                <a:cs typeface="Segoe UI"/>
              </a:rPr>
              <a:t>SECURE ACCESS</a:t>
            </a:r>
            <a:endParaRPr lang="en-US" sz="700" dirty="0"/>
          </a:p>
        </p:txBody>
      </p:sp>
      <p:sp>
        <p:nvSpPr>
          <p:cNvPr id="82" name="Shape 82"/>
          <p:cNvSpPr/>
          <p:nvPr/>
        </p:nvSpPr>
        <p:spPr>
          <a:xfrm>
            <a:off x="9144000" y="64770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B4A36"/>
                </a:solidFill>
                <a:latin typeface="Segoe UI"/>
                <a:cs typeface="Segoe UI"/>
              </a:rPr>
              <a:t>Sign in</a:t>
            </a:r>
            <a:endParaRPr lang="en-US" sz="1500" dirty="0"/>
          </a:p>
        </p:txBody>
      </p:sp>
      <p:sp>
        <p:nvSpPr>
          <p:cNvPr id="83" name="Shape 83"/>
          <p:cNvSpPr/>
          <p:nvPr/>
        </p:nvSpPr>
        <p:spPr>
          <a:xfrm>
            <a:off x="9144000" y="857250"/>
            <a:ext cx="2095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A73"/>
                </a:solidFill>
                <a:latin typeface="Segoe UI"/>
                <a:cs typeface="Segoe UI"/>
              </a:rPr>
              <a:t>Use your Email ID and portal password.</a:t>
            </a:r>
            <a:endParaRPr lang="en-US" sz="700" dirty="0"/>
          </a:p>
        </p:txBody>
      </p:sp>
      <p:sp>
        <p:nvSpPr>
          <p:cNvPr id="84" name="Shape 84"/>
          <p:cNvSpPr/>
          <p:nvPr/>
        </p:nvSpPr>
        <p:spPr>
          <a:xfrm>
            <a:off x="9144000" y="1028700"/>
            <a:ext cx="2095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42524B"/>
                </a:solidFill>
                <a:latin typeface="Segoe UI"/>
                <a:cs typeface="Segoe UI"/>
              </a:rPr>
              <a:t>Email ID</a:t>
            </a:r>
            <a:endParaRPr lang="en-US" sz="700" dirty="0"/>
          </a:p>
        </p:txBody>
      </p:sp>
      <p:sp>
        <p:nvSpPr>
          <p:cNvPr id="85" name="Shape 85"/>
          <p:cNvSpPr/>
          <p:nvPr/>
        </p:nvSpPr>
        <p:spPr>
          <a:xfrm>
            <a:off x="9144000" y="1143000"/>
            <a:ext cx="2095500" cy="209550"/>
          </a:xfrm>
          <a:prstGeom prst="roundRect">
            <a:avLst>
              <a:gd name="adj" fmla="val 15000"/>
            </a:avLst>
          </a:prstGeom>
          <a:solidFill>
            <a:srgbClr val="F6F8F7"/>
          </a:solidFill>
          <a:ln w="7144" cap="rnd">
            <a:solidFill>
              <a:srgbClr val="D2DCD7"/>
            </a:solidFill>
            <a:round/>
          </a:ln>
        </p:spPr>
        <p:txBody>
          <a:bodyPr wrap="square" lIns="95250" tIns="0" rIns="95250" bIns="0" anchor="ctr" rtlCol="0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A0ABA6"/>
                </a:solidFill>
                <a:latin typeface="Segoe UI"/>
                <a:cs typeface="Segoe UI"/>
              </a:rPr>
              <a:t>Enter your Email ID</a:t>
            </a:r>
            <a:endParaRPr lang="en-US" sz="700" dirty="0"/>
          </a:p>
        </p:txBody>
      </p:sp>
      <p:sp>
        <p:nvSpPr>
          <p:cNvPr id="86" name="Shape 86"/>
          <p:cNvSpPr/>
          <p:nvPr/>
        </p:nvSpPr>
        <p:spPr>
          <a:xfrm>
            <a:off x="9144000" y="1409700"/>
            <a:ext cx="2095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42524B"/>
                </a:solidFill>
                <a:latin typeface="Segoe UI"/>
                <a:cs typeface="Segoe UI"/>
              </a:rPr>
              <a:t>Password</a:t>
            </a:r>
            <a:endParaRPr lang="en-US" sz="700" dirty="0"/>
          </a:p>
        </p:txBody>
      </p:sp>
      <p:sp>
        <p:nvSpPr>
          <p:cNvPr id="87" name="Shape 87"/>
          <p:cNvSpPr/>
          <p:nvPr/>
        </p:nvSpPr>
        <p:spPr>
          <a:xfrm>
            <a:off x="9144000" y="1524000"/>
            <a:ext cx="2095500" cy="209550"/>
          </a:xfrm>
          <a:prstGeom prst="roundRect">
            <a:avLst>
              <a:gd name="adj" fmla="val 15000"/>
            </a:avLst>
          </a:prstGeom>
          <a:solidFill>
            <a:srgbClr val="F6F8F7"/>
          </a:solidFill>
          <a:ln w="7144" cap="rnd">
            <a:solidFill>
              <a:srgbClr val="D2DCD7"/>
            </a:solidFill>
            <a:round/>
          </a:ln>
        </p:spPr>
        <p:txBody>
          <a:bodyPr wrap="square" lIns="95250" tIns="0" rIns="95250" bIns="0" anchor="ctr" rtlCol="0">
            <a:noAutofit/>
          </a:bodyPr>
          <a:lstStyle/>
          <a:p>
            <a:pPr algn="l">
              <a:buNone/>
            </a:pPr>
            <a:r>
              <a:rPr lang="en-US" sz="800" b="0" dirty="0">
                <a:solidFill>
                  <a:srgbClr val="6B7A73"/>
                </a:solidFill>
                <a:latin typeface="Segoe UI"/>
                <a:cs typeface="Segoe UI"/>
              </a:rPr>
              <a:t>•••••••••</a:t>
            </a:r>
            <a:endParaRPr lang="en-US" sz="800" dirty="0"/>
          </a:p>
        </p:txBody>
      </p:sp>
      <p:sp>
        <p:nvSpPr>
          <p:cNvPr id="88" name="Shape 88"/>
          <p:cNvSpPr/>
          <p:nvPr/>
        </p:nvSpPr>
        <p:spPr>
          <a:xfrm>
            <a:off x="9144000" y="1828800"/>
            <a:ext cx="2095500" cy="2476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6805F"/>
              </a:gs>
              <a:gs pos="100000">
                <a:srgbClr val="0B4A36"/>
              </a:gs>
            </a:gsLst>
            <a:lin ang="5400000" scaled="0"/>
          </a:gradFill>
          <a:ln>
            <a:noFill/>
          </a:ln>
          <a:effectLst>
            <a:glow rad="47625">
              <a:srgbClr val="2EC4A6">
                <a:alpha val="2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/>
                <a:cs typeface="Segoe UI"/>
              </a:rPr>
              <a:t>Sign in   →</a:t>
            </a:r>
            <a:endParaRPr lang="en-US" sz="900" dirty="0"/>
          </a:p>
        </p:txBody>
      </p:sp>
      <p:sp>
        <p:nvSpPr>
          <p:cNvPr id="89" name="Shape 89"/>
          <p:cNvSpPr/>
          <p:nvPr/>
        </p:nvSpPr>
        <p:spPr>
          <a:xfrm>
            <a:off x="7067550" y="2247900"/>
            <a:ext cx="4743450" cy="3352800"/>
          </a:xfrm>
          <a:prstGeom prst="roundRect">
            <a:avLst>
              <a:gd name="adj" fmla="val 3000"/>
            </a:avLst>
          </a:prstGeom>
          <a:solidFill>
            <a:srgbClr val="F3F6F4"/>
          </a:solidFill>
          <a:ln w="7144" cap="rnd">
            <a:solidFill>
              <a:srgbClr val="FFFFFF">
                <a:alpha val="40000"/>
              </a:srgbClr>
            </a:solidFill>
            <a:round/>
          </a:ln>
          <a:effectLst>
            <a:glow rad="152400">
              <a:srgbClr val="2EC4A6">
                <a:alpha val="22000"/>
              </a:srgbClr>
            </a:glow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0" name="Shape 90"/>
          <p:cNvSpPr/>
          <p:nvPr/>
        </p:nvSpPr>
        <p:spPr>
          <a:xfrm>
            <a:off x="7067550" y="2247900"/>
            <a:ext cx="4743450" cy="323850"/>
          </a:xfrm>
          <a:prstGeom prst="roundRect">
            <a:avLst>
              <a:gd name="adj" fmla="val 22000"/>
            </a:avLst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1" name="Shape 91"/>
          <p:cNvSpPr/>
          <p:nvPr/>
        </p:nvSpPr>
        <p:spPr>
          <a:xfrm>
            <a:off x="7067550" y="2438400"/>
            <a:ext cx="4743450" cy="1333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2" name="Shape 92"/>
          <p:cNvSpPr/>
          <p:nvPr/>
        </p:nvSpPr>
        <p:spPr>
          <a:xfrm>
            <a:off x="7067550" y="2571750"/>
            <a:ext cx="4743450" cy="19050"/>
          </a:xfrm>
          <a:prstGeom prst="rect">
            <a:avLst/>
          </a:prstGeom>
          <a:gradFill rotWithShape="1">
            <a:gsLst>
              <a:gs pos="0">
                <a:srgbClr val="BD8B22"/>
              </a:gs>
              <a:gs pos="100000">
                <a:srgbClr val="E3B85A"/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3" name="Shape 93"/>
          <p:cNvSpPr/>
          <p:nvPr/>
        </p:nvSpPr>
        <p:spPr>
          <a:xfrm>
            <a:off x="7162800" y="22955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4" name="Shape 94"/>
          <p:cNvSpPr/>
          <p:nvPr/>
        </p:nvSpPr>
        <p:spPr>
          <a:xfrm>
            <a:off x="7162800" y="22955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470" y="190"/>
                </a:moveTo>
                <a:cubicBezTo>
                  <a:pt x="390" y="190"/>
                  <a:pt x="320" y="220"/>
                  <a:pt x="270" y="280"/>
                </a:cubicBezTo>
                <a:lnTo>
                  <a:pt x="180" y="240"/>
                </a:lnTo>
                <a:lnTo>
                  <a:pt x="240" y="330"/>
                </a:lnTo>
                <a:lnTo>
                  <a:pt x="170" y="380"/>
                </a:lnTo>
                <a:lnTo>
                  <a:pt x="280" y="370"/>
                </a:lnTo>
                <a:cubicBezTo>
                  <a:pt x="320" y="440"/>
                  <a:pt x="380" y="490"/>
                  <a:pt x="460" y="520"/>
                </a:cubicBezTo>
                <a:cubicBezTo>
                  <a:pt x="410" y="470"/>
                  <a:pt x="380" y="420"/>
                  <a:pt x="370" y="360"/>
                </a:cubicBezTo>
                <a:lnTo>
                  <a:pt x="470" y="310"/>
                </a:lnTo>
                <a:lnTo>
                  <a:pt x="360" y="290"/>
                </a:lnTo>
                <a:cubicBezTo>
                  <a:pt x="390" y="250"/>
                  <a:pt x="430" y="220"/>
                  <a:pt x="470" y="190"/>
                </a:cubicBezTo>
                <a:close/>
              </a:path>
            </a:pathLst>
          </a:cu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5" name="Shape 95"/>
          <p:cNvSpPr/>
          <p:nvPr/>
        </p:nvSpPr>
        <p:spPr>
          <a:xfrm>
            <a:off x="7285583" y="2359372"/>
            <a:ext cx="9823" cy="98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6" name="Shape 96"/>
          <p:cNvSpPr/>
          <p:nvPr/>
        </p:nvSpPr>
        <p:spPr>
          <a:xfrm>
            <a:off x="7410450" y="227647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850" dirty="0"/>
          </a:p>
        </p:txBody>
      </p:sp>
      <p:sp>
        <p:nvSpPr>
          <p:cNvPr id="97" name="Shape 97"/>
          <p:cNvSpPr/>
          <p:nvPr/>
        </p:nvSpPr>
        <p:spPr>
          <a:xfrm>
            <a:off x="7410450" y="2409825"/>
            <a:ext cx="952500" cy="104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50" b="0" dirty="0">
                <a:solidFill>
                  <a:srgbClr val="E3B85A"/>
                </a:solidFill>
                <a:latin typeface="Segoe UI"/>
                <a:cs typeface="Segoe UI"/>
              </a:rPr>
              <a:t>Demand &amp; PET control</a:t>
            </a:r>
            <a:endParaRPr lang="en-US" sz="550" dirty="0"/>
          </a:p>
        </p:txBody>
      </p:sp>
      <p:sp>
        <p:nvSpPr>
          <p:cNvPr id="98" name="Shape 98"/>
          <p:cNvSpPr/>
          <p:nvPr/>
        </p:nvSpPr>
        <p:spPr>
          <a:xfrm>
            <a:off x="8286750" y="2324100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9" name="Shape 99"/>
          <p:cNvSpPr/>
          <p:nvPr/>
        </p:nvSpPr>
        <p:spPr>
          <a:xfrm>
            <a:off x="8286750" y="23241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  <a:latin typeface="Segoe UI"/>
                <a:cs typeface="Segoe UI"/>
              </a:rPr>
              <a:t>Portfolio</a:t>
            </a:r>
            <a:endParaRPr lang="en-US" sz="650" dirty="0"/>
          </a:p>
        </p:txBody>
      </p:sp>
      <p:sp>
        <p:nvSpPr>
          <p:cNvPr id="100" name="Shape 100"/>
          <p:cNvSpPr/>
          <p:nvPr/>
        </p:nvSpPr>
        <p:spPr>
          <a:xfrm>
            <a:off x="8858250" y="23241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C2D6CD"/>
                </a:solidFill>
                <a:latin typeface="Segoe UI"/>
                <a:cs typeface="Segoe UI"/>
              </a:rPr>
              <a:t>Approvals</a:t>
            </a:r>
            <a:endParaRPr lang="en-US" sz="650" dirty="0"/>
          </a:p>
        </p:txBody>
      </p:sp>
      <p:sp>
        <p:nvSpPr>
          <p:cNvPr id="101" name="Shape 101"/>
          <p:cNvSpPr/>
          <p:nvPr/>
        </p:nvSpPr>
        <p:spPr>
          <a:xfrm>
            <a:off x="9429750" y="23241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C2D6CD"/>
                </a:solidFill>
                <a:latin typeface="Segoe UI"/>
                <a:cs typeface="Segoe UI"/>
              </a:rPr>
              <a:t>CAPEX / OPEX</a:t>
            </a:r>
            <a:endParaRPr lang="en-US" sz="650" dirty="0"/>
          </a:p>
        </p:txBody>
      </p:sp>
      <p:sp>
        <p:nvSpPr>
          <p:cNvPr id="102" name="Shape 102"/>
          <p:cNvSpPr/>
          <p:nvPr/>
        </p:nvSpPr>
        <p:spPr>
          <a:xfrm>
            <a:off x="10096500" y="23241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C2D6CD"/>
                </a:solidFill>
                <a:latin typeface="Segoe UI"/>
                <a:cs typeface="Segoe UI"/>
              </a:rPr>
              <a:t>Management report</a:t>
            </a:r>
            <a:endParaRPr lang="en-US" sz="650" dirty="0"/>
          </a:p>
        </p:txBody>
      </p:sp>
      <p:sp>
        <p:nvSpPr>
          <p:cNvPr id="103" name="Shape 103"/>
          <p:cNvSpPr/>
          <p:nvPr/>
        </p:nvSpPr>
        <p:spPr>
          <a:xfrm>
            <a:off x="11544300" y="2314575"/>
            <a:ext cx="171450" cy="171450"/>
          </a:xfrm>
          <a:prstGeom prst="ellipse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4" name="Shape 104"/>
          <p:cNvSpPr/>
          <p:nvPr/>
        </p:nvSpPr>
        <p:spPr>
          <a:xfrm>
            <a:off x="7200900" y="2667000"/>
            <a:ext cx="1905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50" b="1" spc="150" dirty="0">
                <a:solidFill>
                  <a:srgbClr val="BD8B22"/>
                </a:solidFill>
                <a:latin typeface="Segoe UI"/>
                <a:cs typeface="Segoe UI"/>
              </a:rPr>
              <a:t>PORTFOLIO CONTROL DESK</a:t>
            </a:r>
            <a:endParaRPr lang="en-US" sz="550" dirty="0"/>
          </a:p>
        </p:txBody>
      </p:sp>
      <p:sp>
        <p:nvSpPr>
          <p:cNvPr id="105" name="Shape 105"/>
          <p:cNvSpPr/>
          <p:nvPr/>
        </p:nvSpPr>
        <p:spPr>
          <a:xfrm>
            <a:off x="7200900" y="27622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B4A36"/>
                </a:solidFill>
                <a:latin typeface="Segoe UI"/>
                <a:cs typeface="Segoe UI"/>
              </a:rPr>
              <a:t>Project register</a:t>
            </a:r>
            <a:endParaRPr lang="en-US" sz="1100" dirty="0"/>
          </a:p>
        </p:txBody>
      </p:sp>
      <p:sp>
        <p:nvSpPr>
          <p:cNvPr id="106" name="Shape 106"/>
          <p:cNvSpPr/>
          <p:nvPr/>
        </p:nvSpPr>
        <p:spPr>
          <a:xfrm>
            <a:off x="10172700" y="2743200"/>
            <a:ext cx="7239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cap="rnd">
            <a:solidFill>
              <a:srgbClr val="C9D6C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0B4A36"/>
                </a:solidFill>
                <a:latin typeface="Segoe UI"/>
                <a:cs typeface="Segoe UI"/>
              </a:rPr>
              <a:t>PET template</a:t>
            </a:r>
            <a:endParaRPr lang="en-US" sz="600" dirty="0"/>
          </a:p>
        </p:txBody>
      </p:sp>
      <p:sp>
        <p:nvSpPr>
          <p:cNvPr id="107" name="Shape 107"/>
          <p:cNvSpPr/>
          <p:nvPr/>
        </p:nvSpPr>
        <p:spPr>
          <a:xfrm>
            <a:off x="10953750" y="2743200"/>
            <a:ext cx="742950" cy="190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6805F"/>
              </a:gs>
              <a:gs pos="100000">
                <a:srgbClr val="0B4A36"/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  <a:latin typeface="Segoe UI"/>
                <a:cs typeface="Segoe UI"/>
              </a:rPr>
              <a:t>+  New project</a:t>
            </a:r>
            <a:endParaRPr lang="en-US" sz="600" dirty="0"/>
          </a:p>
        </p:txBody>
      </p:sp>
      <p:sp>
        <p:nvSpPr>
          <p:cNvPr id="108" name="Shape 108"/>
          <p:cNvSpPr/>
          <p:nvPr/>
        </p:nvSpPr>
        <p:spPr>
          <a:xfrm>
            <a:off x="7200900" y="3028950"/>
            <a:ext cx="16764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 cap="rnd">
            <a:solidFill>
              <a:srgbClr val="D2DCD7"/>
            </a:solidFill>
            <a:round/>
          </a:ln>
        </p:spPr>
        <p:txBody>
          <a:bodyPr wrap="square" lIns="95250" tIns="0" rIns="95250" bIns="0" anchor="ctr" rtlCol="0">
            <a:noAutofit/>
          </a:bodyPr>
          <a:lstStyle/>
          <a:p>
            <a:pPr algn="l">
              <a:buNone/>
            </a:pPr>
            <a:r>
              <a:rPr lang="en-US" sz="600" b="0" dirty="0">
                <a:solidFill>
                  <a:srgbClr val="A0ABA6"/>
                </a:solidFill>
                <a:latin typeface="Segoe UI"/>
                <a:cs typeface="Segoe UI"/>
              </a:rPr>
              <a:t>Search ID, project, owner</a:t>
            </a:r>
            <a:endParaRPr lang="en-US" sz="600" dirty="0"/>
          </a:p>
        </p:txBody>
      </p:sp>
      <p:sp>
        <p:nvSpPr>
          <p:cNvPr id="109" name="Shape 109"/>
          <p:cNvSpPr/>
          <p:nvPr/>
        </p:nvSpPr>
        <p:spPr>
          <a:xfrm>
            <a:off x="8934450" y="3028950"/>
            <a:ext cx="8763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 cap="rnd">
            <a:solidFill>
              <a:srgbClr val="D2DCD7"/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l">
              <a:buNone/>
            </a:pPr>
            <a:r>
              <a:rPr lang="en-US" sz="600" b="0" dirty="0">
                <a:solidFill>
                  <a:srgbClr val="42524B"/>
                </a:solidFill>
                <a:latin typeface="Segoe UI"/>
                <a:cs typeface="Segoe UI"/>
              </a:rPr>
              <a:t>All statuses   ▾</a:t>
            </a:r>
            <a:endParaRPr lang="en-US" sz="600" dirty="0"/>
          </a:p>
        </p:txBody>
      </p:sp>
      <p:sp>
        <p:nvSpPr>
          <p:cNvPr id="110" name="Shape 110"/>
          <p:cNvSpPr/>
          <p:nvPr/>
        </p:nvSpPr>
        <p:spPr>
          <a:xfrm>
            <a:off x="9867900" y="3028950"/>
            <a:ext cx="8763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 cap="rnd">
            <a:solidFill>
              <a:srgbClr val="D2DCD7"/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l">
              <a:buNone/>
            </a:pPr>
            <a:r>
              <a:rPr lang="en-US" sz="600" b="0" dirty="0">
                <a:solidFill>
                  <a:srgbClr val="42524B"/>
                </a:solidFill>
                <a:latin typeface="Segoe UI"/>
                <a:cs typeface="Segoe UI"/>
              </a:rPr>
              <a:t>All requests   ▾</a:t>
            </a:r>
            <a:endParaRPr lang="en-US" sz="600" dirty="0"/>
          </a:p>
        </p:txBody>
      </p:sp>
      <p:sp>
        <p:nvSpPr>
          <p:cNvPr id="111" name="Shape 111"/>
          <p:cNvSpPr/>
          <p:nvPr/>
        </p:nvSpPr>
        <p:spPr>
          <a:xfrm>
            <a:off x="7200900" y="3295650"/>
            <a:ext cx="4476750" cy="190500"/>
          </a:xfrm>
          <a:prstGeom prst="roundRect">
            <a:avLst>
              <a:gd name="adj" fmla="val 20000"/>
            </a:avLst>
          </a:prstGeom>
          <a:solidFill>
            <a:srgbClr val="E4EEE9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2" name="Shape 112"/>
          <p:cNvSpPr/>
          <p:nvPr/>
        </p:nvSpPr>
        <p:spPr>
          <a:xfrm>
            <a:off x="725805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Project ID</a:t>
            </a:r>
            <a:endParaRPr lang="en-US" sz="580" dirty="0"/>
          </a:p>
        </p:txBody>
      </p:sp>
      <p:sp>
        <p:nvSpPr>
          <p:cNvPr id="113" name="Shape 113"/>
          <p:cNvSpPr/>
          <p:nvPr/>
        </p:nvSpPr>
        <p:spPr>
          <a:xfrm>
            <a:off x="779145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Project name</a:t>
            </a:r>
            <a:endParaRPr lang="en-US" sz="580" dirty="0"/>
          </a:p>
        </p:txBody>
      </p:sp>
      <p:sp>
        <p:nvSpPr>
          <p:cNvPr id="114" name="Shape 114"/>
          <p:cNvSpPr/>
          <p:nvPr/>
        </p:nvSpPr>
        <p:spPr>
          <a:xfrm>
            <a:off x="880110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Type</a:t>
            </a:r>
            <a:endParaRPr lang="en-US" sz="580" dirty="0"/>
          </a:p>
        </p:txBody>
      </p:sp>
      <p:sp>
        <p:nvSpPr>
          <p:cNvPr id="115" name="Shape 115"/>
          <p:cNvSpPr/>
          <p:nvPr/>
        </p:nvSpPr>
        <p:spPr>
          <a:xfrm>
            <a:off x="920115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Exec Lead</a:t>
            </a:r>
            <a:endParaRPr lang="en-US" sz="580" dirty="0"/>
          </a:p>
        </p:txBody>
      </p:sp>
      <p:sp>
        <p:nvSpPr>
          <p:cNvPr id="116" name="Shape 116"/>
          <p:cNvSpPr/>
          <p:nvPr/>
        </p:nvSpPr>
        <p:spPr>
          <a:xfrm>
            <a:off x="981075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PET items</a:t>
            </a:r>
            <a:endParaRPr lang="en-US" sz="580" dirty="0"/>
          </a:p>
        </p:txBody>
      </p:sp>
      <p:sp>
        <p:nvSpPr>
          <p:cNvPr id="117" name="Shape 117"/>
          <p:cNvSpPr/>
          <p:nvPr/>
        </p:nvSpPr>
        <p:spPr>
          <a:xfrm>
            <a:off x="1024890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Total budget</a:t>
            </a:r>
            <a:endParaRPr lang="en-US" sz="580" dirty="0"/>
          </a:p>
        </p:txBody>
      </p:sp>
      <p:sp>
        <p:nvSpPr>
          <p:cNvPr id="118" name="Shape 118"/>
          <p:cNvSpPr/>
          <p:nvPr/>
        </p:nvSpPr>
        <p:spPr>
          <a:xfrm>
            <a:off x="10858500" y="32956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3C5A4E"/>
                </a:solidFill>
                <a:latin typeface="Segoe UI"/>
                <a:cs typeface="Segoe UI"/>
              </a:rPr>
              <a:t>Status</a:t>
            </a:r>
            <a:endParaRPr lang="en-US" sz="580" dirty="0"/>
          </a:p>
        </p:txBody>
      </p:sp>
      <p:sp>
        <p:nvSpPr>
          <p:cNvPr id="119" name="Shape 119"/>
          <p:cNvSpPr/>
          <p:nvPr/>
        </p:nvSpPr>
        <p:spPr>
          <a:xfrm>
            <a:off x="7200900" y="3505200"/>
            <a:ext cx="4476750" cy="314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0" name="Shape 120"/>
          <p:cNvSpPr/>
          <p:nvPr/>
        </p:nvSpPr>
        <p:spPr>
          <a:xfrm>
            <a:off x="7200900" y="3819525"/>
            <a:ext cx="4476750" cy="9525"/>
          </a:xfrm>
          <a:prstGeom prst="rect">
            <a:avLst/>
          </a:prstGeom>
          <a:solidFill>
            <a:srgbClr val="E3E9E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1" name="Shape 121"/>
          <p:cNvSpPr/>
          <p:nvPr/>
        </p:nvSpPr>
        <p:spPr>
          <a:xfrm>
            <a:off x="7258050" y="3619500"/>
            <a:ext cx="381000" cy="85725"/>
          </a:xfrm>
          <a:prstGeom prst="roundRect">
            <a:avLst>
              <a:gd name="adj" fmla="val 50000"/>
            </a:avLst>
          </a:prstGeom>
          <a:solidFill>
            <a:srgbClr val="0B4A36">
              <a:alpha val="3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2" name="Shape 122"/>
          <p:cNvSpPr/>
          <p:nvPr/>
        </p:nvSpPr>
        <p:spPr>
          <a:xfrm>
            <a:off x="7791450" y="3590925"/>
            <a:ext cx="876300" cy="66675"/>
          </a:xfrm>
          <a:prstGeom prst="roundRect">
            <a:avLst>
              <a:gd name="adj" fmla="val 50000"/>
            </a:avLst>
          </a:prstGeom>
          <a:solidFill>
            <a:srgbClr val="C9D5C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3" name="Shape 123"/>
          <p:cNvSpPr/>
          <p:nvPr/>
        </p:nvSpPr>
        <p:spPr>
          <a:xfrm>
            <a:off x="7791450" y="368617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DE5E1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4" name="Shape 124"/>
          <p:cNvSpPr/>
          <p:nvPr/>
        </p:nvSpPr>
        <p:spPr>
          <a:xfrm>
            <a:off x="8801100" y="3609975"/>
            <a:ext cx="285750" cy="95250"/>
          </a:xfrm>
          <a:prstGeom prst="roundRect">
            <a:avLst>
              <a:gd name="adj" fmla="val 50000"/>
            </a:avLst>
          </a:prstGeom>
          <a:solidFill>
            <a:srgbClr val="E8F1ED"/>
          </a:solidFill>
          <a:ln w="4762" cap="rnd">
            <a:solidFill>
              <a:srgbClr val="C9D6C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5" name="Shape 125"/>
          <p:cNvSpPr/>
          <p:nvPr/>
        </p:nvSpPr>
        <p:spPr>
          <a:xfrm>
            <a:off x="9201150" y="361950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6" name="Shape 126"/>
          <p:cNvSpPr/>
          <p:nvPr/>
        </p:nvSpPr>
        <p:spPr>
          <a:xfrm>
            <a:off x="9810750" y="36195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7" name="Shape 127"/>
          <p:cNvSpPr/>
          <p:nvPr/>
        </p:nvSpPr>
        <p:spPr>
          <a:xfrm>
            <a:off x="10248900" y="3619500"/>
            <a:ext cx="4381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8" name="Shape 128"/>
          <p:cNvSpPr/>
          <p:nvPr/>
        </p:nvSpPr>
        <p:spPr>
          <a:xfrm>
            <a:off x="10858500" y="3581400"/>
            <a:ext cx="762000" cy="161925"/>
          </a:xfrm>
          <a:prstGeom prst="roundRect">
            <a:avLst>
              <a:gd name="adj" fmla="val 50000"/>
            </a:avLst>
          </a:prstGeom>
          <a:solidFill>
            <a:srgbClr val="DDF1E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0B6B45"/>
                </a:solidFill>
                <a:latin typeface="Segoe UI"/>
                <a:cs typeface="Segoe UI"/>
              </a:rPr>
              <a:t>Approved</a:t>
            </a:r>
            <a:endParaRPr lang="en-US" sz="600" dirty="0"/>
          </a:p>
        </p:txBody>
      </p:sp>
      <p:sp>
        <p:nvSpPr>
          <p:cNvPr id="129" name="Shape 129"/>
          <p:cNvSpPr/>
          <p:nvPr/>
        </p:nvSpPr>
        <p:spPr>
          <a:xfrm>
            <a:off x="7200900" y="3829050"/>
            <a:ext cx="4476750" cy="314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0" name="Shape 130"/>
          <p:cNvSpPr/>
          <p:nvPr/>
        </p:nvSpPr>
        <p:spPr>
          <a:xfrm>
            <a:off x="7200900" y="4143375"/>
            <a:ext cx="4476750" cy="9525"/>
          </a:xfrm>
          <a:prstGeom prst="rect">
            <a:avLst/>
          </a:prstGeom>
          <a:solidFill>
            <a:srgbClr val="E3E9E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1" name="Shape 131"/>
          <p:cNvSpPr/>
          <p:nvPr/>
        </p:nvSpPr>
        <p:spPr>
          <a:xfrm>
            <a:off x="7258050" y="3943350"/>
            <a:ext cx="381000" cy="85725"/>
          </a:xfrm>
          <a:prstGeom prst="roundRect">
            <a:avLst>
              <a:gd name="adj" fmla="val 50000"/>
            </a:avLst>
          </a:prstGeom>
          <a:solidFill>
            <a:srgbClr val="0B4A36">
              <a:alpha val="3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2" name="Shape 132"/>
          <p:cNvSpPr/>
          <p:nvPr/>
        </p:nvSpPr>
        <p:spPr>
          <a:xfrm>
            <a:off x="7791450" y="3914775"/>
            <a:ext cx="723900" cy="66675"/>
          </a:xfrm>
          <a:prstGeom prst="roundRect">
            <a:avLst>
              <a:gd name="adj" fmla="val 50000"/>
            </a:avLst>
          </a:prstGeom>
          <a:solidFill>
            <a:srgbClr val="C9D5C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3" name="Shape 133"/>
          <p:cNvSpPr/>
          <p:nvPr/>
        </p:nvSpPr>
        <p:spPr>
          <a:xfrm>
            <a:off x="7791450" y="401002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DE5E1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4" name="Shape 134"/>
          <p:cNvSpPr/>
          <p:nvPr/>
        </p:nvSpPr>
        <p:spPr>
          <a:xfrm>
            <a:off x="8801100" y="3933825"/>
            <a:ext cx="285750" cy="95250"/>
          </a:xfrm>
          <a:prstGeom prst="roundRect">
            <a:avLst>
              <a:gd name="adj" fmla="val 50000"/>
            </a:avLst>
          </a:prstGeom>
          <a:solidFill>
            <a:srgbClr val="E8F1ED"/>
          </a:solidFill>
          <a:ln w="4762" cap="rnd">
            <a:solidFill>
              <a:srgbClr val="C9D6C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5" name="Shape 135"/>
          <p:cNvSpPr/>
          <p:nvPr/>
        </p:nvSpPr>
        <p:spPr>
          <a:xfrm>
            <a:off x="9201150" y="394335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6" name="Shape 136"/>
          <p:cNvSpPr/>
          <p:nvPr/>
        </p:nvSpPr>
        <p:spPr>
          <a:xfrm>
            <a:off x="9810750" y="39433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7" name="Shape 137"/>
          <p:cNvSpPr/>
          <p:nvPr/>
        </p:nvSpPr>
        <p:spPr>
          <a:xfrm>
            <a:off x="10248900" y="3943350"/>
            <a:ext cx="4381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8" name="Shape 138"/>
          <p:cNvSpPr/>
          <p:nvPr/>
        </p:nvSpPr>
        <p:spPr>
          <a:xfrm>
            <a:off x="10858500" y="3905250"/>
            <a:ext cx="762000" cy="161925"/>
          </a:xfrm>
          <a:prstGeom prst="roundRect">
            <a:avLst>
              <a:gd name="adj" fmla="val 50000"/>
            </a:avLst>
          </a:prstGeom>
          <a:solidFill>
            <a:srgbClr val="FBEFD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8A6312"/>
                </a:solidFill>
                <a:latin typeface="Segoe UI"/>
                <a:cs typeface="Segoe UI"/>
              </a:rPr>
              <a:t>Pending Review</a:t>
            </a:r>
            <a:endParaRPr lang="en-US" sz="600" dirty="0"/>
          </a:p>
        </p:txBody>
      </p:sp>
      <p:sp>
        <p:nvSpPr>
          <p:cNvPr id="139" name="Shape 139"/>
          <p:cNvSpPr/>
          <p:nvPr/>
        </p:nvSpPr>
        <p:spPr>
          <a:xfrm>
            <a:off x="7200900" y="4152900"/>
            <a:ext cx="4476750" cy="314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0" name="Shape 140"/>
          <p:cNvSpPr/>
          <p:nvPr/>
        </p:nvSpPr>
        <p:spPr>
          <a:xfrm>
            <a:off x="7200900" y="4467225"/>
            <a:ext cx="4476750" cy="9525"/>
          </a:xfrm>
          <a:prstGeom prst="rect">
            <a:avLst/>
          </a:prstGeom>
          <a:solidFill>
            <a:srgbClr val="E3E9E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1" name="Shape 141"/>
          <p:cNvSpPr/>
          <p:nvPr/>
        </p:nvSpPr>
        <p:spPr>
          <a:xfrm>
            <a:off x="7258050" y="4267200"/>
            <a:ext cx="381000" cy="85725"/>
          </a:xfrm>
          <a:prstGeom prst="roundRect">
            <a:avLst>
              <a:gd name="adj" fmla="val 50000"/>
            </a:avLst>
          </a:prstGeom>
          <a:solidFill>
            <a:srgbClr val="0B4A36">
              <a:alpha val="3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2" name="Shape 142"/>
          <p:cNvSpPr/>
          <p:nvPr/>
        </p:nvSpPr>
        <p:spPr>
          <a:xfrm>
            <a:off x="7791450" y="4238625"/>
            <a:ext cx="819150" cy="66675"/>
          </a:xfrm>
          <a:prstGeom prst="roundRect">
            <a:avLst>
              <a:gd name="adj" fmla="val 50000"/>
            </a:avLst>
          </a:prstGeom>
          <a:solidFill>
            <a:srgbClr val="C9D5C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3" name="Shape 143"/>
          <p:cNvSpPr/>
          <p:nvPr/>
        </p:nvSpPr>
        <p:spPr>
          <a:xfrm>
            <a:off x="7791450" y="433387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DE5E1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4" name="Shape 144"/>
          <p:cNvSpPr/>
          <p:nvPr/>
        </p:nvSpPr>
        <p:spPr>
          <a:xfrm>
            <a:off x="8801100" y="4257675"/>
            <a:ext cx="285750" cy="95250"/>
          </a:xfrm>
          <a:prstGeom prst="roundRect">
            <a:avLst>
              <a:gd name="adj" fmla="val 50000"/>
            </a:avLst>
          </a:prstGeom>
          <a:solidFill>
            <a:srgbClr val="E8F1ED"/>
          </a:solidFill>
          <a:ln w="4762" cap="rnd">
            <a:solidFill>
              <a:srgbClr val="C9D6C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5" name="Shape 145"/>
          <p:cNvSpPr/>
          <p:nvPr/>
        </p:nvSpPr>
        <p:spPr>
          <a:xfrm>
            <a:off x="9201150" y="426720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6" name="Shape 146"/>
          <p:cNvSpPr/>
          <p:nvPr/>
        </p:nvSpPr>
        <p:spPr>
          <a:xfrm>
            <a:off x="9810750" y="42672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7" name="Shape 147"/>
          <p:cNvSpPr/>
          <p:nvPr/>
        </p:nvSpPr>
        <p:spPr>
          <a:xfrm>
            <a:off x="10248900" y="4267200"/>
            <a:ext cx="4381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48" name="Shape 148"/>
          <p:cNvSpPr/>
          <p:nvPr/>
        </p:nvSpPr>
        <p:spPr>
          <a:xfrm>
            <a:off x="10858500" y="4229100"/>
            <a:ext cx="762000" cy="161925"/>
          </a:xfrm>
          <a:prstGeom prst="roundRect">
            <a:avLst>
              <a:gd name="adj" fmla="val 50000"/>
            </a:avLst>
          </a:prstGeom>
          <a:solidFill>
            <a:srgbClr val="DDEFF1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0E5A57"/>
                </a:solidFill>
                <a:latin typeface="Segoe UI"/>
                <a:cs typeface="Segoe UI"/>
              </a:rPr>
              <a:t>Pending Approval</a:t>
            </a:r>
            <a:endParaRPr lang="en-US" sz="600" dirty="0"/>
          </a:p>
        </p:txBody>
      </p:sp>
      <p:sp>
        <p:nvSpPr>
          <p:cNvPr id="149" name="Shape 149"/>
          <p:cNvSpPr/>
          <p:nvPr/>
        </p:nvSpPr>
        <p:spPr>
          <a:xfrm>
            <a:off x="7200900" y="4476750"/>
            <a:ext cx="4476750" cy="314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0" name="Shape 150"/>
          <p:cNvSpPr/>
          <p:nvPr/>
        </p:nvSpPr>
        <p:spPr>
          <a:xfrm>
            <a:off x="7200900" y="4791075"/>
            <a:ext cx="4476750" cy="9525"/>
          </a:xfrm>
          <a:prstGeom prst="rect">
            <a:avLst/>
          </a:prstGeom>
          <a:solidFill>
            <a:srgbClr val="E3E9E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1" name="Shape 151"/>
          <p:cNvSpPr/>
          <p:nvPr/>
        </p:nvSpPr>
        <p:spPr>
          <a:xfrm>
            <a:off x="7258050" y="4591050"/>
            <a:ext cx="381000" cy="85725"/>
          </a:xfrm>
          <a:prstGeom prst="roundRect">
            <a:avLst>
              <a:gd name="adj" fmla="val 50000"/>
            </a:avLst>
          </a:prstGeom>
          <a:solidFill>
            <a:srgbClr val="0B4A36">
              <a:alpha val="3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2" name="Shape 152"/>
          <p:cNvSpPr/>
          <p:nvPr/>
        </p:nvSpPr>
        <p:spPr>
          <a:xfrm>
            <a:off x="7791450" y="4562475"/>
            <a:ext cx="666750" cy="66675"/>
          </a:xfrm>
          <a:prstGeom prst="roundRect">
            <a:avLst>
              <a:gd name="adj" fmla="val 50000"/>
            </a:avLst>
          </a:prstGeom>
          <a:solidFill>
            <a:srgbClr val="C9D5C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3" name="Shape 153"/>
          <p:cNvSpPr/>
          <p:nvPr/>
        </p:nvSpPr>
        <p:spPr>
          <a:xfrm>
            <a:off x="7791450" y="465772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DE5E1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4" name="Shape 154"/>
          <p:cNvSpPr/>
          <p:nvPr/>
        </p:nvSpPr>
        <p:spPr>
          <a:xfrm>
            <a:off x="8801100" y="4581525"/>
            <a:ext cx="285750" cy="95250"/>
          </a:xfrm>
          <a:prstGeom prst="roundRect">
            <a:avLst>
              <a:gd name="adj" fmla="val 50000"/>
            </a:avLst>
          </a:prstGeom>
          <a:solidFill>
            <a:srgbClr val="E8F1ED"/>
          </a:solidFill>
          <a:ln w="4762" cap="rnd">
            <a:solidFill>
              <a:srgbClr val="C9D6C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5" name="Shape 155"/>
          <p:cNvSpPr/>
          <p:nvPr/>
        </p:nvSpPr>
        <p:spPr>
          <a:xfrm>
            <a:off x="9201150" y="459105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6" name="Shape 156"/>
          <p:cNvSpPr/>
          <p:nvPr/>
        </p:nvSpPr>
        <p:spPr>
          <a:xfrm>
            <a:off x="9810750" y="45910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7" name="Shape 157"/>
          <p:cNvSpPr/>
          <p:nvPr/>
        </p:nvSpPr>
        <p:spPr>
          <a:xfrm>
            <a:off x="10248900" y="4591050"/>
            <a:ext cx="4381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8" name="Shape 158"/>
          <p:cNvSpPr/>
          <p:nvPr/>
        </p:nvSpPr>
        <p:spPr>
          <a:xfrm>
            <a:off x="10858500" y="4552950"/>
            <a:ext cx="762000" cy="161925"/>
          </a:xfrm>
          <a:prstGeom prst="roundRect">
            <a:avLst>
              <a:gd name="adj" fmla="val 50000"/>
            </a:avLst>
          </a:prstGeom>
          <a:solidFill>
            <a:srgbClr val="FCE5D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9A4A1E"/>
                </a:solidFill>
                <a:latin typeface="Segoe UI"/>
                <a:cs typeface="Segoe UI"/>
              </a:rPr>
              <a:t>Sent Back</a:t>
            </a:r>
            <a:endParaRPr lang="en-US" sz="600" dirty="0"/>
          </a:p>
        </p:txBody>
      </p:sp>
      <p:sp>
        <p:nvSpPr>
          <p:cNvPr id="159" name="Shape 159"/>
          <p:cNvSpPr/>
          <p:nvPr/>
        </p:nvSpPr>
        <p:spPr>
          <a:xfrm>
            <a:off x="7200900" y="4800600"/>
            <a:ext cx="4476750" cy="314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0" name="Shape 160"/>
          <p:cNvSpPr/>
          <p:nvPr/>
        </p:nvSpPr>
        <p:spPr>
          <a:xfrm>
            <a:off x="7200900" y="5114925"/>
            <a:ext cx="4476750" cy="9525"/>
          </a:xfrm>
          <a:prstGeom prst="rect">
            <a:avLst/>
          </a:prstGeom>
          <a:solidFill>
            <a:srgbClr val="E3E9E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1" name="Shape 161"/>
          <p:cNvSpPr/>
          <p:nvPr/>
        </p:nvSpPr>
        <p:spPr>
          <a:xfrm>
            <a:off x="7258050" y="4914900"/>
            <a:ext cx="381000" cy="85725"/>
          </a:xfrm>
          <a:prstGeom prst="roundRect">
            <a:avLst>
              <a:gd name="adj" fmla="val 50000"/>
            </a:avLst>
          </a:prstGeom>
          <a:solidFill>
            <a:srgbClr val="0B4A36">
              <a:alpha val="3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2" name="Shape 162"/>
          <p:cNvSpPr/>
          <p:nvPr/>
        </p:nvSpPr>
        <p:spPr>
          <a:xfrm>
            <a:off x="7791450" y="4886325"/>
            <a:ext cx="914400" cy="66675"/>
          </a:xfrm>
          <a:prstGeom prst="roundRect">
            <a:avLst>
              <a:gd name="adj" fmla="val 50000"/>
            </a:avLst>
          </a:prstGeom>
          <a:solidFill>
            <a:srgbClr val="C9D5C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3" name="Shape 163"/>
          <p:cNvSpPr/>
          <p:nvPr/>
        </p:nvSpPr>
        <p:spPr>
          <a:xfrm>
            <a:off x="7791450" y="498157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DE5E1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4" name="Shape 164"/>
          <p:cNvSpPr/>
          <p:nvPr/>
        </p:nvSpPr>
        <p:spPr>
          <a:xfrm>
            <a:off x="8801100" y="4905375"/>
            <a:ext cx="285750" cy="95250"/>
          </a:xfrm>
          <a:prstGeom prst="roundRect">
            <a:avLst>
              <a:gd name="adj" fmla="val 50000"/>
            </a:avLst>
          </a:prstGeom>
          <a:solidFill>
            <a:srgbClr val="E8F1ED"/>
          </a:solidFill>
          <a:ln w="4762" cap="rnd">
            <a:solidFill>
              <a:srgbClr val="C9D6C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5" name="Shape 165"/>
          <p:cNvSpPr/>
          <p:nvPr/>
        </p:nvSpPr>
        <p:spPr>
          <a:xfrm>
            <a:off x="9201150" y="491490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6" name="Shape 166"/>
          <p:cNvSpPr/>
          <p:nvPr/>
        </p:nvSpPr>
        <p:spPr>
          <a:xfrm>
            <a:off x="9810750" y="49149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7" name="Shape 167"/>
          <p:cNvSpPr/>
          <p:nvPr/>
        </p:nvSpPr>
        <p:spPr>
          <a:xfrm>
            <a:off x="10248900" y="4914900"/>
            <a:ext cx="4381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68" name="Shape 168"/>
          <p:cNvSpPr/>
          <p:nvPr/>
        </p:nvSpPr>
        <p:spPr>
          <a:xfrm>
            <a:off x="10858500" y="4876800"/>
            <a:ext cx="762000" cy="161925"/>
          </a:xfrm>
          <a:prstGeom prst="roundRect">
            <a:avLst>
              <a:gd name="adj" fmla="val 50000"/>
            </a:avLst>
          </a:prstGeom>
          <a:solidFill>
            <a:srgbClr val="DDF1E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0B6B45"/>
                </a:solidFill>
                <a:latin typeface="Segoe UI"/>
                <a:cs typeface="Segoe UI"/>
              </a:rPr>
              <a:t>Approved</a:t>
            </a:r>
            <a:endParaRPr lang="en-US" sz="600" dirty="0"/>
          </a:p>
        </p:txBody>
      </p:sp>
      <p:sp>
        <p:nvSpPr>
          <p:cNvPr id="169" name="Shape 169"/>
          <p:cNvSpPr/>
          <p:nvPr/>
        </p:nvSpPr>
        <p:spPr>
          <a:xfrm>
            <a:off x="7200900" y="5124450"/>
            <a:ext cx="4476750" cy="314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0" name="Shape 170"/>
          <p:cNvSpPr/>
          <p:nvPr/>
        </p:nvSpPr>
        <p:spPr>
          <a:xfrm>
            <a:off x="7200900" y="5438775"/>
            <a:ext cx="4476750" cy="9525"/>
          </a:xfrm>
          <a:prstGeom prst="rect">
            <a:avLst/>
          </a:prstGeom>
          <a:solidFill>
            <a:srgbClr val="E3E9E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1" name="Shape 171"/>
          <p:cNvSpPr/>
          <p:nvPr/>
        </p:nvSpPr>
        <p:spPr>
          <a:xfrm>
            <a:off x="7258050" y="5238750"/>
            <a:ext cx="381000" cy="85725"/>
          </a:xfrm>
          <a:prstGeom prst="roundRect">
            <a:avLst>
              <a:gd name="adj" fmla="val 50000"/>
            </a:avLst>
          </a:prstGeom>
          <a:solidFill>
            <a:srgbClr val="0B4A36">
              <a:alpha val="3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2" name="Shape 172"/>
          <p:cNvSpPr/>
          <p:nvPr/>
        </p:nvSpPr>
        <p:spPr>
          <a:xfrm>
            <a:off x="7791450" y="5210175"/>
            <a:ext cx="762000" cy="66675"/>
          </a:xfrm>
          <a:prstGeom prst="roundRect">
            <a:avLst>
              <a:gd name="adj" fmla="val 50000"/>
            </a:avLst>
          </a:prstGeom>
          <a:solidFill>
            <a:srgbClr val="C9D5C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3" name="Shape 173"/>
          <p:cNvSpPr/>
          <p:nvPr/>
        </p:nvSpPr>
        <p:spPr>
          <a:xfrm>
            <a:off x="7791450" y="530542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DE5E1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4" name="Shape 174"/>
          <p:cNvSpPr/>
          <p:nvPr/>
        </p:nvSpPr>
        <p:spPr>
          <a:xfrm>
            <a:off x="8801100" y="5229225"/>
            <a:ext cx="285750" cy="95250"/>
          </a:xfrm>
          <a:prstGeom prst="roundRect">
            <a:avLst>
              <a:gd name="adj" fmla="val 50000"/>
            </a:avLst>
          </a:prstGeom>
          <a:solidFill>
            <a:srgbClr val="E8F1ED"/>
          </a:solidFill>
          <a:ln w="4762" cap="rnd">
            <a:solidFill>
              <a:srgbClr val="C9D6C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5" name="Shape 175"/>
          <p:cNvSpPr/>
          <p:nvPr/>
        </p:nvSpPr>
        <p:spPr>
          <a:xfrm>
            <a:off x="9201150" y="523875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6" name="Shape 176"/>
          <p:cNvSpPr/>
          <p:nvPr/>
        </p:nvSpPr>
        <p:spPr>
          <a:xfrm>
            <a:off x="9810750" y="52387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7" name="Shape 177"/>
          <p:cNvSpPr/>
          <p:nvPr/>
        </p:nvSpPr>
        <p:spPr>
          <a:xfrm>
            <a:off x="10248900" y="5238750"/>
            <a:ext cx="438150" cy="76200"/>
          </a:xfrm>
          <a:prstGeom prst="roundRect">
            <a:avLst>
              <a:gd name="adj" fmla="val 50000"/>
            </a:avLst>
          </a:prstGeom>
          <a:solidFill>
            <a:srgbClr val="D3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8" name="Shape 178"/>
          <p:cNvSpPr/>
          <p:nvPr/>
        </p:nvSpPr>
        <p:spPr>
          <a:xfrm>
            <a:off x="10858500" y="5200650"/>
            <a:ext cx="762000" cy="161925"/>
          </a:xfrm>
          <a:prstGeom prst="roundRect">
            <a:avLst>
              <a:gd name="adj" fmla="val 50000"/>
            </a:avLst>
          </a:prstGeom>
          <a:solidFill>
            <a:srgbClr val="ECEF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4E5A55"/>
                </a:solidFill>
                <a:latin typeface="Segoe UI"/>
                <a:cs typeface="Segoe UI"/>
              </a:rPr>
              <a:t>Registered</a:t>
            </a:r>
            <a:endParaRPr lang="en-US" sz="600" dirty="0"/>
          </a:p>
        </p:txBody>
      </p:sp>
      <p:sp>
        <p:nvSpPr>
          <p:cNvPr id="179" name="Shape 179"/>
          <p:cNvSpPr/>
          <p:nvPr/>
        </p:nvSpPr>
        <p:spPr>
          <a:xfrm>
            <a:off x="7067550" y="5600700"/>
            <a:ext cx="47434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650" b="0" dirty="0">
                <a:solidFill>
                  <a:srgbClr val="8FB0A4"/>
                </a:solidFill>
                <a:latin typeface="Segoe UI"/>
                <a:cs typeface="Segoe UI"/>
              </a:rPr>
              <a:t>Illustrative portal mockups   ·   sample layout, no live data</a:t>
            </a:r>
            <a:endParaRPr lang="en-US" sz="650" dirty="0"/>
          </a:p>
        </p:txBody>
      </p:sp>
      <p:sp>
        <p:nvSpPr>
          <p:cNvPr id="180" name="Shape 180"/>
          <p:cNvSpPr/>
          <p:nvPr/>
        </p:nvSpPr>
        <p:spPr>
          <a:xfrm>
            <a:off x="5962650" y="3657600"/>
            <a:ext cx="1333500" cy="1600200"/>
          </a:xfrm>
          <a:prstGeom prst="roundRect">
            <a:avLst>
              <a:gd name="adj" fmla="val 9000"/>
            </a:avLst>
          </a:prstGeom>
          <a:solidFill>
            <a:srgbClr val="06261C">
              <a:alpha val="88000"/>
            </a:srgbClr>
          </a:solidFill>
          <a:ln w="7144" cap="rnd">
            <a:solidFill>
              <a:srgbClr val="3FD6C3">
                <a:alpha val="50000"/>
              </a:srgbClr>
            </a:solidFill>
            <a:round/>
          </a:ln>
          <a:effectLst>
            <a:glow rad="95250">
              <a:srgbClr val="2EC4A6">
                <a:alpha val="30000"/>
              </a:srgbClr>
            </a:glow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1" name="Shape 181"/>
          <p:cNvSpPr/>
          <p:nvPr/>
        </p:nvSpPr>
        <p:spPr>
          <a:xfrm>
            <a:off x="6076950" y="37338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PET STATUS</a:t>
            </a:r>
            <a:endParaRPr lang="en-US" sz="700" dirty="0"/>
          </a:p>
        </p:txBody>
      </p:sp>
      <p:sp>
        <p:nvSpPr>
          <p:cNvPr id="182" name="Shape 182"/>
          <p:cNvSpPr/>
          <p:nvPr/>
        </p:nvSpPr>
        <p:spPr>
          <a:xfrm>
            <a:off x="6076950" y="3867150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650" b="0" dirty="0">
                <a:solidFill>
                  <a:srgbClr val="BFD3CA"/>
                </a:solidFill>
                <a:latin typeface="Segoe UI"/>
                <a:cs typeface="Segoe UI"/>
              </a:rPr>
              <a:t>Workflow stages in portal</a:t>
            </a:r>
            <a:endParaRPr lang="en-US" sz="650" dirty="0"/>
          </a:p>
        </p:txBody>
      </p:sp>
      <p:sp>
        <p:nvSpPr>
          <p:cNvPr id="183" name="Shape 183"/>
          <p:cNvSpPr/>
          <p:nvPr/>
        </p:nvSpPr>
        <p:spPr>
          <a:xfrm>
            <a:off x="6096000" y="4105275"/>
            <a:ext cx="76200" cy="76200"/>
          </a:xfrm>
          <a:prstGeom prst="ellipse">
            <a:avLst/>
          </a:prstGeom>
          <a:solidFill>
            <a:srgbClr val="E3B85A"/>
          </a:solidFill>
          <a:ln>
            <a:noFill/>
          </a:ln>
          <a:effectLst>
            <a:glow rad="28575">
              <a:srgbClr val="E3B85A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4" name="Shape 184"/>
          <p:cNvSpPr/>
          <p:nvPr/>
        </p:nvSpPr>
        <p:spPr>
          <a:xfrm>
            <a:off x="6229350" y="405765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Pending Review</a:t>
            </a:r>
            <a:endParaRPr lang="en-US" sz="800" dirty="0"/>
          </a:p>
        </p:txBody>
      </p:sp>
      <p:sp>
        <p:nvSpPr>
          <p:cNvPr id="185" name="Shape 185"/>
          <p:cNvSpPr/>
          <p:nvPr/>
        </p:nvSpPr>
        <p:spPr>
          <a:xfrm>
            <a:off x="6096000" y="4333875"/>
            <a:ext cx="76200" cy="76200"/>
          </a:xfrm>
          <a:prstGeom prst="ellipse">
            <a:avLst/>
          </a:prstGeom>
          <a:solidFill>
            <a:srgbClr val="3FD6C3"/>
          </a:solidFill>
          <a:ln>
            <a:noFill/>
          </a:ln>
          <a:effectLst>
            <a:glow rad="28575">
              <a:srgbClr val="3FD6C3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6" name="Shape 186"/>
          <p:cNvSpPr/>
          <p:nvPr/>
        </p:nvSpPr>
        <p:spPr>
          <a:xfrm>
            <a:off x="6229350" y="428625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Pending Approval</a:t>
            </a:r>
            <a:endParaRPr lang="en-US" sz="800" dirty="0"/>
          </a:p>
        </p:txBody>
      </p:sp>
      <p:sp>
        <p:nvSpPr>
          <p:cNvPr id="187" name="Shape 187"/>
          <p:cNvSpPr/>
          <p:nvPr/>
        </p:nvSpPr>
        <p:spPr>
          <a:xfrm>
            <a:off x="6096000" y="4562475"/>
            <a:ext cx="76200" cy="76200"/>
          </a:xfrm>
          <a:prstGeom prst="ellipse">
            <a:avLst/>
          </a:prstGeom>
          <a:solidFill>
            <a:srgbClr val="5BD08F"/>
          </a:solidFill>
          <a:ln>
            <a:noFill/>
          </a:ln>
          <a:effectLst>
            <a:glow rad="28575">
              <a:srgbClr val="5BD08F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8" name="Shape 188"/>
          <p:cNvSpPr/>
          <p:nvPr/>
        </p:nvSpPr>
        <p:spPr>
          <a:xfrm>
            <a:off x="6229350" y="451485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Approved</a:t>
            </a:r>
            <a:endParaRPr lang="en-US" sz="800" dirty="0"/>
          </a:p>
        </p:txBody>
      </p:sp>
      <p:sp>
        <p:nvSpPr>
          <p:cNvPr id="189" name="Shape 189"/>
          <p:cNvSpPr/>
          <p:nvPr/>
        </p:nvSpPr>
        <p:spPr>
          <a:xfrm>
            <a:off x="6096000" y="4791075"/>
            <a:ext cx="76200" cy="76200"/>
          </a:xfrm>
          <a:prstGeom prst="ellipse">
            <a:avLst/>
          </a:prstGeom>
          <a:solidFill>
            <a:srgbClr val="F0A35E"/>
          </a:solidFill>
          <a:ln>
            <a:noFill/>
          </a:ln>
          <a:effectLst>
            <a:glow rad="28575">
              <a:srgbClr val="F0A35E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0" name="Shape 190"/>
          <p:cNvSpPr/>
          <p:nvPr/>
        </p:nvSpPr>
        <p:spPr>
          <a:xfrm>
            <a:off x="6229350" y="474345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Sent Back</a:t>
            </a:r>
            <a:endParaRPr lang="en-US" sz="800" dirty="0"/>
          </a:p>
        </p:txBody>
      </p:sp>
      <p:sp>
        <p:nvSpPr>
          <p:cNvPr id="191" name="Shape 191"/>
          <p:cNvSpPr/>
          <p:nvPr/>
        </p:nvSpPr>
        <p:spPr>
          <a:xfrm>
            <a:off x="6096000" y="5019675"/>
            <a:ext cx="76200" cy="76200"/>
          </a:xfrm>
          <a:prstGeom prst="ellipse">
            <a:avLst/>
          </a:prstGeom>
          <a:solidFill>
            <a:srgbClr val="A7B3AE"/>
          </a:solidFill>
          <a:ln>
            <a:noFill/>
          </a:ln>
          <a:effectLst>
            <a:glow rad="28575">
              <a:srgbClr val="A7B3AE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2" name="Shape 192"/>
          <p:cNvSpPr/>
          <p:nvPr/>
        </p:nvSpPr>
        <p:spPr>
          <a:xfrm>
            <a:off x="6229350" y="497205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Rejected</a:t>
            </a:r>
            <a:endParaRPr lang="en-US" sz="800" dirty="0"/>
          </a:p>
        </p:txBody>
      </p:sp>
      <p:sp>
        <p:nvSpPr>
          <p:cNvPr id="193" name="Shape 193"/>
          <p:cNvSpPr/>
          <p:nvPr/>
        </p:nvSpPr>
        <p:spPr>
          <a:xfrm>
            <a:off x="533400" y="5715000"/>
            <a:ext cx="2152650" cy="7239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4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4" name="Shape 194"/>
          <p:cNvSpPr/>
          <p:nvPr/>
        </p:nvSpPr>
        <p:spPr>
          <a:xfrm>
            <a:off x="647700" y="5867400"/>
            <a:ext cx="419100" cy="4191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2EC4A6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5" name="Shape 195"/>
          <p:cNvSpPr/>
          <p:nvPr/>
        </p:nvSpPr>
        <p:spPr>
          <a:xfrm>
            <a:off x="756666" y="6076950"/>
            <a:ext cx="50292" cy="1089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6" name="Shape 196"/>
          <p:cNvSpPr/>
          <p:nvPr/>
        </p:nvSpPr>
        <p:spPr>
          <a:xfrm>
            <a:off x="832104" y="6018276"/>
            <a:ext cx="50292" cy="16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7" name="Shape 197"/>
          <p:cNvSpPr/>
          <p:nvPr/>
        </p:nvSpPr>
        <p:spPr>
          <a:xfrm>
            <a:off x="907542" y="5967984"/>
            <a:ext cx="50292" cy="217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8" name="Shape 198"/>
          <p:cNvSpPr/>
          <p:nvPr/>
        </p:nvSpPr>
        <p:spPr>
          <a:xfrm>
            <a:off x="1162050" y="577215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Portfolio visibility</a:t>
            </a:r>
            <a:endParaRPr lang="en-US" sz="1000" dirty="0"/>
          </a:p>
        </p:txBody>
      </p:sp>
      <p:sp>
        <p:nvSpPr>
          <p:cNvPr id="199" name="Shape 199"/>
          <p:cNvSpPr/>
          <p:nvPr/>
        </p:nvSpPr>
        <p:spPr>
          <a:xfrm>
            <a:off x="1162050" y="600075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BFD3CA"/>
                </a:solidFill>
                <a:latin typeface="Segoe UI"/>
                <a:cs typeface="Segoe UI"/>
              </a:rPr>
              <a:t>Projects, PETs &amp; invoices in one view</a:t>
            </a:r>
            <a:endParaRPr lang="en-US" sz="850" dirty="0"/>
          </a:p>
        </p:txBody>
      </p:sp>
      <p:sp>
        <p:nvSpPr>
          <p:cNvPr id="200" name="Shape 200"/>
          <p:cNvSpPr/>
          <p:nvPr/>
        </p:nvSpPr>
        <p:spPr>
          <a:xfrm>
            <a:off x="2781300" y="5715000"/>
            <a:ext cx="2152650" cy="7239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4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1" name="Shape 201"/>
          <p:cNvSpPr/>
          <p:nvPr/>
        </p:nvSpPr>
        <p:spPr>
          <a:xfrm>
            <a:off x="2895600" y="5867400"/>
            <a:ext cx="419100" cy="4191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28B3A3"/>
              </a:gs>
              <a:gs pos="100000">
                <a:srgbClr val="0E5A57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3FD6C3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2" name="Shape 202"/>
          <p:cNvSpPr/>
          <p:nvPr/>
        </p:nvSpPr>
        <p:spPr>
          <a:xfrm>
            <a:off x="3021330" y="5967984"/>
            <a:ext cx="167640" cy="217932"/>
          </a:xfrm>
          <a:prstGeom prst="flowChartMagneticDisk">
            <a:avLst/>
          </a:pr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3" name="Shape 203"/>
          <p:cNvSpPr/>
          <p:nvPr/>
        </p:nvSpPr>
        <p:spPr>
          <a:xfrm>
            <a:off x="3021330" y="6051804"/>
            <a:ext cx="167640" cy="50292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0" y="0"/>
                </a:moveTo>
                <a:cubicBezTo>
                  <a:pt x="0" y="100"/>
                  <a:pt x="100" y="100"/>
                  <a:pt x="100" y="0"/>
                </a:cubicBezTo>
              </a:path>
            </a:pathLst>
          </a:cu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4" name="Shape 204"/>
          <p:cNvSpPr/>
          <p:nvPr/>
        </p:nvSpPr>
        <p:spPr>
          <a:xfrm>
            <a:off x="3409950" y="577215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Standardized data</a:t>
            </a:r>
            <a:endParaRPr lang="en-US" sz="1000" dirty="0"/>
          </a:p>
        </p:txBody>
      </p:sp>
      <p:sp>
        <p:nvSpPr>
          <p:cNvPr id="205" name="Shape 205"/>
          <p:cNvSpPr/>
          <p:nvPr/>
        </p:nvSpPr>
        <p:spPr>
          <a:xfrm>
            <a:off x="3409950" y="600075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BFD3CA"/>
                </a:solidFill>
                <a:latin typeface="Segoe UI"/>
                <a:cs typeface="Segoe UI"/>
              </a:rPr>
              <a:t>Consistent registration &amp; weighted sizing</a:t>
            </a:r>
            <a:endParaRPr lang="en-US" sz="850" dirty="0"/>
          </a:p>
        </p:txBody>
      </p:sp>
      <p:sp>
        <p:nvSpPr>
          <p:cNvPr id="206" name="Shape 206"/>
          <p:cNvSpPr/>
          <p:nvPr/>
        </p:nvSpPr>
        <p:spPr>
          <a:xfrm>
            <a:off x="5029200" y="5715000"/>
            <a:ext cx="2152650" cy="7239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4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7" name="Shape 207"/>
          <p:cNvSpPr/>
          <p:nvPr/>
        </p:nvSpPr>
        <p:spPr>
          <a:xfrm>
            <a:off x="5143500" y="5867400"/>
            <a:ext cx="419100" cy="4191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C066"/>
              </a:gs>
              <a:gs pos="100000">
                <a:srgbClr val="A8781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E3B85A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8" name="Shape 208"/>
          <p:cNvSpPr/>
          <p:nvPr/>
        </p:nvSpPr>
        <p:spPr>
          <a:xfrm>
            <a:off x="5256657" y="5955411"/>
            <a:ext cx="192786" cy="243078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9" name="Shape 209"/>
          <p:cNvSpPr/>
          <p:nvPr/>
        </p:nvSpPr>
        <p:spPr>
          <a:xfrm>
            <a:off x="5306949" y="6043422"/>
            <a:ext cx="92202" cy="62865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0" y="55"/>
                </a:moveTo>
                <a:lnTo>
                  <a:pt x="38" y="100"/>
                </a:lnTo>
                <a:lnTo>
                  <a:pt x="100" y="0"/>
                </a:lnTo>
              </a:path>
            </a:pathLst>
          </a:custGeom>
          <a:noFill/>
          <a:ln w="2286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0" name="Shape 210"/>
          <p:cNvSpPr/>
          <p:nvPr/>
        </p:nvSpPr>
        <p:spPr>
          <a:xfrm>
            <a:off x="5657850" y="577215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Traceable governance</a:t>
            </a:r>
            <a:endParaRPr lang="en-US" sz="1000" dirty="0"/>
          </a:p>
        </p:txBody>
      </p:sp>
      <p:sp>
        <p:nvSpPr>
          <p:cNvPr id="211" name="Shape 211"/>
          <p:cNvSpPr/>
          <p:nvPr/>
        </p:nvSpPr>
        <p:spPr>
          <a:xfrm>
            <a:off x="5657850" y="600075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BFD3CA"/>
                </a:solidFill>
                <a:latin typeface="Segoe UI"/>
                <a:cs typeface="Segoe UI"/>
              </a:rPr>
              <a:t>Named owners, recorded decision trail</a:t>
            </a:r>
            <a:endParaRPr lang="en-US" sz="850" dirty="0"/>
          </a:p>
        </p:txBody>
      </p:sp>
      <p:sp>
        <p:nvSpPr>
          <p:cNvPr id="212" name="Shape 212"/>
          <p:cNvSpPr/>
          <p:nvPr/>
        </p:nvSpPr>
        <p:spPr>
          <a:xfrm>
            <a:off x="7277100" y="5715000"/>
            <a:ext cx="2152650" cy="7239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4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3" name="Shape 213"/>
          <p:cNvSpPr/>
          <p:nvPr/>
        </p:nvSpPr>
        <p:spPr>
          <a:xfrm>
            <a:off x="7391400" y="5867400"/>
            <a:ext cx="419100" cy="4191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2EC4A6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4" name="Shape 214"/>
          <p:cNvSpPr/>
          <p:nvPr/>
        </p:nvSpPr>
        <p:spPr>
          <a:xfrm>
            <a:off x="7450074" y="6043422"/>
            <a:ext cx="67056" cy="670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5" name="Shape 215"/>
          <p:cNvSpPr/>
          <p:nvPr/>
        </p:nvSpPr>
        <p:spPr>
          <a:xfrm>
            <a:off x="7567422" y="6043422"/>
            <a:ext cx="67056" cy="670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6" name="Shape 216"/>
          <p:cNvSpPr/>
          <p:nvPr/>
        </p:nvSpPr>
        <p:spPr>
          <a:xfrm>
            <a:off x="7684770" y="6043422"/>
            <a:ext cx="67056" cy="670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cxnSp>
        <p:nvCxnSpPr>
          <p:cNvPr id="217" name="Connector 217"/>
          <p:cNvCxnSpPr/>
          <p:nvPr/>
        </p:nvCxnSpPr>
        <p:spPr>
          <a:xfrm>
            <a:off x="7517130" y="6076950"/>
            <a:ext cx="50292" cy="0"/>
          </a:xfrm>
          <a:prstGeom prst="line">
            <a:avLst/>
          </a:prstGeom>
          <a:ln w="19050" cap="rnd">
            <a:solidFill>
              <a:srgbClr val="FFFFFF"/>
            </a:solidFill>
          </a:ln>
        </p:spPr>
      </p:cxnSp>
      <p:cxnSp>
        <p:nvCxnSpPr>
          <p:cNvPr id="218" name="Connector 218"/>
          <p:cNvCxnSpPr/>
          <p:nvPr/>
        </p:nvCxnSpPr>
        <p:spPr>
          <a:xfrm>
            <a:off x="7634478" y="6076950"/>
            <a:ext cx="50292" cy="0"/>
          </a:xfrm>
          <a:prstGeom prst="line">
            <a:avLst/>
          </a:prstGeom>
          <a:ln w="19050" cap="rnd">
            <a:solidFill>
              <a:srgbClr val="FFFFFF"/>
            </a:solidFill>
          </a:ln>
        </p:spPr>
      </p:cxnSp>
      <p:sp>
        <p:nvSpPr>
          <p:cNvPr id="219" name="Shape 219"/>
          <p:cNvSpPr/>
          <p:nvPr/>
        </p:nvSpPr>
        <p:spPr>
          <a:xfrm>
            <a:off x="7905750" y="577215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Workflow oversight</a:t>
            </a:r>
            <a:endParaRPr lang="en-US" sz="1000" dirty="0"/>
          </a:p>
        </p:txBody>
      </p:sp>
      <p:sp>
        <p:nvSpPr>
          <p:cNvPr id="220" name="Shape 220"/>
          <p:cNvSpPr/>
          <p:nvPr/>
        </p:nvSpPr>
        <p:spPr>
          <a:xfrm>
            <a:off x="7905750" y="600075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BFD3CA"/>
                </a:solidFill>
                <a:latin typeface="Segoe UI"/>
                <a:cs typeface="Segoe UI"/>
              </a:rPr>
              <a:t>PET &amp; budget requests in the right order</a:t>
            </a:r>
            <a:endParaRPr lang="en-US" sz="850" dirty="0"/>
          </a:p>
        </p:txBody>
      </p:sp>
      <p:sp>
        <p:nvSpPr>
          <p:cNvPr id="221" name="Shape 221"/>
          <p:cNvSpPr/>
          <p:nvPr/>
        </p:nvSpPr>
        <p:spPr>
          <a:xfrm>
            <a:off x="9525000" y="5715000"/>
            <a:ext cx="2152650" cy="7239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4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2" name="Shape 222"/>
          <p:cNvSpPr/>
          <p:nvPr/>
        </p:nvSpPr>
        <p:spPr>
          <a:xfrm>
            <a:off x="9639300" y="5867400"/>
            <a:ext cx="419100" cy="4191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28B3A3"/>
              </a:gs>
              <a:gs pos="100000">
                <a:srgbClr val="0E5A57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3FD6C3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3" name="Shape 223"/>
          <p:cNvSpPr/>
          <p:nvPr/>
        </p:nvSpPr>
        <p:spPr>
          <a:xfrm>
            <a:off x="9739884" y="5967984"/>
            <a:ext cx="217932" cy="217932"/>
          </a:xfrm>
          <a:prstGeom prst="ellipse">
            <a:avLst/>
          </a:pr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4" name="Shape 224"/>
          <p:cNvSpPr/>
          <p:nvPr/>
        </p:nvSpPr>
        <p:spPr>
          <a:xfrm>
            <a:off x="9790176" y="6018276"/>
            <a:ext cx="117348" cy="117348"/>
          </a:xfrm>
          <a:prstGeom prst="ellipse">
            <a:avLst/>
          </a:pr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5" name="Shape 225"/>
          <p:cNvSpPr/>
          <p:nvPr/>
        </p:nvSpPr>
        <p:spPr>
          <a:xfrm>
            <a:off x="9827895" y="6055995"/>
            <a:ext cx="41910" cy="419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6" name="Shape 226"/>
          <p:cNvSpPr/>
          <p:nvPr/>
        </p:nvSpPr>
        <p:spPr>
          <a:xfrm>
            <a:off x="10153650" y="577215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Informed decisions</a:t>
            </a:r>
            <a:endParaRPr lang="en-US" sz="1000" dirty="0"/>
          </a:p>
        </p:txBody>
      </p:sp>
      <p:sp>
        <p:nvSpPr>
          <p:cNvPr id="227" name="Shape 227"/>
          <p:cNvSpPr/>
          <p:nvPr/>
        </p:nvSpPr>
        <p:spPr>
          <a:xfrm>
            <a:off x="10153650" y="600075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BFD3CA"/>
                </a:solidFill>
                <a:latin typeface="Segoe UI"/>
                <a:cs typeface="Segoe UI"/>
              </a:rPr>
              <a:t>Current, consistent data for leadership</a:t>
            </a:r>
            <a:endParaRPr lang="en-US" sz="850" dirty="0"/>
          </a:p>
        </p:txBody>
      </p:sp>
      <p:sp>
        <p:nvSpPr>
          <p:cNvPr id="228" name="Shape 228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gradFill rotWithShape="1">
            <a:gsLst>
              <a:gs pos="0">
                <a:srgbClr val="BD8B22">
                  <a:alpha val="0"/>
                </a:srgbClr>
              </a:gs>
              <a:gs pos="25000">
                <a:srgbClr val="BD8B22">
                  <a:alpha val="70000"/>
                </a:srgbClr>
              </a:gs>
              <a:gs pos="75000">
                <a:srgbClr val="2EC4A6">
                  <a:alpha val="55000"/>
                </a:srgbClr>
              </a:gs>
              <a:gs pos="100000">
                <a:srgbClr val="2EC4A6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9" name="Shape 229"/>
          <p:cNvSpPr/>
          <p:nvPr/>
        </p:nvSpPr>
        <p:spPr>
          <a:xfrm>
            <a:off x="533400" y="6610350"/>
            <a:ext cx="247650" cy="19050"/>
          </a:xfrm>
          <a:prstGeom prst="rect">
            <a:avLst/>
          </a:prstGeom>
          <a:solidFill>
            <a:srgbClr val="2EC4A6"/>
          </a:soli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30" name="Shape 230"/>
          <p:cNvSpPr/>
          <p:nvPr/>
        </p:nvSpPr>
        <p:spPr>
          <a:xfrm>
            <a:off x="876300" y="6543675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PREPARED FOR DIB MANAGEMENT   ·   01 / 03</a:t>
            </a:r>
            <a:endParaRPr lang="en-US" sz="750" dirty="0"/>
          </a:p>
        </p:txBody>
      </p:sp>
      <p:sp>
        <p:nvSpPr>
          <p:cNvPr id="231" name="Shape 231"/>
          <p:cNvSpPr/>
          <p:nvPr/>
        </p:nvSpPr>
        <p:spPr>
          <a:xfrm>
            <a:off x="6324600" y="6543675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ONE PORTFOLIO   |   CLEAR OWNERSHIP   |   STRONGER CONTROL</a:t>
            </a:r>
            <a:endParaRPr lang="en-US" sz="75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21B14"/>
              </a:gs>
              <a:gs pos="50000">
                <a:srgbClr val="063A2B"/>
              </a:gs>
              <a:gs pos="100000">
                <a:srgbClr val="0A5A52"/>
              </a:gs>
            </a:gsLst>
            <a:lin ang="18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5905500" y="-4000500"/>
            <a:ext cx="10001250" cy="10001250"/>
          </a:xfrm>
          <a:prstGeom prst="ellipse">
            <a:avLst/>
          </a:prstGeom>
          <a:gradFill rotWithShape="1">
            <a:gsLst>
              <a:gs pos="0">
                <a:srgbClr val="2EC4A6">
                  <a:alpha val="34000"/>
                </a:srgbClr>
              </a:gs>
              <a:gs pos="100000">
                <a:srgbClr val="2EC4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-3619500" y="3619500"/>
            <a:ext cx="7810500" cy="7810500"/>
          </a:xfrm>
          <a:prstGeom prst="ellipse">
            <a:avLst/>
          </a:prstGeom>
          <a:gradFill rotWithShape="1">
            <a:gsLst>
              <a:gs pos="0">
                <a:srgbClr val="BD8B22">
                  <a:alpha val="20000"/>
                </a:srgbClr>
              </a:gs>
              <a:gs pos="100000">
                <a:srgbClr val="BD8B2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2857500" y="3619500"/>
            <a:ext cx="6667500" cy="4953000"/>
          </a:xfrm>
          <a:prstGeom prst="ellipse">
            <a:avLst/>
          </a:prstGeom>
          <a:gradFill rotWithShape="1">
            <a:gsLst>
              <a:gs pos="0">
                <a:srgbClr val="1C9A72">
                  <a:alpha val="16000"/>
                </a:srgbClr>
              </a:gs>
              <a:gs pos="100000">
                <a:srgbClr val="1C9A7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 rot="20640000">
            <a:off x="-952500" y="2381250"/>
            <a:ext cx="14287500" cy="17145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 rot="20640000">
            <a:off x="-571500" y="2857500"/>
            <a:ext cx="13906500" cy="19050"/>
          </a:xfrm>
          <a:prstGeom prst="rect">
            <a:avLst/>
          </a:prstGeom>
          <a:gradFill rotWithShape="1">
            <a:gsLst>
              <a:gs pos="0">
                <a:srgbClr val="A8F0DD">
                  <a:alpha val="0"/>
                </a:srgbClr>
              </a:gs>
              <a:gs pos="50000">
                <a:srgbClr val="A8F0DD">
                  <a:alpha val="28000"/>
                </a:srgbClr>
              </a:gs>
              <a:gs pos="100000">
                <a:srgbClr val="A8F0DD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 rot="20640000">
            <a:off x="762000" y="1143000"/>
            <a:ext cx="13335000" cy="14288"/>
          </a:xfrm>
          <a:prstGeom prst="rect">
            <a:avLst/>
          </a:prstGeom>
          <a:gradFill rotWithShape="1">
            <a:gsLst>
              <a:gs pos="0">
                <a:srgbClr val="E3B85A">
                  <a:alpha val="0"/>
                </a:srgbClr>
              </a:gs>
              <a:gs pos="60000">
                <a:srgbClr val="E3B85A">
                  <a:alpha val="22000"/>
                </a:srgbClr>
              </a:gs>
              <a:gs pos="100000">
                <a:srgbClr val="E3B85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533400" y="323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76200">
              <a:srgbClr val="E3B85A">
                <a:alpha val="3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533400" y="323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470" y="190"/>
                </a:moveTo>
                <a:cubicBezTo>
                  <a:pt x="390" y="190"/>
                  <a:pt x="320" y="220"/>
                  <a:pt x="270" y="280"/>
                </a:cubicBezTo>
                <a:lnTo>
                  <a:pt x="180" y="240"/>
                </a:lnTo>
                <a:lnTo>
                  <a:pt x="240" y="330"/>
                </a:lnTo>
                <a:lnTo>
                  <a:pt x="170" y="380"/>
                </a:lnTo>
                <a:lnTo>
                  <a:pt x="280" y="370"/>
                </a:lnTo>
                <a:cubicBezTo>
                  <a:pt x="320" y="440"/>
                  <a:pt x="380" y="490"/>
                  <a:pt x="460" y="520"/>
                </a:cubicBezTo>
                <a:cubicBezTo>
                  <a:pt x="410" y="470"/>
                  <a:pt x="380" y="420"/>
                  <a:pt x="370" y="360"/>
                </a:cubicBezTo>
                <a:lnTo>
                  <a:pt x="470" y="310"/>
                </a:lnTo>
                <a:lnTo>
                  <a:pt x="360" y="290"/>
                </a:lnTo>
                <a:cubicBezTo>
                  <a:pt x="390" y="250"/>
                  <a:pt x="430" y="220"/>
                  <a:pt x="470" y="190"/>
                </a:cubicBezTo>
                <a:close/>
              </a:path>
            </a:pathLst>
          </a:cu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734318" y="428327"/>
            <a:ext cx="16073" cy="16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952500" y="3238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300" dirty="0"/>
          </a:p>
        </p:txBody>
      </p:sp>
      <p:sp>
        <p:nvSpPr>
          <p:cNvPr id="13" name="Shape 13"/>
          <p:cNvSpPr/>
          <p:nvPr/>
        </p:nvSpPr>
        <p:spPr>
          <a:xfrm>
            <a:off x="952500" y="51435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50" dirty="0">
                <a:solidFill>
                  <a:srgbClr val="E3B85A"/>
                </a:solidFill>
                <a:latin typeface="Segoe UI"/>
                <a:cs typeface="Segoe UI"/>
              </a:rPr>
              <a:t>PORTFOLIO PORTAL</a:t>
            </a:r>
            <a:endParaRPr lang="en-US" sz="700" dirty="0"/>
          </a:p>
        </p:txBody>
      </p:sp>
      <p:sp>
        <p:nvSpPr>
          <p:cNvPr id="14" name="Shape 14"/>
          <p:cNvSpPr/>
          <p:nvPr/>
        </p:nvSpPr>
        <p:spPr>
          <a:xfrm>
            <a:off x="533400" y="8763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1" spc="200" dirty="0">
                <a:solidFill>
                  <a:srgbClr val="6FD9C0"/>
                </a:solidFill>
                <a:latin typeface="Segoe UI"/>
                <a:cs typeface="Segoe UI"/>
              </a:rPr>
              <a:t>02   ·   END-TO-END WORKFLOW</a:t>
            </a:r>
            <a:endParaRPr lang="en-US" sz="900" dirty="0"/>
          </a:p>
        </p:txBody>
      </p:sp>
      <p:sp>
        <p:nvSpPr>
          <p:cNvPr id="15" name="Shape 15"/>
          <p:cNvSpPr/>
          <p:nvPr/>
        </p:nvSpPr>
        <p:spPr>
          <a:xfrm>
            <a:off x="533400" y="1047750"/>
            <a:ext cx="8191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How a project moves through </a:t>
            </a:r>
            <a:r>
              <a:rPr lang="en-US" sz="3000" b="1" dirty="0">
                <a:solidFill>
                  <a:srgbClr val="E3B85A"/>
                </a:solidFill>
                <a:latin typeface="Segoe UI"/>
                <a:cs typeface="Segoe UI"/>
              </a:rPr>
              <a:t>Falcon</a:t>
            </a:r>
            <a:endParaRPr lang="en-US" sz="3000" dirty="0"/>
          </a:p>
        </p:txBody>
      </p:sp>
      <p:sp>
        <p:nvSpPr>
          <p:cNvPr id="16" name="Shape 16"/>
          <p:cNvSpPr/>
          <p:nvPr/>
        </p:nvSpPr>
        <p:spPr>
          <a:xfrm>
            <a:off x="533400" y="150495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BFD3CA"/>
                </a:solidFill>
                <a:latin typeface="Segoe UI"/>
                <a:cs typeface="Segoe UI"/>
              </a:rPr>
              <a:t>Every stage reflects the live portal: who acts, what is decided, which control applies.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8858250" y="952500"/>
            <a:ext cx="2800350" cy="342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9010650" y="1066800"/>
            <a:ext cx="114300" cy="114300"/>
          </a:xfrm>
          <a:prstGeom prst="diamond">
            <a:avLst/>
          </a:prstGeom>
          <a:solidFill>
            <a:srgbClr val="E3B85A"/>
          </a:solidFill>
          <a:ln>
            <a:noFill/>
          </a:ln>
          <a:effectLst>
            <a:glow rad="28575">
              <a:srgbClr val="E3B85A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9163050" y="1009650"/>
            <a:ext cx="66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0" dirty="0">
                <a:solidFill>
                  <a:srgbClr val="FFFFFF"/>
                </a:solidFill>
                <a:latin typeface="Segoe UI"/>
                <a:cs typeface="Segoe UI"/>
              </a:rPr>
              <a:t>Decision</a:t>
            </a:r>
            <a:endParaRPr lang="en-US" sz="800" dirty="0"/>
          </a:p>
        </p:txBody>
      </p:sp>
      <p:sp>
        <p:nvSpPr>
          <p:cNvPr id="20" name="Shape 20"/>
          <p:cNvSpPr/>
          <p:nvPr/>
        </p:nvSpPr>
        <p:spPr>
          <a:xfrm>
            <a:off x="9848850" y="1057275"/>
            <a:ext cx="209550" cy="133350"/>
          </a:xfrm>
          <a:prstGeom prst="roundRect">
            <a:avLst>
              <a:gd name="adj" fmla="val 50000"/>
            </a:avLst>
          </a:prstGeom>
          <a:solidFill>
            <a:srgbClr val="BD8B22">
              <a:alpha val="15000"/>
            </a:srgbClr>
          </a:solidFill>
          <a:ln w="7144" cap="rnd">
            <a:solidFill>
              <a:srgbClr val="E3B85A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10096500" y="1009650"/>
            <a:ext cx="66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0" dirty="0">
                <a:solidFill>
                  <a:srgbClr val="FFFFFF"/>
                </a:solidFill>
                <a:latin typeface="Segoe UI"/>
                <a:cs typeface="Segoe UI"/>
              </a:rPr>
              <a:t>Stakeholder</a:t>
            </a:r>
            <a:endParaRPr lang="en-US" sz="800" dirty="0"/>
          </a:p>
        </p:txBody>
      </p:sp>
      <p:sp>
        <p:nvSpPr>
          <p:cNvPr id="22" name="Shape 22"/>
          <p:cNvSpPr/>
          <p:nvPr/>
        </p:nvSpPr>
        <p:spPr>
          <a:xfrm>
            <a:off x="10820400" y="1038225"/>
            <a:ext cx="114300" cy="14287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3" name="Shape 23"/>
          <p:cNvSpPr/>
          <p:nvPr/>
        </p:nvSpPr>
        <p:spPr>
          <a:xfrm>
            <a:off x="10972800" y="1009650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00" b="0" dirty="0">
                <a:solidFill>
                  <a:srgbClr val="FFFFFF"/>
                </a:solidFill>
                <a:latin typeface="Segoe UI"/>
                <a:cs typeface="Segoe UI"/>
              </a:rPr>
              <a:t>Key control</a:t>
            </a:r>
            <a:endParaRPr lang="en-US" sz="800" dirty="0"/>
          </a:p>
        </p:txBody>
      </p:sp>
      <p:sp>
        <p:nvSpPr>
          <p:cNvPr id="24" name="Shape 24"/>
          <p:cNvSpPr/>
          <p:nvPr/>
        </p:nvSpPr>
        <p:spPr>
          <a:xfrm>
            <a:off x="1428750" y="2228850"/>
            <a:ext cx="93345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EC4A6">
                  <a:alpha val="90000"/>
                </a:srgbClr>
              </a:gs>
              <a:gs pos="70000">
                <a:srgbClr val="3FD6C3">
                  <a:alpha val="90000"/>
                </a:srgbClr>
              </a:gs>
              <a:gs pos="100000">
                <a:srgbClr val="E3B85A"/>
              </a:gs>
            </a:gsLst>
            <a:lin ang="0" scaled="0"/>
          </a:gradFill>
          <a:ln>
            <a:noFill/>
          </a:ln>
          <a:effectLst>
            <a:glow rad="57150">
              <a:srgbClr val="2EC4A6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5" name="Shape 25"/>
          <p:cNvSpPr/>
          <p:nvPr/>
        </p:nvSpPr>
        <p:spPr>
          <a:xfrm rot="5400000">
            <a:off x="2314575" y="2190750"/>
            <a:ext cx="95250" cy="114300"/>
          </a:xfrm>
          <a:prstGeom prst="triangle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 rot="5400000">
            <a:off x="4181475" y="2190750"/>
            <a:ext cx="95250" cy="114300"/>
          </a:xfrm>
          <a:prstGeom prst="triangle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 rot="5400000">
            <a:off x="6048375" y="2190750"/>
            <a:ext cx="95250" cy="114300"/>
          </a:xfrm>
          <a:prstGeom prst="triangle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8" name="Shape 28"/>
          <p:cNvSpPr/>
          <p:nvPr/>
        </p:nvSpPr>
        <p:spPr>
          <a:xfrm rot="5400000">
            <a:off x="7915275" y="2190750"/>
            <a:ext cx="95250" cy="114300"/>
          </a:xfrm>
          <a:prstGeom prst="triangle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9" name="Shape 29"/>
          <p:cNvSpPr/>
          <p:nvPr/>
        </p:nvSpPr>
        <p:spPr>
          <a:xfrm rot="5400000">
            <a:off x="9782175" y="2190750"/>
            <a:ext cx="95250" cy="114300"/>
          </a:xfrm>
          <a:prstGeom prst="triangle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0" name="Shape 30"/>
          <p:cNvSpPr/>
          <p:nvPr/>
        </p:nvSpPr>
        <p:spPr>
          <a:xfrm>
            <a:off x="7029450" y="1733550"/>
            <a:ext cx="1866900" cy="285750"/>
          </a:xfrm>
          <a:custGeom>
            <a:avLst/>
            <a:gdLst/>
            <a:ahLst/>
            <a:cxnLst/>
            <a:rect l="l" t="t" r="r" b="b"/>
            <a:pathLst>
              <a:path w="1000" h="1000" fill="none">
                <a:moveTo>
                  <a:pt x="1000" y="1000"/>
                </a:moveTo>
                <a:cubicBezTo>
                  <a:pt x="1000" y="0"/>
                  <a:pt x="0" y="0"/>
                  <a:pt x="0" y="1000"/>
                </a:cubicBezTo>
              </a:path>
            </a:pathLst>
          </a:custGeom>
          <a:noFill/>
          <a:ln w="14288" cap="rnd">
            <a:solidFill>
              <a:srgbClr val="E3B85A"/>
            </a:solidFill>
            <a:prstDash val="dash"/>
            <a:round/>
            <a:tailEnd type="triangle" w="med" len="med"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1" name="Shape 31"/>
          <p:cNvSpPr/>
          <p:nvPr/>
        </p:nvSpPr>
        <p:spPr>
          <a:xfrm>
            <a:off x="7153275" y="182880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E3B85A"/>
                </a:solidFill>
                <a:latin typeface="Segoe UI"/>
                <a:cs typeface="Segoe UI"/>
              </a:rPr>
              <a:t>Send back · amend &amp; resubmit</a:t>
            </a:r>
            <a:endParaRPr lang="en-US" sz="750" dirty="0"/>
          </a:p>
        </p:txBody>
      </p:sp>
      <p:sp>
        <p:nvSpPr>
          <p:cNvPr id="32" name="Shape 32"/>
          <p:cNvSpPr/>
          <p:nvPr/>
        </p:nvSpPr>
        <p:spPr>
          <a:xfrm>
            <a:off x="1171575" y="1990725"/>
            <a:ext cx="514350" cy="514350"/>
          </a:xfrm>
          <a:prstGeom prst="ellipse">
            <a:avLst/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5400000" scaled="0"/>
          </a:gradFill>
          <a:ln w="14288" cap="rnd">
            <a:solidFill>
              <a:srgbClr val="E3B85A"/>
            </a:solidFill>
            <a:round/>
          </a:ln>
          <a:effectLst>
            <a:glow rad="95250">
              <a:srgbClr val="2EC4A6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01</a:t>
            </a:r>
            <a:endParaRPr lang="en-US" sz="1300" dirty="0"/>
          </a:p>
        </p:txBody>
      </p:sp>
      <p:sp>
        <p:nvSpPr>
          <p:cNvPr id="33" name="Shape 33"/>
          <p:cNvSpPr/>
          <p:nvPr/>
        </p:nvSpPr>
        <p:spPr>
          <a:xfrm>
            <a:off x="542925" y="2571750"/>
            <a:ext cx="17716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/>
                <a:cs typeface="Segoe UI"/>
              </a:rPr>
              <a:t>Project Registration</a:t>
            </a:r>
            <a:endParaRPr lang="en-US" sz="1150" dirty="0"/>
          </a:p>
        </p:txBody>
      </p:sp>
      <p:sp>
        <p:nvSpPr>
          <p:cNvPr id="34" name="Shape 34"/>
          <p:cNvSpPr/>
          <p:nvPr/>
        </p:nvSpPr>
        <p:spPr>
          <a:xfrm>
            <a:off x="542925" y="2990850"/>
            <a:ext cx="1771650" cy="24193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5" name="Shape 35"/>
          <p:cNvSpPr/>
          <p:nvPr/>
        </p:nvSpPr>
        <p:spPr>
          <a:xfrm>
            <a:off x="657225" y="30861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WHO</a:t>
            </a:r>
            <a:endParaRPr lang="en-US" sz="700" dirty="0"/>
          </a:p>
        </p:txBody>
      </p:sp>
      <p:sp>
        <p:nvSpPr>
          <p:cNvPr id="36" name="Shape 36"/>
          <p:cNvSpPr/>
          <p:nvPr/>
        </p:nvSpPr>
        <p:spPr>
          <a:xfrm>
            <a:off x="657225" y="3219450"/>
            <a:ext cx="1543050" cy="323850"/>
          </a:xfrm>
          <a:prstGeom prst="roundRect">
            <a:avLst>
              <a:gd name="adj" fmla="val 50000"/>
            </a:avLst>
          </a:prstGeom>
          <a:solidFill>
            <a:srgbClr val="BD8B22">
              <a:alpha val="13000"/>
            </a:srgbClr>
          </a:solidFill>
          <a:ln w="7144" cap="rnd">
            <a:solidFill>
              <a:srgbClr val="E3B85A">
                <a:alpha val="70000"/>
              </a:srgbClr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Requestor</a:t>
            </a:r>
            <a:endParaRPr lang="en-US" sz="850" dirty="0"/>
          </a:p>
        </p:txBody>
      </p:sp>
      <p:sp>
        <p:nvSpPr>
          <p:cNvPr id="37" name="Shape 37"/>
          <p:cNvSpPr/>
          <p:nvPr/>
        </p:nvSpPr>
        <p:spPr>
          <a:xfrm>
            <a:off x="657225" y="36195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WHAT</a:t>
            </a:r>
            <a:endParaRPr lang="en-US" sz="700" dirty="0"/>
          </a:p>
        </p:txBody>
      </p:sp>
      <p:sp>
        <p:nvSpPr>
          <p:cNvPr id="38" name="Shape 38"/>
          <p:cNvSpPr/>
          <p:nvPr/>
        </p:nvSpPr>
        <p:spPr>
          <a:xfrm>
            <a:off x="657225" y="373380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D5E4DE"/>
                </a:solidFill>
                <a:latin typeface="Segoe UI"/>
                <a:cs typeface="Segoe UI"/>
              </a:rPr>
              <a:t>Registers a project from the synced JIRA list or as a Non-JIRA project</a:t>
            </a:r>
            <a:endParaRPr lang="en-US" sz="900" dirty="0"/>
          </a:p>
        </p:txBody>
      </p:sp>
      <p:sp>
        <p:nvSpPr>
          <p:cNvPr id="39" name="Shape 39"/>
          <p:cNvSpPr/>
          <p:nvPr/>
        </p:nvSpPr>
        <p:spPr>
          <a:xfrm>
            <a:off x="657225" y="4305300"/>
            <a:ext cx="1543050" cy="209550"/>
          </a:xfrm>
          <a:prstGeom prst="roundRect">
            <a:avLst>
              <a:gd name="adj" fmla="val 50000"/>
            </a:avLst>
          </a:prstGeom>
          <a:solidFill>
            <a:srgbClr val="2EC4A6">
              <a:alpha val="10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BFE9DE"/>
                </a:solidFill>
                <a:latin typeface="Segoe UI"/>
                <a:cs typeface="Segoe UI"/>
              </a:rPr>
              <a:t>Entry point</a:t>
            </a:r>
            <a:endParaRPr lang="en-US" sz="750" dirty="0"/>
          </a:p>
        </p:txBody>
      </p:sp>
      <p:sp>
        <p:nvSpPr>
          <p:cNvPr id="40" name="Shape 40"/>
          <p:cNvSpPr/>
          <p:nvPr/>
        </p:nvSpPr>
        <p:spPr>
          <a:xfrm>
            <a:off x="657225" y="4667250"/>
            <a:ext cx="15430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1" name="Shape 41"/>
          <p:cNvSpPr/>
          <p:nvPr/>
        </p:nvSpPr>
        <p:spPr>
          <a:xfrm>
            <a:off x="657225" y="4743450"/>
            <a:ext cx="104775" cy="12382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2" name="Shape 42"/>
          <p:cNvSpPr/>
          <p:nvPr/>
        </p:nvSpPr>
        <p:spPr>
          <a:xfrm>
            <a:off x="809625" y="47339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KEY CONTROL</a:t>
            </a:r>
            <a:endParaRPr lang="en-US" sz="700" dirty="0"/>
          </a:p>
        </p:txBody>
      </p:sp>
      <p:sp>
        <p:nvSpPr>
          <p:cNvPr id="43" name="Shape 43"/>
          <p:cNvSpPr/>
          <p:nvPr/>
        </p:nvSpPr>
        <p:spPr>
          <a:xfrm>
            <a:off x="657225" y="489585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D5E4DE"/>
                </a:solidFill>
                <a:latin typeface="Segoe UI"/>
                <a:cs typeface="Segoe UI"/>
              </a:rPr>
              <a:t>Mandatory fields and weighted 7-criteria project sizing</a:t>
            </a:r>
            <a:endParaRPr lang="en-US" sz="850" dirty="0"/>
          </a:p>
        </p:txBody>
      </p:sp>
      <p:sp>
        <p:nvSpPr>
          <p:cNvPr id="44" name="Shape 44"/>
          <p:cNvSpPr/>
          <p:nvPr/>
        </p:nvSpPr>
        <p:spPr>
          <a:xfrm>
            <a:off x="3038475" y="1990725"/>
            <a:ext cx="514350" cy="514350"/>
          </a:xfrm>
          <a:prstGeom prst="ellipse">
            <a:avLst/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5400000" scaled="0"/>
          </a:gradFill>
          <a:ln w="14288" cap="rnd">
            <a:solidFill>
              <a:srgbClr val="E3B85A"/>
            </a:solidFill>
            <a:round/>
          </a:ln>
          <a:effectLst>
            <a:glow rad="95250">
              <a:srgbClr val="2EC4A6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02</a:t>
            </a:r>
            <a:endParaRPr lang="en-US" sz="1300" dirty="0"/>
          </a:p>
        </p:txBody>
      </p:sp>
      <p:sp>
        <p:nvSpPr>
          <p:cNvPr id="45" name="Shape 45"/>
          <p:cNvSpPr/>
          <p:nvPr/>
        </p:nvSpPr>
        <p:spPr>
          <a:xfrm>
            <a:off x="2409825" y="2571750"/>
            <a:ext cx="17716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/>
                <a:cs typeface="Segoe UI"/>
              </a:rPr>
              <a:t>JIRA / Non-JIRA Details</a:t>
            </a:r>
            <a:endParaRPr lang="en-US" sz="1150" dirty="0"/>
          </a:p>
        </p:txBody>
      </p:sp>
      <p:sp>
        <p:nvSpPr>
          <p:cNvPr id="46" name="Shape 46"/>
          <p:cNvSpPr/>
          <p:nvPr/>
        </p:nvSpPr>
        <p:spPr>
          <a:xfrm>
            <a:off x="2409825" y="2990850"/>
            <a:ext cx="1771650" cy="24193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7" name="Shape 47"/>
          <p:cNvSpPr/>
          <p:nvPr/>
        </p:nvSpPr>
        <p:spPr>
          <a:xfrm>
            <a:off x="2524125" y="30861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WHO</a:t>
            </a:r>
            <a:endParaRPr lang="en-US" sz="700" dirty="0"/>
          </a:p>
        </p:txBody>
      </p:sp>
      <p:sp>
        <p:nvSpPr>
          <p:cNvPr id="48" name="Shape 48"/>
          <p:cNvSpPr/>
          <p:nvPr/>
        </p:nvSpPr>
        <p:spPr>
          <a:xfrm>
            <a:off x="2524125" y="3219450"/>
            <a:ext cx="1543050" cy="323850"/>
          </a:xfrm>
          <a:prstGeom prst="roundRect">
            <a:avLst>
              <a:gd name="adj" fmla="val 50000"/>
            </a:avLst>
          </a:prstGeom>
          <a:solidFill>
            <a:srgbClr val="BD8B22">
              <a:alpha val="13000"/>
            </a:srgbClr>
          </a:solidFill>
          <a:ln w="7144" cap="rnd">
            <a:solidFill>
              <a:srgbClr val="E3B85A">
                <a:alpha val="70000"/>
              </a:srgbClr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Requestor + scheduled JIRA sync</a:t>
            </a:r>
            <a:endParaRPr lang="en-US" sz="850" dirty="0"/>
          </a:p>
        </p:txBody>
      </p:sp>
      <p:sp>
        <p:nvSpPr>
          <p:cNvPr id="49" name="Shape 49"/>
          <p:cNvSpPr/>
          <p:nvPr/>
        </p:nvSpPr>
        <p:spPr>
          <a:xfrm>
            <a:off x="2524125" y="36195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WHAT</a:t>
            </a:r>
            <a:endParaRPr lang="en-US" sz="700" dirty="0"/>
          </a:p>
        </p:txBody>
      </p:sp>
      <p:sp>
        <p:nvSpPr>
          <p:cNvPr id="50" name="Shape 50"/>
          <p:cNvSpPr/>
          <p:nvPr/>
        </p:nvSpPr>
        <p:spPr>
          <a:xfrm>
            <a:off x="2524125" y="373380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D5E4DE"/>
                </a:solidFill>
                <a:latin typeface="Segoe UI"/>
                <a:cs typeface="Segoe UI"/>
              </a:rPr>
              <a:t>Details come from the JIRA export or are entered manually</a:t>
            </a:r>
            <a:endParaRPr lang="en-US" sz="900" dirty="0"/>
          </a:p>
        </p:txBody>
      </p:sp>
      <p:sp>
        <p:nvSpPr>
          <p:cNvPr id="51" name="Shape 51"/>
          <p:cNvSpPr/>
          <p:nvPr/>
        </p:nvSpPr>
        <p:spPr>
          <a:xfrm>
            <a:off x="2524125" y="4286250"/>
            <a:ext cx="123825" cy="123825"/>
          </a:xfrm>
          <a:prstGeom prst="diamond">
            <a:avLst/>
          </a:prstGeom>
          <a:solidFill>
            <a:srgbClr val="E3B85A"/>
          </a:solidFill>
          <a:ln>
            <a:noFill/>
          </a:ln>
          <a:effectLst>
            <a:glow rad="38100">
              <a:srgbClr val="E3B85A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2" name="Shape 52"/>
          <p:cNvSpPr/>
          <p:nvPr/>
        </p:nvSpPr>
        <p:spPr>
          <a:xfrm>
            <a:off x="2714625" y="4238625"/>
            <a:ext cx="13525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E3B85A"/>
                </a:solidFill>
                <a:latin typeface="Segoe UI"/>
                <a:cs typeface="Segoe UI"/>
              </a:rPr>
              <a:t>JIRA project?</a:t>
            </a:r>
            <a:endParaRPr lang="en-US" sz="800" dirty="0"/>
          </a:p>
          <a:p>
            <a:pPr algn="l">
              <a:spcBef>
                <a:spcPts val="100"/>
              </a:spcBef>
              <a:buNone/>
            </a:pPr>
            <a:r>
              <a:rPr lang="en-US" sz="750" b="0" dirty="0">
                <a:solidFill>
                  <a:srgbClr val="EAF4F0"/>
                </a:solidFill>
                <a:latin typeface="Segoe UI"/>
                <a:cs typeface="Segoe UI"/>
              </a:rPr>
              <a:t>Yes → synced · No → manual</a:t>
            </a:r>
            <a:endParaRPr lang="en-US" sz="750" dirty="0"/>
          </a:p>
        </p:txBody>
      </p:sp>
      <p:sp>
        <p:nvSpPr>
          <p:cNvPr id="53" name="Shape 53"/>
          <p:cNvSpPr/>
          <p:nvPr/>
        </p:nvSpPr>
        <p:spPr>
          <a:xfrm>
            <a:off x="2524125" y="4667250"/>
            <a:ext cx="15430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4" name="Shape 54"/>
          <p:cNvSpPr/>
          <p:nvPr/>
        </p:nvSpPr>
        <p:spPr>
          <a:xfrm>
            <a:off x="2524125" y="4743450"/>
            <a:ext cx="104775" cy="12382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5" name="Shape 55"/>
          <p:cNvSpPr/>
          <p:nvPr/>
        </p:nvSpPr>
        <p:spPr>
          <a:xfrm>
            <a:off x="2676525" y="47339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KEY CONTROL</a:t>
            </a:r>
            <a:endParaRPr lang="en-US" sz="700" dirty="0"/>
          </a:p>
        </p:txBody>
      </p:sp>
      <p:sp>
        <p:nvSpPr>
          <p:cNvPr id="56" name="Shape 56"/>
          <p:cNvSpPr/>
          <p:nvPr/>
        </p:nvSpPr>
        <p:spPr>
          <a:xfrm>
            <a:off x="2524125" y="489585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D5E4DE"/>
                </a:solidFill>
                <a:latin typeface="Segoe UI"/>
                <a:cs typeface="Segoe UI"/>
              </a:rPr>
              <a:t>Portal never writes to JIRA; scheduled CSV sync only</a:t>
            </a:r>
            <a:endParaRPr lang="en-US" sz="850" dirty="0"/>
          </a:p>
        </p:txBody>
      </p:sp>
      <p:sp>
        <p:nvSpPr>
          <p:cNvPr id="57" name="Shape 57"/>
          <p:cNvSpPr/>
          <p:nvPr/>
        </p:nvSpPr>
        <p:spPr>
          <a:xfrm>
            <a:off x="4905375" y="1990725"/>
            <a:ext cx="514350" cy="514350"/>
          </a:xfrm>
          <a:prstGeom prst="ellipse">
            <a:avLst/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5400000" scaled="0"/>
          </a:gradFill>
          <a:ln w="14288" cap="rnd">
            <a:solidFill>
              <a:srgbClr val="E3B85A"/>
            </a:solidFill>
            <a:round/>
          </a:ln>
          <a:effectLst>
            <a:glow rad="95250">
              <a:srgbClr val="2EC4A6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03</a:t>
            </a:r>
            <a:endParaRPr lang="en-US" sz="1300" dirty="0"/>
          </a:p>
        </p:txBody>
      </p:sp>
      <p:sp>
        <p:nvSpPr>
          <p:cNvPr id="58" name="Shape 58"/>
          <p:cNvSpPr/>
          <p:nvPr/>
        </p:nvSpPr>
        <p:spPr>
          <a:xfrm>
            <a:off x="4276725" y="2571750"/>
            <a:ext cx="17716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/>
                <a:cs typeface="Segoe UI"/>
              </a:rPr>
              <a:t>Ownership &amp; Accountability</a:t>
            </a:r>
            <a:endParaRPr lang="en-US" sz="1150" dirty="0"/>
          </a:p>
        </p:txBody>
      </p:sp>
      <p:sp>
        <p:nvSpPr>
          <p:cNvPr id="59" name="Shape 59"/>
          <p:cNvSpPr/>
          <p:nvPr/>
        </p:nvSpPr>
        <p:spPr>
          <a:xfrm>
            <a:off x="4276725" y="2990850"/>
            <a:ext cx="1771650" cy="24193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0" name="Shape 60"/>
          <p:cNvSpPr/>
          <p:nvPr/>
        </p:nvSpPr>
        <p:spPr>
          <a:xfrm>
            <a:off x="4391025" y="30861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WHO</a:t>
            </a:r>
            <a:endParaRPr lang="en-US" sz="700" dirty="0"/>
          </a:p>
        </p:txBody>
      </p:sp>
      <p:sp>
        <p:nvSpPr>
          <p:cNvPr id="61" name="Shape 61"/>
          <p:cNvSpPr/>
          <p:nvPr/>
        </p:nvSpPr>
        <p:spPr>
          <a:xfrm>
            <a:off x="4391025" y="3219450"/>
            <a:ext cx="1543050" cy="323850"/>
          </a:xfrm>
          <a:prstGeom prst="roundRect">
            <a:avLst>
              <a:gd name="adj" fmla="val 50000"/>
            </a:avLst>
          </a:prstGeom>
          <a:solidFill>
            <a:srgbClr val="BD8B22">
              <a:alpha val="13000"/>
            </a:srgbClr>
          </a:solidFill>
          <a:ln w="7144" cap="rnd">
            <a:solidFill>
              <a:srgbClr val="E3B85A">
                <a:alpha val="70000"/>
              </a:srgbClr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Exec Lead · Exec · SME Lead · PM</a:t>
            </a:r>
            <a:endParaRPr lang="en-US" sz="850" dirty="0"/>
          </a:p>
        </p:txBody>
      </p:sp>
      <p:sp>
        <p:nvSpPr>
          <p:cNvPr id="62" name="Shape 62"/>
          <p:cNvSpPr/>
          <p:nvPr/>
        </p:nvSpPr>
        <p:spPr>
          <a:xfrm>
            <a:off x="4391025" y="36195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WHAT</a:t>
            </a:r>
            <a:endParaRPr lang="en-US" sz="700" dirty="0"/>
          </a:p>
        </p:txBody>
      </p:sp>
      <p:sp>
        <p:nvSpPr>
          <p:cNvPr id="63" name="Shape 63"/>
          <p:cNvSpPr/>
          <p:nvPr/>
        </p:nvSpPr>
        <p:spPr>
          <a:xfrm>
            <a:off x="4391025" y="373380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D5E4DE"/>
                </a:solidFill>
                <a:latin typeface="Segoe UI"/>
                <a:cs typeface="Segoe UI"/>
              </a:rPr>
              <a:t>Named owners define the review and approval route</a:t>
            </a:r>
            <a:endParaRPr lang="en-US" sz="900" dirty="0"/>
          </a:p>
        </p:txBody>
      </p:sp>
      <p:sp>
        <p:nvSpPr>
          <p:cNvPr id="64" name="Shape 64"/>
          <p:cNvSpPr/>
          <p:nvPr/>
        </p:nvSpPr>
        <p:spPr>
          <a:xfrm>
            <a:off x="4391025" y="4305300"/>
            <a:ext cx="1543050" cy="209550"/>
          </a:xfrm>
          <a:prstGeom prst="roundRect">
            <a:avLst>
              <a:gd name="adj" fmla="val 50000"/>
            </a:avLst>
          </a:prstGeom>
          <a:solidFill>
            <a:srgbClr val="2EC4A6">
              <a:alpha val="10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BFE9DE"/>
                </a:solidFill>
                <a:latin typeface="Segoe UI"/>
                <a:cs typeface="Segoe UI"/>
              </a:rPr>
              <a:t>Defines the approval route</a:t>
            </a:r>
            <a:endParaRPr lang="en-US" sz="750" dirty="0"/>
          </a:p>
        </p:txBody>
      </p:sp>
      <p:sp>
        <p:nvSpPr>
          <p:cNvPr id="65" name="Shape 65"/>
          <p:cNvSpPr/>
          <p:nvPr/>
        </p:nvSpPr>
        <p:spPr>
          <a:xfrm>
            <a:off x="4391025" y="4667250"/>
            <a:ext cx="15430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6" name="Shape 66"/>
          <p:cNvSpPr/>
          <p:nvPr/>
        </p:nvSpPr>
        <p:spPr>
          <a:xfrm>
            <a:off x="4391025" y="4743450"/>
            <a:ext cx="104775" cy="12382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7" name="Shape 67"/>
          <p:cNvSpPr/>
          <p:nvPr/>
        </p:nvSpPr>
        <p:spPr>
          <a:xfrm>
            <a:off x="4543425" y="47339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KEY CONTROL</a:t>
            </a:r>
            <a:endParaRPr lang="en-US" sz="700" dirty="0"/>
          </a:p>
        </p:txBody>
      </p:sp>
      <p:sp>
        <p:nvSpPr>
          <p:cNvPr id="68" name="Shape 68"/>
          <p:cNvSpPr/>
          <p:nvPr/>
        </p:nvSpPr>
        <p:spPr>
          <a:xfrm>
            <a:off x="4391025" y="489585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D5E4DE"/>
                </a:solidFill>
                <a:latin typeface="Segoe UI"/>
                <a:cs typeface="Segoe UI"/>
              </a:rPr>
              <a:t>Privileged roles assigned in Role management, not inferred</a:t>
            </a:r>
            <a:endParaRPr lang="en-US" sz="850" dirty="0"/>
          </a:p>
        </p:txBody>
      </p:sp>
      <p:sp>
        <p:nvSpPr>
          <p:cNvPr id="69" name="Shape 69"/>
          <p:cNvSpPr/>
          <p:nvPr/>
        </p:nvSpPr>
        <p:spPr>
          <a:xfrm>
            <a:off x="6772275" y="1990725"/>
            <a:ext cx="514350" cy="514350"/>
          </a:xfrm>
          <a:prstGeom prst="ellipse">
            <a:avLst/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5400000" scaled="0"/>
          </a:gradFill>
          <a:ln w="14288" cap="rnd">
            <a:solidFill>
              <a:srgbClr val="E3B85A"/>
            </a:solidFill>
            <a:round/>
          </a:ln>
          <a:effectLst>
            <a:glow rad="95250">
              <a:srgbClr val="2EC4A6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04</a:t>
            </a:r>
            <a:endParaRPr lang="en-US" sz="1300" dirty="0"/>
          </a:p>
        </p:txBody>
      </p:sp>
      <p:sp>
        <p:nvSpPr>
          <p:cNvPr id="70" name="Shape 70"/>
          <p:cNvSpPr/>
          <p:nvPr/>
        </p:nvSpPr>
        <p:spPr>
          <a:xfrm>
            <a:off x="6143625" y="2571750"/>
            <a:ext cx="17716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/>
                <a:cs typeface="Segoe UI"/>
              </a:rPr>
              <a:t>PET / Budget Request</a:t>
            </a:r>
            <a:endParaRPr lang="en-US" sz="1150" dirty="0"/>
          </a:p>
        </p:txBody>
      </p:sp>
      <p:sp>
        <p:nvSpPr>
          <p:cNvPr id="71" name="Shape 71"/>
          <p:cNvSpPr/>
          <p:nvPr/>
        </p:nvSpPr>
        <p:spPr>
          <a:xfrm>
            <a:off x="6143625" y="2990850"/>
            <a:ext cx="1771650" cy="24193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2" name="Shape 72"/>
          <p:cNvSpPr/>
          <p:nvPr/>
        </p:nvSpPr>
        <p:spPr>
          <a:xfrm>
            <a:off x="6257925" y="30861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WHO</a:t>
            </a:r>
            <a:endParaRPr lang="en-US" sz="700" dirty="0"/>
          </a:p>
        </p:txBody>
      </p:sp>
      <p:sp>
        <p:nvSpPr>
          <p:cNvPr id="73" name="Shape 73"/>
          <p:cNvSpPr/>
          <p:nvPr/>
        </p:nvSpPr>
        <p:spPr>
          <a:xfrm>
            <a:off x="6257925" y="3219450"/>
            <a:ext cx="1543050" cy="323850"/>
          </a:xfrm>
          <a:prstGeom prst="roundRect">
            <a:avLst>
              <a:gd name="adj" fmla="val 50000"/>
            </a:avLst>
          </a:prstGeom>
          <a:solidFill>
            <a:srgbClr val="BD8B22">
              <a:alpha val="13000"/>
            </a:srgbClr>
          </a:solidFill>
          <a:ln w="7144" cap="rnd">
            <a:solidFill>
              <a:srgbClr val="E3B85A">
                <a:alpha val="70000"/>
              </a:srgbClr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Requestor</a:t>
            </a:r>
            <a:endParaRPr lang="en-US" sz="850" dirty="0"/>
          </a:p>
        </p:txBody>
      </p:sp>
      <p:sp>
        <p:nvSpPr>
          <p:cNvPr id="74" name="Shape 74"/>
          <p:cNvSpPr/>
          <p:nvPr/>
        </p:nvSpPr>
        <p:spPr>
          <a:xfrm>
            <a:off x="6257925" y="36195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WHAT</a:t>
            </a:r>
            <a:endParaRPr lang="en-US" sz="700" dirty="0"/>
          </a:p>
        </p:txBody>
      </p:sp>
      <p:sp>
        <p:nvSpPr>
          <p:cNvPr id="75" name="Shape 75"/>
          <p:cNvSpPr/>
          <p:nvPr/>
        </p:nvSpPr>
        <p:spPr>
          <a:xfrm>
            <a:off x="6257925" y="373380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D5E4DE"/>
                </a:solidFill>
                <a:latin typeface="Segoe UI"/>
                <a:cs typeface="Segoe UI"/>
              </a:rPr>
              <a:t>PET with spend lines raised against a CAPEX / OPEX source</a:t>
            </a:r>
            <a:endParaRPr lang="en-US" sz="900" dirty="0"/>
          </a:p>
        </p:txBody>
      </p:sp>
      <p:sp>
        <p:nvSpPr>
          <p:cNvPr id="76" name="Shape 76"/>
          <p:cNvSpPr/>
          <p:nvPr/>
        </p:nvSpPr>
        <p:spPr>
          <a:xfrm>
            <a:off x="6257925" y="4286250"/>
            <a:ext cx="123825" cy="123825"/>
          </a:xfrm>
          <a:prstGeom prst="diamond">
            <a:avLst/>
          </a:prstGeom>
          <a:solidFill>
            <a:srgbClr val="E3B85A"/>
          </a:solidFill>
          <a:ln>
            <a:noFill/>
          </a:ln>
          <a:effectLst>
            <a:glow rad="38100">
              <a:srgbClr val="E3B85A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7" name="Shape 77"/>
          <p:cNvSpPr/>
          <p:nvPr/>
        </p:nvSpPr>
        <p:spPr>
          <a:xfrm>
            <a:off x="6448425" y="4238625"/>
            <a:ext cx="13525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E3B85A"/>
                </a:solidFill>
                <a:latin typeface="Segoe UI"/>
                <a:cs typeface="Segoe UI"/>
              </a:rPr>
              <a:t>Review required?</a:t>
            </a:r>
            <a:endParaRPr lang="en-US" sz="800" dirty="0"/>
          </a:p>
          <a:p>
            <a:pPr algn="l">
              <a:spcBef>
                <a:spcPts val="100"/>
              </a:spcBef>
              <a:buNone/>
            </a:pPr>
            <a:r>
              <a:rPr lang="en-US" sz="750" b="0" dirty="0">
                <a:solidFill>
                  <a:srgbClr val="EAF4F0"/>
                </a:solidFill>
                <a:latin typeface="Segoe UI"/>
                <a:cs typeface="Segoe UI"/>
              </a:rPr>
              <a:t>Yes → Pending Review</a:t>
            </a:r>
            <a:endParaRPr lang="en-US" sz="750" dirty="0"/>
          </a:p>
          <a:p>
            <a:pPr algn="l">
              <a:spcBef>
                <a:spcPts val="100"/>
              </a:spcBef>
              <a:buNone/>
            </a:pPr>
            <a:r>
              <a:rPr lang="en-US" sz="750" b="0" dirty="0">
                <a:solidFill>
                  <a:srgbClr val="EAF4F0"/>
                </a:solidFill>
                <a:latin typeface="Segoe UI"/>
                <a:cs typeface="Segoe UI"/>
              </a:rPr>
              <a:t>No → Pending Approval</a:t>
            </a:r>
            <a:endParaRPr lang="en-US" sz="750" dirty="0"/>
          </a:p>
        </p:txBody>
      </p:sp>
      <p:sp>
        <p:nvSpPr>
          <p:cNvPr id="78" name="Shape 78"/>
          <p:cNvSpPr/>
          <p:nvPr/>
        </p:nvSpPr>
        <p:spPr>
          <a:xfrm>
            <a:off x="6257925" y="4667250"/>
            <a:ext cx="15430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9" name="Shape 79"/>
          <p:cNvSpPr/>
          <p:nvPr/>
        </p:nvSpPr>
        <p:spPr>
          <a:xfrm>
            <a:off x="6257925" y="4743450"/>
            <a:ext cx="104775" cy="12382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0" name="Shape 80"/>
          <p:cNvSpPr/>
          <p:nvPr/>
        </p:nvSpPr>
        <p:spPr>
          <a:xfrm>
            <a:off x="6410325" y="47339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KEY CONTROL</a:t>
            </a:r>
            <a:endParaRPr lang="en-US" sz="700" dirty="0"/>
          </a:p>
        </p:txBody>
      </p:sp>
      <p:sp>
        <p:nvSpPr>
          <p:cNvPr id="81" name="Shape 81"/>
          <p:cNvSpPr/>
          <p:nvPr/>
        </p:nvSpPr>
        <p:spPr>
          <a:xfrm>
            <a:off x="6257925" y="489585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D5E4DE"/>
                </a:solidFill>
                <a:latin typeface="Segoe UI"/>
                <a:cs typeface="Segoe UI"/>
              </a:rPr>
              <a:t>Available budget shown; spend lines locked once reviewed</a:t>
            </a:r>
            <a:endParaRPr lang="en-US" sz="850" dirty="0"/>
          </a:p>
        </p:txBody>
      </p:sp>
      <p:sp>
        <p:nvSpPr>
          <p:cNvPr id="82" name="Shape 82"/>
          <p:cNvSpPr/>
          <p:nvPr/>
        </p:nvSpPr>
        <p:spPr>
          <a:xfrm>
            <a:off x="8639175" y="1990725"/>
            <a:ext cx="514350" cy="514350"/>
          </a:xfrm>
          <a:prstGeom prst="ellipse">
            <a:avLst/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5400000" scaled="0"/>
          </a:gradFill>
          <a:ln w="14288" cap="rnd">
            <a:solidFill>
              <a:srgbClr val="E3B85A"/>
            </a:solidFill>
            <a:round/>
          </a:ln>
          <a:effectLst>
            <a:glow rad="95250">
              <a:srgbClr val="2EC4A6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05</a:t>
            </a:r>
            <a:endParaRPr lang="en-US" sz="1300" dirty="0"/>
          </a:p>
        </p:txBody>
      </p:sp>
      <p:sp>
        <p:nvSpPr>
          <p:cNvPr id="83" name="Shape 83"/>
          <p:cNvSpPr/>
          <p:nvPr/>
        </p:nvSpPr>
        <p:spPr>
          <a:xfrm>
            <a:off x="8010525" y="2571750"/>
            <a:ext cx="17716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/>
                <a:cs typeface="Segoe UI"/>
              </a:rPr>
              <a:t>Review &amp; Approval</a:t>
            </a:r>
            <a:endParaRPr lang="en-US" sz="1150" dirty="0"/>
          </a:p>
        </p:txBody>
      </p:sp>
      <p:sp>
        <p:nvSpPr>
          <p:cNvPr id="84" name="Shape 84"/>
          <p:cNvSpPr/>
          <p:nvPr/>
        </p:nvSpPr>
        <p:spPr>
          <a:xfrm>
            <a:off x="8010525" y="2990850"/>
            <a:ext cx="1771650" cy="24193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5" name="Shape 85"/>
          <p:cNvSpPr/>
          <p:nvPr/>
        </p:nvSpPr>
        <p:spPr>
          <a:xfrm>
            <a:off x="8124825" y="30861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WHO</a:t>
            </a:r>
            <a:endParaRPr lang="en-US" sz="700" dirty="0"/>
          </a:p>
        </p:txBody>
      </p:sp>
      <p:sp>
        <p:nvSpPr>
          <p:cNvPr id="86" name="Shape 86"/>
          <p:cNvSpPr/>
          <p:nvPr/>
        </p:nvSpPr>
        <p:spPr>
          <a:xfrm>
            <a:off x="8124825" y="3219450"/>
            <a:ext cx="1543050" cy="323850"/>
          </a:xfrm>
          <a:prstGeom prst="roundRect">
            <a:avLst>
              <a:gd name="adj" fmla="val 50000"/>
            </a:avLst>
          </a:prstGeom>
          <a:solidFill>
            <a:srgbClr val="BD8B22">
              <a:alpha val="13000"/>
            </a:srgbClr>
          </a:solidFill>
          <a:ln w="7144" cap="rnd">
            <a:solidFill>
              <a:srgbClr val="E3B85A">
                <a:alpha val="70000"/>
              </a:srgbClr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Reviewer (Exec Lead) → Approver (Exec)</a:t>
            </a:r>
            <a:endParaRPr lang="en-US" sz="850" dirty="0"/>
          </a:p>
        </p:txBody>
      </p:sp>
      <p:sp>
        <p:nvSpPr>
          <p:cNvPr id="87" name="Shape 87"/>
          <p:cNvSpPr/>
          <p:nvPr/>
        </p:nvSpPr>
        <p:spPr>
          <a:xfrm>
            <a:off x="8124825" y="36195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WHAT</a:t>
            </a:r>
            <a:endParaRPr lang="en-US" sz="700" dirty="0"/>
          </a:p>
        </p:txBody>
      </p:sp>
      <p:sp>
        <p:nvSpPr>
          <p:cNvPr id="88" name="Shape 88"/>
          <p:cNvSpPr/>
          <p:nvPr/>
        </p:nvSpPr>
        <p:spPr>
          <a:xfrm>
            <a:off x="8124825" y="373380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D5E4DE"/>
                </a:solidFill>
                <a:latin typeface="Segoe UI"/>
                <a:cs typeface="Segoe UI"/>
              </a:rPr>
              <a:t>Decision recorded with comments at each stage</a:t>
            </a:r>
            <a:endParaRPr lang="en-US" sz="900" dirty="0"/>
          </a:p>
        </p:txBody>
      </p:sp>
      <p:sp>
        <p:nvSpPr>
          <p:cNvPr id="89" name="Shape 89"/>
          <p:cNvSpPr/>
          <p:nvPr/>
        </p:nvSpPr>
        <p:spPr>
          <a:xfrm>
            <a:off x="8124825" y="424815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DECISION</a:t>
            </a:r>
            <a:endParaRPr lang="en-US" sz="700" dirty="0"/>
          </a:p>
        </p:txBody>
      </p:sp>
      <p:sp>
        <p:nvSpPr>
          <p:cNvPr id="90" name="Shape 90"/>
          <p:cNvSpPr/>
          <p:nvPr/>
        </p:nvSpPr>
        <p:spPr>
          <a:xfrm>
            <a:off x="8124825" y="4391025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5BD08F">
              <a:alpha val="22000"/>
            </a:srgbClr>
          </a:solidFill>
          <a:ln w="7144" cap="rnd">
            <a:solidFill>
              <a:srgbClr val="5BD08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Approve</a:t>
            </a:r>
            <a:endParaRPr lang="en-US" sz="700" dirty="0"/>
          </a:p>
        </p:txBody>
      </p:sp>
      <p:sp>
        <p:nvSpPr>
          <p:cNvPr id="91" name="Shape 91"/>
          <p:cNvSpPr/>
          <p:nvPr/>
        </p:nvSpPr>
        <p:spPr>
          <a:xfrm>
            <a:off x="8658225" y="4391025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E3B85A">
              <a:alpha val="22000"/>
            </a:srgbClr>
          </a:solidFill>
          <a:ln w="7144" cap="rnd">
            <a:solidFill>
              <a:srgbClr val="E3B85A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Send back</a:t>
            </a:r>
            <a:endParaRPr lang="en-US" sz="700" dirty="0"/>
          </a:p>
        </p:txBody>
      </p:sp>
      <p:sp>
        <p:nvSpPr>
          <p:cNvPr id="92" name="Shape 92"/>
          <p:cNvSpPr/>
          <p:nvPr/>
        </p:nvSpPr>
        <p:spPr>
          <a:xfrm>
            <a:off x="9191625" y="4391025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A7B3AE">
              <a:alpha val="22000"/>
            </a:srgbClr>
          </a:solidFill>
          <a:ln w="7144" cap="rnd">
            <a:solidFill>
              <a:srgbClr val="A7B3A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Reject</a:t>
            </a:r>
            <a:endParaRPr lang="en-US" sz="700" dirty="0"/>
          </a:p>
        </p:txBody>
      </p:sp>
      <p:sp>
        <p:nvSpPr>
          <p:cNvPr id="93" name="Shape 93"/>
          <p:cNvSpPr/>
          <p:nvPr/>
        </p:nvSpPr>
        <p:spPr>
          <a:xfrm>
            <a:off x="8124825" y="4667250"/>
            <a:ext cx="15430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4" name="Shape 94"/>
          <p:cNvSpPr/>
          <p:nvPr/>
        </p:nvSpPr>
        <p:spPr>
          <a:xfrm>
            <a:off x="8124825" y="4743450"/>
            <a:ext cx="104775" cy="12382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5" name="Shape 95"/>
          <p:cNvSpPr/>
          <p:nvPr/>
        </p:nvSpPr>
        <p:spPr>
          <a:xfrm>
            <a:off x="8277225" y="47339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KEY CONTROL</a:t>
            </a:r>
            <a:endParaRPr lang="en-US" sz="700" dirty="0"/>
          </a:p>
        </p:txBody>
      </p:sp>
      <p:sp>
        <p:nvSpPr>
          <p:cNvPr id="96" name="Shape 96"/>
          <p:cNvSpPr/>
          <p:nvPr/>
        </p:nvSpPr>
        <p:spPr>
          <a:xfrm>
            <a:off x="8124825" y="489585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D5E4DE"/>
                </a:solidFill>
                <a:latin typeface="Segoe UI"/>
                <a:cs typeface="Segoe UI"/>
              </a:rPr>
              <a:t>Approval blocked above remaining budget; full decision history</a:t>
            </a:r>
            <a:endParaRPr lang="en-US" sz="850" dirty="0"/>
          </a:p>
        </p:txBody>
      </p:sp>
      <p:sp>
        <p:nvSpPr>
          <p:cNvPr id="97" name="Shape 97"/>
          <p:cNvSpPr/>
          <p:nvPr/>
        </p:nvSpPr>
        <p:spPr>
          <a:xfrm>
            <a:off x="10506075" y="1990725"/>
            <a:ext cx="514350" cy="514350"/>
          </a:xfrm>
          <a:prstGeom prst="ellipse">
            <a:avLst/>
          </a:pr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 w="14288" cap="rnd">
            <a:solidFill>
              <a:srgbClr val="E3B85A"/>
            </a:solidFill>
            <a:round/>
          </a:ln>
          <a:effectLst>
            <a:glow rad="95250">
              <a:srgbClr val="E3B85A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B4A36"/>
                </a:solidFill>
                <a:latin typeface="Segoe UI"/>
                <a:cs typeface="Segoe UI"/>
              </a:rPr>
              <a:t>06</a:t>
            </a:r>
            <a:endParaRPr lang="en-US" sz="1300" dirty="0"/>
          </a:p>
        </p:txBody>
      </p:sp>
      <p:sp>
        <p:nvSpPr>
          <p:cNvPr id="98" name="Shape 98"/>
          <p:cNvSpPr/>
          <p:nvPr/>
        </p:nvSpPr>
        <p:spPr>
          <a:xfrm>
            <a:off x="9877425" y="2571750"/>
            <a:ext cx="17716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/>
                <a:cs typeface="Segoe UI"/>
              </a:rPr>
              <a:t>Management Visibility</a:t>
            </a:r>
            <a:endParaRPr lang="en-US" sz="1150" dirty="0"/>
          </a:p>
        </p:txBody>
      </p:sp>
      <p:sp>
        <p:nvSpPr>
          <p:cNvPr id="99" name="Shape 99"/>
          <p:cNvSpPr/>
          <p:nvPr/>
        </p:nvSpPr>
        <p:spPr>
          <a:xfrm>
            <a:off x="9877425" y="2990850"/>
            <a:ext cx="1771650" cy="24193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0" name="Shape 100"/>
          <p:cNvSpPr/>
          <p:nvPr/>
        </p:nvSpPr>
        <p:spPr>
          <a:xfrm>
            <a:off x="9991725" y="30861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WHO</a:t>
            </a:r>
            <a:endParaRPr lang="en-US" sz="700" dirty="0"/>
          </a:p>
        </p:txBody>
      </p:sp>
      <p:sp>
        <p:nvSpPr>
          <p:cNvPr id="101" name="Shape 101"/>
          <p:cNvSpPr/>
          <p:nvPr/>
        </p:nvSpPr>
        <p:spPr>
          <a:xfrm>
            <a:off x="9991725" y="3219450"/>
            <a:ext cx="1543050" cy="323850"/>
          </a:xfrm>
          <a:prstGeom prst="roundRect">
            <a:avLst>
              <a:gd name="adj" fmla="val 50000"/>
            </a:avLst>
          </a:prstGeom>
          <a:solidFill>
            <a:srgbClr val="BD8B22">
              <a:alpha val="13000"/>
            </a:srgbClr>
          </a:solidFill>
          <a:ln w="7144" cap="rnd">
            <a:solidFill>
              <a:srgbClr val="E3B85A">
                <a:alpha val="70000"/>
              </a:srgbClr>
            </a:solidFill>
            <a:round/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DIB Management · Portfolio owners</a:t>
            </a:r>
            <a:endParaRPr lang="en-US" sz="850" dirty="0"/>
          </a:p>
        </p:txBody>
      </p:sp>
      <p:sp>
        <p:nvSpPr>
          <p:cNvPr id="102" name="Shape 102"/>
          <p:cNvSpPr/>
          <p:nvPr/>
        </p:nvSpPr>
        <p:spPr>
          <a:xfrm>
            <a:off x="9991725" y="3619500"/>
            <a:ext cx="15430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6FD9C0"/>
                </a:solidFill>
                <a:latin typeface="Segoe UI"/>
                <a:cs typeface="Segoe UI"/>
              </a:rPr>
              <a:t>WHAT</a:t>
            </a:r>
            <a:endParaRPr lang="en-US" sz="700" dirty="0"/>
          </a:p>
        </p:txBody>
      </p:sp>
      <p:sp>
        <p:nvSpPr>
          <p:cNvPr id="103" name="Shape 103"/>
          <p:cNvSpPr/>
          <p:nvPr/>
        </p:nvSpPr>
        <p:spPr>
          <a:xfrm>
            <a:off x="9991725" y="373380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D5E4DE"/>
                </a:solidFill>
                <a:latin typeface="Segoe UI"/>
                <a:cs typeface="Segoe UI"/>
              </a:rPr>
              <a:t>Portfolio, approval status and utilization in one view</a:t>
            </a:r>
            <a:endParaRPr lang="en-US" sz="900" dirty="0"/>
          </a:p>
        </p:txBody>
      </p:sp>
      <p:sp>
        <p:nvSpPr>
          <p:cNvPr id="104" name="Shape 104"/>
          <p:cNvSpPr/>
          <p:nvPr/>
        </p:nvSpPr>
        <p:spPr>
          <a:xfrm>
            <a:off x="9991725" y="4305300"/>
            <a:ext cx="1543050" cy="209550"/>
          </a:xfrm>
          <a:prstGeom prst="roundRect">
            <a:avLst>
              <a:gd name="adj" fmla="val 50000"/>
            </a:avLst>
          </a:prstGeom>
          <a:solidFill>
            <a:srgbClr val="2EC4A6">
              <a:alpha val="10000"/>
            </a:srgbClr>
          </a:solidFill>
          <a:ln w="7144" cap="rnd">
            <a:solidFill>
              <a:srgbClr val="2EC4A6">
                <a:alpha val="35000"/>
              </a:srgbClr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BFE9DE"/>
                </a:solidFill>
                <a:latin typeface="Segoe UI"/>
                <a:cs typeface="Segoe UI"/>
              </a:rPr>
              <a:t>Governed portfolio visibility</a:t>
            </a:r>
            <a:endParaRPr lang="en-US" sz="750" dirty="0"/>
          </a:p>
        </p:txBody>
      </p:sp>
      <p:sp>
        <p:nvSpPr>
          <p:cNvPr id="105" name="Shape 105"/>
          <p:cNvSpPr/>
          <p:nvPr/>
        </p:nvSpPr>
        <p:spPr>
          <a:xfrm>
            <a:off x="9991725" y="4667250"/>
            <a:ext cx="15430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6" name="Shape 106"/>
          <p:cNvSpPr/>
          <p:nvPr/>
        </p:nvSpPr>
        <p:spPr>
          <a:xfrm>
            <a:off x="9991725" y="4743450"/>
            <a:ext cx="104775" cy="123825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solidFill>
            <a:srgbClr val="E3B85A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7" name="Shape 107"/>
          <p:cNvSpPr/>
          <p:nvPr/>
        </p:nvSpPr>
        <p:spPr>
          <a:xfrm>
            <a:off x="10144125" y="47339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00" dirty="0">
                <a:solidFill>
                  <a:srgbClr val="E3B85A"/>
                </a:solidFill>
                <a:latin typeface="Segoe UI"/>
                <a:cs typeface="Segoe UI"/>
              </a:rPr>
              <a:t>KEY CONTROL</a:t>
            </a:r>
            <a:endParaRPr lang="en-US" sz="700" dirty="0"/>
          </a:p>
        </p:txBody>
      </p:sp>
      <p:sp>
        <p:nvSpPr>
          <p:cNvPr id="108" name="Shape 108"/>
          <p:cNvSpPr/>
          <p:nvPr/>
        </p:nvSpPr>
        <p:spPr>
          <a:xfrm>
            <a:off x="9991725" y="4895850"/>
            <a:ext cx="15430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D5E4DE"/>
                </a:solidFill>
                <a:latin typeface="Segoe UI"/>
                <a:cs typeface="Segoe UI"/>
              </a:rPr>
              <a:t>Role-based views; Management report and CAPEX / OPEX utilization</a:t>
            </a:r>
            <a:endParaRPr lang="en-US" sz="850" dirty="0"/>
          </a:p>
        </p:txBody>
      </p:sp>
      <p:sp>
        <p:nvSpPr>
          <p:cNvPr id="109" name="Shape 109"/>
          <p:cNvSpPr/>
          <p:nvPr/>
        </p:nvSpPr>
        <p:spPr>
          <a:xfrm>
            <a:off x="533400" y="5524500"/>
            <a:ext cx="11125200" cy="66675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4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0" name="Shape 110"/>
          <p:cNvSpPr/>
          <p:nvPr/>
        </p:nvSpPr>
        <p:spPr>
          <a:xfrm>
            <a:off x="685800" y="5581650"/>
            <a:ext cx="17716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E3B85A"/>
                </a:solidFill>
                <a:latin typeface="Segoe UI"/>
                <a:cs typeface="Segoe UI"/>
              </a:rPr>
              <a:t>AFTER PET APPROVAL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Execution tracking</a:t>
            </a:r>
            <a:endParaRPr lang="en-US" sz="1300" dirty="0"/>
          </a:p>
        </p:txBody>
      </p:sp>
      <p:sp>
        <p:nvSpPr>
          <p:cNvPr id="111" name="Shape 111"/>
          <p:cNvSpPr/>
          <p:nvPr/>
        </p:nvSpPr>
        <p:spPr>
          <a:xfrm>
            <a:off x="2533650" y="5638800"/>
            <a:ext cx="1885950" cy="438150"/>
          </a:xfrm>
          <a:prstGeom prst="homePlate">
            <a:avLst>
              <a:gd name="adj" fmla="val 30000"/>
            </a:avLst>
          </a:prstGeom>
          <a:gradFill rotWithShape="1">
            <a:gsLst>
              <a:gs pos="0">
                <a:srgbClr val="22A79A">
                  <a:alpha val="55000"/>
                </a:srgbClr>
              </a:gs>
              <a:gs pos="100000">
                <a:srgbClr val="0E5A57">
                  <a:alpha val="80000"/>
                </a:srgbClr>
              </a:gs>
            </a:gsLst>
            <a:lin ang="0" scaled="0"/>
          </a:gradFill>
          <a:ln w="7144" cap="rnd">
            <a:solidFill>
              <a:srgbClr val="3FD6C3">
                <a:alpha val="60000"/>
              </a:srgbClr>
            </a:solidFill>
            <a:round/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Budget lines (approved PET only)</a:t>
            </a:r>
            <a:endParaRPr lang="en-US" sz="850" dirty="0"/>
          </a:p>
        </p:txBody>
      </p:sp>
      <p:sp>
        <p:nvSpPr>
          <p:cNvPr id="112" name="Shape 112"/>
          <p:cNvSpPr/>
          <p:nvPr/>
        </p:nvSpPr>
        <p:spPr>
          <a:xfrm>
            <a:off x="4438650" y="5638800"/>
            <a:ext cx="1885950" cy="438150"/>
          </a:xfrm>
          <a:prstGeom prst="chevron">
            <a:avLst>
              <a:gd name="adj" fmla="val 30000"/>
            </a:avLst>
          </a:prstGeom>
          <a:gradFill rotWithShape="1">
            <a:gsLst>
              <a:gs pos="0">
                <a:srgbClr val="22A79A">
                  <a:alpha val="55000"/>
                </a:srgbClr>
              </a:gs>
              <a:gs pos="100000">
                <a:srgbClr val="0E5A57">
                  <a:alpha val="80000"/>
                </a:srgbClr>
              </a:gs>
            </a:gsLst>
            <a:lin ang="0" scaled="0"/>
          </a:gradFill>
          <a:ln w="7144" cap="rnd">
            <a:solidFill>
              <a:srgbClr val="3FD6C3">
                <a:alpha val="60000"/>
              </a:srgbClr>
            </a:solidFill>
            <a:round/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CAM &amp; LPO status</a:t>
            </a:r>
            <a:endParaRPr lang="en-US" sz="850" dirty="0"/>
          </a:p>
        </p:txBody>
      </p:sp>
      <p:sp>
        <p:nvSpPr>
          <p:cNvPr id="113" name="Shape 113"/>
          <p:cNvSpPr/>
          <p:nvPr/>
        </p:nvSpPr>
        <p:spPr>
          <a:xfrm>
            <a:off x="6343650" y="5638800"/>
            <a:ext cx="1885950" cy="438150"/>
          </a:xfrm>
          <a:prstGeom prst="chevron">
            <a:avLst>
              <a:gd name="adj" fmla="val 30000"/>
            </a:avLst>
          </a:prstGeom>
          <a:gradFill rotWithShape="1">
            <a:gsLst>
              <a:gs pos="0">
                <a:srgbClr val="22A79A">
                  <a:alpha val="55000"/>
                </a:srgbClr>
              </a:gs>
              <a:gs pos="100000">
                <a:srgbClr val="0E5A57">
                  <a:alpha val="80000"/>
                </a:srgbClr>
              </a:gs>
            </a:gsLst>
            <a:lin ang="0" scaled="0"/>
          </a:gradFill>
          <a:ln w="7144" cap="rnd">
            <a:solidFill>
              <a:srgbClr val="3FD6C3">
                <a:alpha val="60000"/>
              </a:srgbClr>
            </a:solidFill>
            <a:round/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Invoices &amp; settlement</a:t>
            </a:r>
            <a:endParaRPr lang="en-US" sz="850" dirty="0"/>
          </a:p>
        </p:txBody>
      </p:sp>
      <p:sp>
        <p:nvSpPr>
          <p:cNvPr id="114" name="Shape 114"/>
          <p:cNvSpPr/>
          <p:nvPr/>
        </p:nvSpPr>
        <p:spPr>
          <a:xfrm>
            <a:off x="8248650" y="5638800"/>
            <a:ext cx="1885950" cy="438150"/>
          </a:xfrm>
          <a:prstGeom prst="chevron">
            <a:avLst>
              <a:gd name="adj" fmla="val 30000"/>
            </a:avLst>
          </a:prstGeom>
          <a:gradFill rotWithShape="1">
            <a:gsLst>
              <a:gs pos="0">
                <a:srgbClr val="22A79A">
                  <a:alpha val="55000"/>
                </a:srgbClr>
              </a:gs>
              <a:gs pos="100000">
                <a:srgbClr val="0E5A57">
                  <a:alpha val="80000"/>
                </a:srgbClr>
              </a:gs>
            </a:gsLst>
            <a:lin ang="0" scaled="0"/>
          </a:gradFill>
          <a:ln w="7144" cap="rnd">
            <a:solidFill>
              <a:srgbClr val="3FD6C3">
                <a:alpha val="60000"/>
              </a:srgbClr>
            </a:solidFill>
            <a:round/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/>
                <a:cs typeface="Segoe UI"/>
              </a:rPr>
              <a:t>GL funding &amp; CAPEX / OPEX utilization</a:t>
            </a:r>
            <a:endParaRPr lang="en-US" sz="850" dirty="0"/>
          </a:p>
        </p:txBody>
      </p:sp>
      <p:sp>
        <p:nvSpPr>
          <p:cNvPr id="115" name="Shape 115"/>
          <p:cNvSpPr/>
          <p:nvPr/>
        </p:nvSpPr>
        <p:spPr>
          <a:xfrm>
            <a:off x="10248900" y="5638800"/>
            <a:ext cx="12954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95250">
              <a:srgbClr val="E3B85A">
                <a:alpha val="45000"/>
              </a:srgbClr>
            </a:glo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Management report</a:t>
            </a:r>
            <a:endParaRPr lang="en-US" sz="900" dirty="0"/>
          </a:p>
        </p:txBody>
      </p:sp>
      <p:sp>
        <p:nvSpPr>
          <p:cNvPr id="116" name="Shape 116"/>
          <p:cNvSpPr/>
          <p:nvPr/>
        </p:nvSpPr>
        <p:spPr>
          <a:xfrm>
            <a:off x="533400" y="6248400"/>
            <a:ext cx="111252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9FBFB3"/>
                </a:solidFill>
                <a:latin typeface="Segoe UI"/>
                <a:cs typeface="Segoe UI"/>
              </a:rPr>
              <a:t>All stages, roles, decisions and controls shown are implemented in the current Falcon portal.</a:t>
            </a:r>
            <a:endParaRPr lang="en-US" sz="850" dirty="0"/>
          </a:p>
        </p:txBody>
      </p:sp>
      <p:sp>
        <p:nvSpPr>
          <p:cNvPr id="117" name="Shape 117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gradFill rotWithShape="1">
            <a:gsLst>
              <a:gs pos="0">
                <a:srgbClr val="BD8B22">
                  <a:alpha val="0"/>
                </a:srgbClr>
              </a:gs>
              <a:gs pos="25000">
                <a:srgbClr val="BD8B22">
                  <a:alpha val="70000"/>
                </a:srgbClr>
              </a:gs>
              <a:gs pos="75000">
                <a:srgbClr val="2EC4A6">
                  <a:alpha val="55000"/>
                </a:srgbClr>
              </a:gs>
              <a:gs pos="100000">
                <a:srgbClr val="2EC4A6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8" name="Shape 118"/>
          <p:cNvSpPr/>
          <p:nvPr/>
        </p:nvSpPr>
        <p:spPr>
          <a:xfrm>
            <a:off x="533400" y="6610350"/>
            <a:ext cx="247650" cy="19050"/>
          </a:xfrm>
          <a:prstGeom prst="rect">
            <a:avLst/>
          </a:prstGeom>
          <a:solidFill>
            <a:srgbClr val="2EC4A6"/>
          </a:soli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9" name="Shape 119"/>
          <p:cNvSpPr/>
          <p:nvPr/>
        </p:nvSpPr>
        <p:spPr>
          <a:xfrm>
            <a:off x="876300" y="6543675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PREPARED FOR DIB MANAGEMENT   ·   02 / 03</a:t>
            </a:r>
            <a:endParaRPr lang="en-US" sz="750" dirty="0"/>
          </a:p>
        </p:txBody>
      </p:sp>
      <p:sp>
        <p:nvSpPr>
          <p:cNvPr id="120" name="Shape 120"/>
          <p:cNvSpPr/>
          <p:nvPr/>
        </p:nvSpPr>
        <p:spPr>
          <a:xfrm>
            <a:off x="6324600" y="6543675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ONE PORTFOLIO   |   CLEAR OWNERSHIP   |   STRONGER CONTROL</a:t>
            </a:r>
            <a:endParaRPr lang="en-US" sz="75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21B14"/>
              </a:gs>
              <a:gs pos="50000">
                <a:srgbClr val="063A2B"/>
              </a:gs>
              <a:gs pos="100000">
                <a:srgbClr val="0A5A52"/>
              </a:gs>
            </a:gsLst>
            <a:lin ang="18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5905500" y="-4000500"/>
            <a:ext cx="10001250" cy="10001250"/>
          </a:xfrm>
          <a:prstGeom prst="ellipse">
            <a:avLst/>
          </a:prstGeom>
          <a:gradFill rotWithShape="1">
            <a:gsLst>
              <a:gs pos="0">
                <a:srgbClr val="2EC4A6">
                  <a:alpha val="34000"/>
                </a:srgbClr>
              </a:gs>
              <a:gs pos="100000">
                <a:srgbClr val="2EC4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-3619500" y="3619500"/>
            <a:ext cx="7810500" cy="7810500"/>
          </a:xfrm>
          <a:prstGeom prst="ellipse">
            <a:avLst/>
          </a:prstGeom>
          <a:gradFill rotWithShape="1">
            <a:gsLst>
              <a:gs pos="0">
                <a:srgbClr val="BD8B22">
                  <a:alpha val="20000"/>
                </a:srgbClr>
              </a:gs>
              <a:gs pos="100000">
                <a:srgbClr val="BD8B2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2857500" y="3619500"/>
            <a:ext cx="6667500" cy="4953000"/>
          </a:xfrm>
          <a:prstGeom prst="ellipse">
            <a:avLst/>
          </a:prstGeom>
          <a:gradFill rotWithShape="1">
            <a:gsLst>
              <a:gs pos="0">
                <a:srgbClr val="1C9A72">
                  <a:alpha val="16000"/>
                </a:srgbClr>
              </a:gs>
              <a:gs pos="100000">
                <a:srgbClr val="1C9A7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 rot="20640000">
            <a:off x="-952500" y="2381250"/>
            <a:ext cx="14287500" cy="17145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 rot="20640000">
            <a:off x="-571500" y="2857500"/>
            <a:ext cx="13906500" cy="19050"/>
          </a:xfrm>
          <a:prstGeom prst="rect">
            <a:avLst/>
          </a:prstGeom>
          <a:gradFill rotWithShape="1">
            <a:gsLst>
              <a:gs pos="0">
                <a:srgbClr val="A8F0DD">
                  <a:alpha val="0"/>
                </a:srgbClr>
              </a:gs>
              <a:gs pos="50000">
                <a:srgbClr val="A8F0DD">
                  <a:alpha val="28000"/>
                </a:srgbClr>
              </a:gs>
              <a:gs pos="100000">
                <a:srgbClr val="A8F0DD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 rot="20640000">
            <a:off x="762000" y="1143000"/>
            <a:ext cx="13335000" cy="14288"/>
          </a:xfrm>
          <a:prstGeom prst="rect">
            <a:avLst/>
          </a:prstGeom>
          <a:gradFill rotWithShape="1">
            <a:gsLst>
              <a:gs pos="0">
                <a:srgbClr val="E3B85A">
                  <a:alpha val="0"/>
                </a:srgbClr>
              </a:gs>
              <a:gs pos="60000">
                <a:srgbClr val="E3B85A">
                  <a:alpha val="22000"/>
                </a:srgbClr>
              </a:gs>
              <a:gs pos="100000">
                <a:srgbClr val="E3B85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533400" y="323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76200">
              <a:srgbClr val="E3B85A">
                <a:alpha val="3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533400" y="323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470" y="190"/>
                </a:moveTo>
                <a:cubicBezTo>
                  <a:pt x="390" y="190"/>
                  <a:pt x="320" y="220"/>
                  <a:pt x="270" y="280"/>
                </a:cubicBezTo>
                <a:lnTo>
                  <a:pt x="180" y="240"/>
                </a:lnTo>
                <a:lnTo>
                  <a:pt x="240" y="330"/>
                </a:lnTo>
                <a:lnTo>
                  <a:pt x="170" y="380"/>
                </a:lnTo>
                <a:lnTo>
                  <a:pt x="280" y="370"/>
                </a:lnTo>
                <a:cubicBezTo>
                  <a:pt x="320" y="440"/>
                  <a:pt x="380" y="490"/>
                  <a:pt x="460" y="520"/>
                </a:cubicBezTo>
                <a:cubicBezTo>
                  <a:pt x="410" y="470"/>
                  <a:pt x="380" y="420"/>
                  <a:pt x="370" y="360"/>
                </a:cubicBezTo>
                <a:lnTo>
                  <a:pt x="470" y="310"/>
                </a:lnTo>
                <a:lnTo>
                  <a:pt x="360" y="290"/>
                </a:lnTo>
                <a:cubicBezTo>
                  <a:pt x="390" y="250"/>
                  <a:pt x="430" y="220"/>
                  <a:pt x="470" y="190"/>
                </a:cubicBezTo>
                <a:close/>
              </a:path>
            </a:pathLst>
          </a:cu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734318" y="428327"/>
            <a:ext cx="16073" cy="16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952500" y="3238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300" dirty="0"/>
          </a:p>
        </p:txBody>
      </p:sp>
      <p:sp>
        <p:nvSpPr>
          <p:cNvPr id="13" name="Shape 13"/>
          <p:cNvSpPr/>
          <p:nvPr/>
        </p:nvSpPr>
        <p:spPr>
          <a:xfrm>
            <a:off x="952500" y="51435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00" b="1" spc="250" dirty="0">
                <a:solidFill>
                  <a:srgbClr val="E3B85A"/>
                </a:solidFill>
                <a:latin typeface="Segoe UI"/>
                <a:cs typeface="Segoe UI"/>
              </a:rPr>
              <a:t>PORTFOLIO PORTAL</a:t>
            </a:r>
            <a:endParaRPr lang="en-US" sz="700" dirty="0"/>
          </a:p>
        </p:txBody>
      </p:sp>
      <p:sp>
        <p:nvSpPr>
          <p:cNvPr id="14" name="Shape 14"/>
          <p:cNvSpPr/>
          <p:nvPr/>
        </p:nvSpPr>
        <p:spPr>
          <a:xfrm>
            <a:off x="533400" y="8763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1" spc="200" dirty="0">
                <a:solidFill>
                  <a:srgbClr val="6FD9C0"/>
                </a:solidFill>
                <a:latin typeface="Segoe UI"/>
                <a:cs typeface="Segoe UI"/>
              </a:rPr>
              <a:t>03   ·   BUSINESS IMPACT</a:t>
            </a:r>
            <a:endParaRPr lang="en-US" sz="900" dirty="0"/>
          </a:p>
        </p:txBody>
      </p:sp>
      <p:sp>
        <p:nvSpPr>
          <p:cNvPr id="15" name="Shape 15"/>
          <p:cNvSpPr/>
          <p:nvPr/>
        </p:nvSpPr>
        <p:spPr>
          <a:xfrm>
            <a:off x="533400" y="1047750"/>
            <a:ext cx="7429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Business impact for DIB</a:t>
            </a:r>
            <a:endParaRPr lang="en-US" sz="3000" dirty="0"/>
          </a:p>
        </p:txBody>
      </p:sp>
      <p:sp>
        <p:nvSpPr>
          <p:cNvPr id="16" name="Shape 16"/>
          <p:cNvSpPr/>
          <p:nvPr/>
        </p:nvSpPr>
        <p:spPr>
          <a:xfrm>
            <a:off x="533400" y="1485900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E3B85A"/>
                </a:solidFill>
                <a:latin typeface="Segoe UI"/>
                <a:cs typeface="Segoe UI"/>
              </a:rPr>
              <a:t>From manual tracking to governed, decision-ready data</a:t>
            </a:r>
            <a:endParaRPr lang="en-US" sz="1400" dirty="0"/>
          </a:p>
        </p:txBody>
      </p:sp>
      <p:sp>
        <p:nvSpPr>
          <p:cNvPr id="17" name="Shape 17"/>
          <p:cNvSpPr/>
          <p:nvPr/>
        </p:nvSpPr>
        <p:spPr>
          <a:xfrm>
            <a:off x="8420100" y="361950"/>
            <a:ext cx="3238500" cy="1352550"/>
          </a:xfrm>
          <a:prstGeom prst="roundRect">
            <a:avLst>
              <a:gd name="adj" fmla="val 3000"/>
            </a:avLst>
          </a:prstGeom>
          <a:solidFill>
            <a:srgbClr val="F3F6F4"/>
          </a:solidFill>
          <a:ln w="7144" cap="rnd">
            <a:solidFill>
              <a:srgbClr val="FFFFFF">
                <a:alpha val="40000"/>
              </a:srgbClr>
            </a:solidFill>
            <a:round/>
          </a:ln>
          <a:effectLst>
            <a:glow rad="152400">
              <a:srgbClr val="2EC4A6">
                <a:alpha val="22000"/>
              </a:srgbClr>
            </a:glow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420100" y="361950"/>
            <a:ext cx="3238500" cy="228600"/>
          </a:xfrm>
          <a:prstGeom prst="roundRect">
            <a:avLst>
              <a:gd name="adj" fmla="val 25000"/>
            </a:avLst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420100" y="476250"/>
            <a:ext cx="3238500" cy="1143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" name="Shape 20"/>
          <p:cNvSpPr/>
          <p:nvPr/>
        </p:nvSpPr>
        <p:spPr>
          <a:xfrm>
            <a:off x="8486775" y="390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gradFill rotWithShape="1">
            <a:gsLst>
              <a:gs pos="0">
                <a:srgbClr val="EEC86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8486775" y="390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470" y="190"/>
                </a:moveTo>
                <a:cubicBezTo>
                  <a:pt x="390" y="190"/>
                  <a:pt x="320" y="220"/>
                  <a:pt x="270" y="280"/>
                </a:cubicBezTo>
                <a:lnTo>
                  <a:pt x="180" y="240"/>
                </a:lnTo>
                <a:lnTo>
                  <a:pt x="240" y="330"/>
                </a:lnTo>
                <a:lnTo>
                  <a:pt x="170" y="380"/>
                </a:lnTo>
                <a:lnTo>
                  <a:pt x="280" y="370"/>
                </a:lnTo>
                <a:cubicBezTo>
                  <a:pt x="320" y="440"/>
                  <a:pt x="380" y="490"/>
                  <a:pt x="460" y="520"/>
                </a:cubicBezTo>
                <a:cubicBezTo>
                  <a:pt x="410" y="470"/>
                  <a:pt x="380" y="420"/>
                  <a:pt x="370" y="360"/>
                </a:cubicBezTo>
                <a:lnTo>
                  <a:pt x="470" y="310"/>
                </a:lnTo>
                <a:lnTo>
                  <a:pt x="360" y="290"/>
                </a:lnTo>
                <a:cubicBezTo>
                  <a:pt x="390" y="250"/>
                  <a:pt x="430" y="220"/>
                  <a:pt x="470" y="190"/>
                </a:cubicBezTo>
                <a:close/>
              </a:path>
            </a:pathLst>
          </a:cu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8587234" y="442764"/>
            <a:ext cx="8037" cy="80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3" name="Shape 23"/>
          <p:cNvSpPr/>
          <p:nvPr/>
        </p:nvSpPr>
        <p:spPr>
          <a:xfrm>
            <a:off x="8705850" y="3619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Management report</a:t>
            </a:r>
            <a:endParaRPr lang="en-US" sz="750" dirty="0"/>
          </a:p>
        </p:txBody>
      </p:sp>
      <p:sp>
        <p:nvSpPr>
          <p:cNvPr id="24" name="Shape 24"/>
          <p:cNvSpPr/>
          <p:nvPr/>
        </p:nvSpPr>
        <p:spPr>
          <a:xfrm>
            <a:off x="8515350" y="666750"/>
            <a:ext cx="97155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762" cap="rnd">
            <a:solidFill>
              <a:srgbClr val="DDE5E1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5" name="Shape 25"/>
          <p:cNvSpPr/>
          <p:nvPr/>
        </p:nvSpPr>
        <p:spPr>
          <a:xfrm>
            <a:off x="8591550" y="704850"/>
            <a:ext cx="8572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5B6862"/>
                </a:solidFill>
                <a:latin typeface="Segoe UI"/>
                <a:cs typeface="Segoe UI"/>
              </a:rPr>
              <a:t>Registered projects</a:t>
            </a:r>
            <a:endParaRPr lang="en-US" sz="580" dirty="0"/>
          </a:p>
        </p:txBody>
      </p:sp>
      <p:sp>
        <p:nvSpPr>
          <p:cNvPr id="26" name="Shape 26"/>
          <p:cNvSpPr/>
          <p:nvPr/>
        </p:nvSpPr>
        <p:spPr>
          <a:xfrm>
            <a:off x="8591550" y="866775"/>
            <a:ext cx="514350" cy="95250"/>
          </a:xfrm>
          <a:prstGeom prst="roundRect">
            <a:avLst>
              <a:gd name="adj" fmla="val 50000"/>
            </a:avLst>
          </a:prstGeom>
          <a:solidFill>
            <a:srgbClr val="0B4A36">
              <a:alpha val="28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9563100" y="666750"/>
            <a:ext cx="97155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762" cap="rnd">
            <a:solidFill>
              <a:srgbClr val="DDE5E1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8" name="Shape 28"/>
          <p:cNvSpPr/>
          <p:nvPr/>
        </p:nvSpPr>
        <p:spPr>
          <a:xfrm>
            <a:off x="9639300" y="704850"/>
            <a:ext cx="8572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5B6862"/>
                </a:solidFill>
                <a:latin typeface="Segoe UI"/>
                <a:cs typeface="Segoe UI"/>
              </a:rPr>
              <a:t>Approved PETs</a:t>
            </a:r>
            <a:endParaRPr lang="en-US" sz="580" dirty="0"/>
          </a:p>
        </p:txBody>
      </p:sp>
      <p:sp>
        <p:nvSpPr>
          <p:cNvPr id="29" name="Shape 29"/>
          <p:cNvSpPr/>
          <p:nvPr/>
        </p:nvSpPr>
        <p:spPr>
          <a:xfrm>
            <a:off x="9639300" y="866775"/>
            <a:ext cx="514350" cy="95250"/>
          </a:xfrm>
          <a:prstGeom prst="roundRect">
            <a:avLst>
              <a:gd name="adj" fmla="val 50000"/>
            </a:avLst>
          </a:prstGeom>
          <a:solidFill>
            <a:srgbClr val="0B4A36">
              <a:alpha val="28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0" name="Shape 30"/>
          <p:cNvSpPr/>
          <p:nvPr/>
        </p:nvSpPr>
        <p:spPr>
          <a:xfrm>
            <a:off x="10610850" y="666750"/>
            <a:ext cx="97155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762" cap="rnd">
            <a:solidFill>
              <a:srgbClr val="DDE5E1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1" name="Shape 31"/>
          <p:cNvSpPr/>
          <p:nvPr/>
        </p:nvSpPr>
        <p:spPr>
          <a:xfrm>
            <a:off x="10687050" y="704850"/>
            <a:ext cx="8572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580" b="1" dirty="0">
                <a:solidFill>
                  <a:srgbClr val="5B6862"/>
                </a:solidFill>
                <a:latin typeface="Segoe UI"/>
                <a:cs typeface="Segoe UI"/>
              </a:rPr>
              <a:t>Invoices raised</a:t>
            </a:r>
            <a:endParaRPr lang="en-US" sz="580" dirty="0"/>
          </a:p>
        </p:txBody>
      </p:sp>
      <p:sp>
        <p:nvSpPr>
          <p:cNvPr id="32" name="Shape 32"/>
          <p:cNvSpPr/>
          <p:nvPr/>
        </p:nvSpPr>
        <p:spPr>
          <a:xfrm>
            <a:off x="10687050" y="866775"/>
            <a:ext cx="514350" cy="95250"/>
          </a:xfrm>
          <a:prstGeom prst="roundRect">
            <a:avLst>
              <a:gd name="adj" fmla="val 50000"/>
            </a:avLst>
          </a:prstGeom>
          <a:solidFill>
            <a:srgbClr val="0B4A36">
              <a:alpha val="28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8515350" y="11049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3C5A4E"/>
                </a:solidFill>
                <a:latin typeface="Segoe UI"/>
                <a:cs typeface="Segoe UI"/>
              </a:rPr>
              <a:t>CAPEX utilization</a:t>
            </a:r>
            <a:endParaRPr lang="en-US" sz="600" dirty="0"/>
          </a:p>
        </p:txBody>
      </p:sp>
      <p:sp>
        <p:nvSpPr>
          <p:cNvPr id="34" name="Shape 34"/>
          <p:cNvSpPr/>
          <p:nvPr/>
        </p:nvSpPr>
        <p:spPr>
          <a:xfrm>
            <a:off x="8515350" y="1238250"/>
            <a:ext cx="3048000" cy="66675"/>
          </a:xfrm>
          <a:prstGeom prst="roundRect">
            <a:avLst>
              <a:gd name="adj" fmla="val 50000"/>
            </a:avLst>
          </a:prstGeom>
          <a:solidFill>
            <a:srgbClr val="E1E8E4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5" name="Shape 35"/>
          <p:cNvSpPr/>
          <p:nvPr/>
        </p:nvSpPr>
        <p:spPr>
          <a:xfrm>
            <a:off x="8515350" y="1238250"/>
            <a:ext cx="1809750" cy="666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6805F"/>
              </a:gs>
              <a:gs pos="100000">
                <a:srgbClr val="2EC4A6"/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6" name="Shape 36"/>
          <p:cNvSpPr/>
          <p:nvPr/>
        </p:nvSpPr>
        <p:spPr>
          <a:xfrm>
            <a:off x="8515350" y="13716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3C5A4E"/>
                </a:solidFill>
                <a:latin typeface="Segoe UI"/>
                <a:cs typeface="Segoe UI"/>
              </a:rPr>
              <a:t>OPEX utilization</a:t>
            </a:r>
            <a:endParaRPr lang="en-US" sz="600" dirty="0"/>
          </a:p>
        </p:txBody>
      </p:sp>
      <p:sp>
        <p:nvSpPr>
          <p:cNvPr id="37" name="Shape 37"/>
          <p:cNvSpPr/>
          <p:nvPr/>
        </p:nvSpPr>
        <p:spPr>
          <a:xfrm>
            <a:off x="8515350" y="1504950"/>
            <a:ext cx="3048000" cy="66675"/>
          </a:xfrm>
          <a:prstGeom prst="roundRect">
            <a:avLst>
              <a:gd name="adj" fmla="val 50000"/>
            </a:avLst>
          </a:prstGeom>
          <a:solidFill>
            <a:srgbClr val="E1E8E4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8" name="Shape 38"/>
          <p:cNvSpPr/>
          <p:nvPr/>
        </p:nvSpPr>
        <p:spPr>
          <a:xfrm>
            <a:off x="8515350" y="1504950"/>
            <a:ext cx="1238250" cy="666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7816"/>
              </a:gs>
              <a:gs pos="100000">
                <a:srgbClr val="E3B85A"/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9" name="Shape 39"/>
          <p:cNvSpPr/>
          <p:nvPr/>
        </p:nvSpPr>
        <p:spPr>
          <a:xfrm>
            <a:off x="8420100" y="1724025"/>
            <a:ext cx="3238500" cy="104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600" b="0" dirty="0">
                <a:solidFill>
                  <a:srgbClr val="8FB0A4"/>
                </a:solidFill>
                <a:latin typeface="Segoe UI"/>
                <a:cs typeface="Segoe UI"/>
              </a:rPr>
              <a:t>Illustrative mockup   ·   no live data</a:t>
            </a:r>
            <a:endParaRPr lang="en-US" sz="600" dirty="0"/>
          </a:p>
        </p:txBody>
      </p:sp>
      <p:sp>
        <p:nvSpPr>
          <p:cNvPr id="40" name="Shape 40"/>
          <p:cNvSpPr/>
          <p:nvPr/>
        </p:nvSpPr>
        <p:spPr>
          <a:xfrm>
            <a:off x="533400" y="1866900"/>
            <a:ext cx="23241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6FD9C0"/>
                </a:solidFill>
                <a:latin typeface="Segoe UI"/>
                <a:cs typeface="Segoe UI"/>
              </a:rPr>
              <a:t>IMPACT AREA</a:t>
            </a:r>
            <a:endParaRPr lang="en-US" sz="750" dirty="0"/>
          </a:p>
        </p:txBody>
      </p:sp>
      <p:sp>
        <p:nvSpPr>
          <p:cNvPr id="41" name="Shape 41"/>
          <p:cNvSpPr/>
          <p:nvPr/>
        </p:nvSpPr>
        <p:spPr>
          <a:xfrm>
            <a:off x="2971800" y="18669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A0B3AB"/>
                </a:solidFill>
                <a:latin typeface="Segoe UI"/>
                <a:cs typeface="Segoe UI"/>
              </a:rPr>
              <a:t>BEFORE   ·   TYPICAL</a:t>
            </a:r>
            <a:endParaRPr lang="en-US" sz="750" dirty="0"/>
          </a:p>
        </p:txBody>
      </p:sp>
      <p:sp>
        <p:nvSpPr>
          <p:cNvPr id="42" name="Shape 42"/>
          <p:cNvSpPr/>
          <p:nvPr/>
        </p:nvSpPr>
        <p:spPr>
          <a:xfrm>
            <a:off x="5372100" y="1866900"/>
            <a:ext cx="33718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50" dirty="0">
                <a:solidFill>
                  <a:srgbClr val="E3B85A"/>
                </a:solidFill>
                <a:latin typeface="Segoe UI"/>
                <a:cs typeface="Segoe UI"/>
              </a:rPr>
              <a:t>WITH FALCON   ·   OUTCOME &amp; HOW (IN PORTAL)</a:t>
            </a:r>
            <a:endParaRPr lang="en-US" sz="750" dirty="0"/>
          </a:p>
        </p:txBody>
      </p:sp>
      <p:sp>
        <p:nvSpPr>
          <p:cNvPr id="43" name="Shape 43"/>
          <p:cNvSpPr/>
          <p:nvPr/>
        </p:nvSpPr>
        <p:spPr>
          <a:xfrm>
            <a:off x="8858250" y="1866900"/>
            <a:ext cx="2800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50" dirty="0">
                <a:solidFill>
                  <a:srgbClr val="6FD9C0"/>
                </a:solidFill>
                <a:latin typeface="Segoe UI"/>
                <a:cs typeface="Segoe UI"/>
              </a:rPr>
              <a:t>KPI TO TRACK   ·   PROPOSED</a:t>
            </a:r>
            <a:endParaRPr lang="en-US" sz="750" dirty="0"/>
          </a:p>
        </p:txBody>
      </p:sp>
      <p:sp>
        <p:nvSpPr>
          <p:cNvPr id="44" name="Shape 44"/>
          <p:cNvSpPr/>
          <p:nvPr/>
        </p:nvSpPr>
        <p:spPr>
          <a:xfrm>
            <a:off x="533400" y="2038350"/>
            <a:ext cx="11125200" cy="9525"/>
          </a:xfrm>
          <a:prstGeom prst="rect">
            <a:avLst/>
          </a:prstGeom>
          <a:gradFill rotWithShape="1">
            <a:gsLst>
              <a:gs pos="0">
                <a:srgbClr val="2EC4A6">
                  <a:alpha val="70000"/>
                </a:srgbClr>
              </a:gs>
              <a:gs pos="60000">
                <a:srgbClr val="E3B85A">
                  <a:alpha val="60000"/>
                </a:srgbClr>
              </a:gs>
              <a:gs pos="100000">
                <a:srgbClr val="E3B85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533400" y="2114550"/>
            <a:ext cx="2324100" cy="5905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6" name="Shape 46"/>
          <p:cNvSpPr/>
          <p:nvPr/>
        </p:nvSpPr>
        <p:spPr>
          <a:xfrm>
            <a:off x="647700" y="2219325"/>
            <a:ext cx="381000" cy="381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C066"/>
              </a:gs>
              <a:gs pos="100000">
                <a:srgbClr val="A8781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E3B85A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7" name="Shape 47"/>
          <p:cNvSpPr/>
          <p:nvPr/>
        </p:nvSpPr>
        <p:spPr>
          <a:xfrm>
            <a:off x="750570" y="2299335"/>
            <a:ext cx="175260" cy="220980"/>
          </a:xfrm>
          <a:custGeom>
            <a:avLst/>
            <a:gdLst/>
            <a:ahLst/>
            <a:cxnLst/>
            <a:rect l="l" t="t" r="r" b="b"/>
            <a:pathLst>
              <a:path w="640" h="640">
                <a:moveTo>
                  <a:pt x="320" y="30"/>
                </a:moveTo>
                <a:lnTo>
                  <a:pt x="580" y="160"/>
                </a:lnTo>
                <a:lnTo>
                  <a:pt x="580" y="350"/>
                </a:lnTo>
                <a:cubicBezTo>
                  <a:pt x="580" y="480"/>
                  <a:pt x="480" y="570"/>
                  <a:pt x="320" y="620"/>
                </a:cubicBezTo>
                <a:cubicBezTo>
                  <a:pt x="160" y="570"/>
                  <a:pt x="60" y="480"/>
                  <a:pt x="60" y="350"/>
                </a:cubicBezTo>
                <a:lnTo>
                  <a:pt x="60" y="160"/>
                </a:lnTo>
                <a:close/>
              </a:path>
            </a:pathLst>
          </a:cu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8" name="Shape 48"/>
          <p:cNvSpPr/>
          <p:nvPr/>
        </p:nvSpPr>
        <p:spPr>
          <a:xfrm>
            <a:off x="796290" y="2379345"/>
            <a:ext cx="83820" cy="5715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0" y="55"/>
                </a:moveTo>
                <a:lnTo>
                  <a:pt x="38" y="100"/>
                </a:lnTo>
                <a:lnTo>
                  <a:pt x="100" y="0"/>
                </a:lnTo>
              </a:path>
            </a:pathLst>
          </a:custGeom>
          <a:noFill/>
          <a:ln w="2286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9" name="Shape 49"/>
          <p:cNvSpPr/>
          <p:nvPr/>
        </p:nvSpPr>
        <p:spPr>
          <a:xfrm>
            <a:off x="1123950" y="2114550"/>
            <a:ext cx="1676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Governance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2971800" y="2114550"/>
            <a:ext cx="1981200" cy="59055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7144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1" name="Shape 51"/>
          <p:cNvSpPr/>
          <p:nvPr/>
        </p:nvSpPr>
        <p:spPr>
          <a:xfrm>
            <a:off x="3086100" y="2114550"/>
            <a:ext cx="17716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A9BBB4"/>
                </a:solidFill>
                <a:latin typeface="Segoe UI"/>
                <a:cs typeface="Segoe UI"/>
              </a:rPr>
              <a:t>Controls applied differently across teams and channels</a:t>
            </a:r>
            <a:endParaRPr lang="en-US" sz="900" dirty="0"/>
          </a:p>
        </p:txBody>
      </p:sp>
      <p:sp>
        <p:nvSpPr>
          <p:cNvPr id="52" name="Shape 52"/>
          <p:cNvSpPr/>
          <p:nvPr/>
        </p:nvSpPr>
        <p:spPr>
          <a:xfrm>
            <a:off x="5048250" y="2314575"/>
            <a:ext cx="247650" cy="19050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3" name="Shape 53"/>
          <p:cNvSpPr/>
          <p:nvPr/>
        </p:nvSpPr>
        <p:spPr>
          <a:xfrm>
            <a:off x="5372100" y="2114550"/>
            <a:ext cx="3371850" cy="59055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 w="7144" cap="rnd">
            <a:solidFill>
              <a:srgbClr val="3FD6C3">
                <a:alpha val="35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4" name="Shape 54"/>
          <p:cNvSpPr/>
          <p:nvPr/>
        </p:nvSpPr>
        <p:spPr>
          <a:xfrm>
            <a:off x="5372100" y="2190750"/>
            <a:ext cx="381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FD6C3"/>
              </a:gs>
              <a:gs pos="100000">
                <a:srgbClr val="E3B85A"/>
              </a:gs>
            </a:gsLst>
            <a:lin ang="5400000" scaled="0"/>
          </a:gradFill>
          <a:ln>
            <a:noFill/>
          </a:ln>
          <a:effectLst>
            <a:glow rad="28575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5" name="Shape 55"/>
          <p:cNvSpPr/>
          <p:nvPr/>
        </p:nvSpPr>
        <p:spPr>
          <a:xfrm>
            <a:off x="5505450" y="2171700"/>
            <a:ext cx="3162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Consistent, role-based control</a:t>
            </a:r>
            <a:endParaRPr lang="en-US" sz="1100" dirty="0"/>
          </a:p>
        </p:txBody>
      </p:sp>
      <p:sp>
        <p:nvSpPr>
          <p:cNvPr id="56" name="Shape 56"/>
          <p:cNvSpPr/>
          <p:nvPr/>
        </p:nvSpPr>
        <p:spPr>
          <a:xfrm>
            <a:off x="5505450" y="2371725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CFE0D8"/>
                </a:solidFill>
                <a:latin typeface="Segoe UI"/>
                <a:cs typeface="Segoe UI"/>
              </a:rPr>
              <a:t>Role-based access; privileged roles set in Role management; Master budget changes audited</a:t>
            </a:r>
            <a:endParaRPr lang="en-US" sz="850" dirty="0"/>
          </a:p>
        </p:txBody>
      </p:sp>
      <p:sp>
        <p:nvSpPr>
          <p:cNvPr id="57" name="Shape 57"/>
          <p:cNvSpPr/>
          <p:nvPr/>
        </p:nvSpPr>
        <p:spPr>
          <a:xfrm>
            <a:off x="8858250" y="2114550"/>
            <a:ext cx="2800350" cy="590550"/>
          </a:xfrm>
          <a:prstGeom prst="roundRect">
            <a:avLst>
              <a:gd name="adj" fmla="val 10000"/>
            </a:avLst>
          </a:prstGeom>
          <a:solidFill>
            <a:srgbClr val="2EC4A6">
              <a:alpha val="8000"/>
            </a:srgbClr>
          </a:solidFill>
          <a:ln w="7144" cap="rnd">
            <a:solidFill>
              <a:srgbClr val="3FD6C3">
                <a:alpha val="60000"/>
              </a:srgbClr>
            </a:solidFill>
            <a:prstDash val="dash"/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8" name="Shape 58"/>
          <p:cNvSpPr/>
          <p:nvPr/>
        </p:nvSpPr>
        <p:spPr>
          <a:xfrm>
            <a:off x="8972550" y="2314575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2EC4A6">
              <a:alpha val="2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FD9C0"/>
                </a:solidFill>
                <a:latin typeface="Segoe UI"/>
                <a:cs typeface="Segoe UI"/>
              </a:rPr>
              <a:t>KPI</a:t>
            </a:r>
            <a:endParaRPr lang="en-US" sz="650" dirty="0"/>
          </a:p>
        </p:txBody>
      </p:sp>
      <p:sp>
        <p:nvSpPr>
          <p:cNvPr id="59" name="Shape 59"/>
          <p:cNvSpPr/>
          <p:nvPr/>
        </p:nvSpPr>
        <p:spPr>
          <a:xfrm>
            <a:off x="9334500" y="2114550"/>
            <a:ext cx="22479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EAF4F0"/>
                </a:solidFill>
                <a:latin typeface="Segoe UI"/>
                <a:cs typeface="Segoe UI"/>
              </a:rPr>
              <a:t>Share of portfolio spend governed through Falcon</a:t>
            </a:r>
            <a:endParaRPr lang="en-US" sz="900" dirty="0"/>
          </a:p>
        </p:txBody>
      </p:sp>
      <p:sp>
        <p:nvSpPr>
          <p:cNvPr id="60" name="Shape 60"/>
          <p:cNvSpPr/>
          <p:nvPr/>
        </p:nvSpPr>
        <p:spPr>
          <a:xfrm>
            <a:off x="533400" y="2762250"/>
            <a:ext cx="2324100" cy="5905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1" name="Shape 61"/>
          <p:cNvSpPr/>
          <p:nvPr/>
        </p:nvSpPr>
        <p:spPr>
          <a:xfrm>
            <a:off x="647700" y="2867025"/>
            <a:ext cx="381000" cy="381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2EC4A6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2" name="Shape 62"/>
          <p:cNvSpPr/>
          <p:nvPr/>
        </p:nvSpPr>
        <p:spPr>
          <a:xfrm>
            <a:off x="746760" y="3057525"/>
            <a:ext cx="45720" cy="99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3" name="Shape 63"/>
          <p:cNvSpPr/>
          <p:nvPr/>
        </p:nvSpPr>
        <p:spPr>
          <a:xfrm>
            <a:off x="815340" y="3004185"/>
            <a:ext cx="4572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4" name="Shape 64"/>
          <p:cNvSpPr/>
          <p:nvPr/>
        </p:nvSpPr>
        <p:spPr>
          <a:xfrm>
            <a:off x="883920" y="2958465"/>
            <a:ext cx="45720" cy="198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5" name="Shape 65"/>
          <p:cNvSpPr/>
          <p:nvPr/>
        </p:nvSpPr>
        <p:spPr>
          <a:xfrm>
            <a:off x="1123950" y="2762250"/>
            <a:ext cx="1676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Portfolio visibility</a:t>
            </a:r>
            <a:endParaRPr lang="en-US" sz="1200" dirty="0"/>
          </a:p>
        </p:txBody>
      </p:sp>
      <p:sp>
        <p:nvSpPr>
          <p:cNvPr id="66" name="Shape 66"/>
          <p:cNvSpPr/>
          <p:nvPr/>
        </p:nvSpPr>
        <p:spPr>
          <a:xfrm>
            <a:off x="2971800" y="2762250"/>
            <a:ext cx="1981200" cy="59055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7144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7" name="Shape 67"/>
          <p:cNvSpPr/>
          <p:nvPr/>
        </p:nvSpPr>
        <p:spPr>
          <a:xfrm>
            <a:off x="3086100" y="2762250"/>
            <a:ext cx="17716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A9BBB4"/>
                </a:solidFill>
                <a:latin typeface="Segoe UI"/>
                <a:cs typeface="Segoe UI"/>
              </a:rPr>
              <a:t>Status assembled manually from JIRA, spreadsheets and email</a:t>
            </a:r>
            <a:endParaRPr lang="en-US" sz="900" dirty="0"/>
          </a:p>
        </p:txBody>
      </p:sp>
      <p:sp>
        <p:nvSpPr>
          <p:cNvPr id="68" name="Shape 68"/>
          <p:cNvSpPr/>
          <p:nvPr/>
        </p:nvSpPr>
        <p:spPr>
          <a:xfrm>
            <a:off x="5048250" y="2962275"/>
            <a:ext cx="247650" cy="19050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9" name="Shape 69"/>
          <p:cNvSpPr/>
          <p:nvPr/>
        </p:nvSpPr>
        <p:spPr>
          <a:xfrm>
            <a:off x="5372100" y="2762250"/>
            <a:ext cx="3371850" cy="59055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 w="7144" cap="rnd">
            <a:solidFill>
              <a:srgbClr val="3FD6C3">
                <a:alpha val="35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0" name="Shape 70"/>
          <p:cNvSpPr/>
          <p:nvPr/>
        </p:nvSpPr>
        <p:spPr>
          <a:xfrm>
            <a:off x="5372100" y="2838450"/>
            <a:ext cx="381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FD6C3"/>
              </a:gs>
              <a:gs pos="100000">
                <a:srgbClr val="E3B85A"/>
              </a:gs>
            </a:gsLst>
            <a:lin ang="5400000" scaled="0"/>
          </a:gradFill>
          <a:ln>
            <a:noFill/>
          </a:ln>
          <a:effectLst>
            <a:glow rad="28575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1" name="Shape 71"/>
          <p:cNvSpPr/>
          <p:nvPr/>
        </p:nvSpPr>
        <p:spPr>
          <a:xfrm>
            <a:off x="5505450" y="2819400"/>
            <a:ext cx="3162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One trusted view for portfolio reviews</a:t>
            </a:r>
            <a:endParaRPr lang="en-US" sz="1100" dirty="0"/>
          </a:p>
        </p:txBody>
      </p:sp>
      <p:sp>
        <p:nvSpPr>
          <p:cNvPr id="72" name="Shape 72"/>
          <p:cNvSpPr/>
          <p:nvPr/>
        </p:nvSpPr>
        <p:spPr>
          <a:xfrm>
            <a:off x="5505450" y="3019425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CFE0D8"/>
                </a:solidFill>
                <a:latin typeface="Segoe UI"/>
                <a:cs typeface="Segoe UI"/>
              </a:rPr>
              <a:t>Portfolio register with projects, PETs, budget lines and invoices, plus the Management report</a:t>
            </a:r>
            <a:endParaRPr lang="en-US" sz="850" dirty="0"/>
          </a:p>
        </p:txBody>
      </p:sp>
      <p:sp>
        <p:nvSpPr>
          <p:cNvPr id="73" name="Shape 73"/>
          <p:cNvSpPr/>
          <p:nvPr/>
        </p:nvSpPr>
        <p:spPr>
          <a:xfrm>
            <a:off x="8858250" y="2762250"/>
            <a:ext cx="2800350" cy="590550"/>
          </a:xfrm>
          <a:prstGeom prst="roundRect">
            <a:avLst>
              <a:gd name="adj" fmla="val 10000"/>
            </a:avLst>
          </a:prstGeom>
          <a:solidFill>
            <a:srgbClr val="2EC4A6">
              <a:alpha val="8000"/>
            </a:srgbClr>
          </a:solidFill>
          <a:ln w="7144" cap="rnd">
            <a:solidFill>
              <a:srgbClr val="3FD6C3">
                <a:alpha val="60000"/>
              </a:srgbClr>
            </a:solidFill>
            <a:prstDash val="dash"/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4" name="Shape 74"/>
          <p:cNvSpPr/>
          <p:nvPr/>
        </p:nvSpPr>
        <p:spPr>
          <a:xfrm>
            <a:off x="8972550" y="2962275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2EC4A6">
              <a:alpha val="2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FD9C0"/>
                </a:solidFill>
                <a:latin typeface="Segoe UI"/>
                <a:cs typeface="Segoe UI"/>
              </a:rPr>
              <a:t>KPI</a:t>
            </a:r>
            <a:endParaRPr lang="en-US" sz="650" dirty="0"/>
          </a:p>
        </p:txBody>
      </p:sp>
      <p:sp>
        <p:nvSpPr>
          <p:cNvPr id="75" name="Shape 75"/>
          <p:cNvSpPr/>
          <p:nvPr/>
        </p:nvSpPr>
        <p:spPr>
          <a:xfrm>
            <a:off x="9334500" y="2762250"/>
            <a:ext cx="22479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EAF4F0"/>
                </a:solidFill>
                <a:latin typeface="Segoe UI"/>
                <a:cs typeface="Segoe UI"/>
              </a:rPr>
              <a:t>% of active projects in Falcon; time to prepare portfolio status</a:t>
            </a:r>
            <a:endParaRPr lang="en-US" sz="900" dirty="0"/>
          </a:p>
        </p:txBody>
      </p:sp>
      <p:sp>
        <p:nvSpPr>
          <p:cNvPr id="76" name="Shape 76"/>
          <p:cNvSpPr/>
          <p:nvPr/>
        </p:nvSpPr>
        <p:spPr>
          <a:xfrm>
            <a:off x="533400" y="3409950"/>
            <a:ext cx="2324100" cy="5905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7" name="Shape 77"/>
          <p:cNvSpPr/>
          <p:nvPr/>
        </p:nvSpPr>
        <p:spPr>
          <a:xfrm>
            <a:off x="647700" y="3514725"/>
            <a:ext cx="381000" cy="381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28B3A3"/>
              </a:gs>
              <a:gs pos="100000">
                <a:srgbClr val="0E5A57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3FD6C3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8" name="Shape 78"/>
          <p:cNvSpPr/>
          <p:nvPr/>
        </p:nvSpPr>
        <p:spPr>
          <a:xfrm>
            <a:off x="796290" y="3590925"/>
            <a:ext cx="83820" cy="838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79" name="Shape 79"/>
          <p:cNvSpPr/>
          <p:nvPr/>
        </p:nvSpPr>
        <p:spPr>
          <a:xfrm>
            <a:off x="750570" y="3697605"/>
            <a:ext cx="175260" cy="114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0" name="Shape 80"/>
          <p:cNvSpPr/>
          <p:nvPr/>
        </p:nvSpPr>
        <p:spPr>
          <a:xfrm>
            <a:off x="1123950" y="3409950"/>
            <a:ext cx="1676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Accountability</a:t>
            </a:r>
            <a:endParaRPr lang="en-US" sz="1200" dirty="0"/>
          </a:p>
        </p:txBody>
      </p:sp>
      <p:sp>
        <p:nvSpPr>
          <p:cNvPr id="81" name="Shape 81"/>
          <p:cNvSpPr/>
          <p:nvPr/>
        </p:nvSpPr>
        <p:spPr>
          <a:xfrm>
            <a:off x="2971800" y="3409950"/>
            <a:ext cx="1981200" cy="59055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7144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2" name="Shape 82"/>
          <p:cNvSpPr/>
          <p:nvPr/>
        </p:nvSpPr>
        <p:spPr>
          <a:xfrm>
            <a:off x="3086100" y="3409950"/>
            <a:ext cx="17716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A9BBB4"/>
                </a:solidFill>
                <a:latin typeface="Segoe UI"/>
                <a:cs typeface="Segoe UI"/>
              </a:rPr>
              <a:t>Approvals by email; decision trail hard to reconstruct</a:t>
            </a:r>
            <a:endParaRPr lang="en-US" sz="900" dirty="0"/>
          </a:p>
        </p:txBody>
      </p:sp>
      <p:sp>
        <p:nvSpPr>
          <p:cNvPr id="83" name="Shape 83"/>
          <p:cNvSpPr/>
          <p:nvPr/>
        </p:nvSpPr>
        <p:spPr>
          <a:xfrm>
            <a:off x="5048250" y="3609975"/>
            <a:ext cx="247650" cy="19050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4" name="Shape 84"/>
          <p:cNvSpPr/>
          <p:nvPr/>
        </p:nvSpPr>
        <p:spPr>
          <a:xfrm>
            <a:off x="5372100" y="3409950"/>
            <a:ext cx="3371850" cy="59055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 w="7144" cap="rnd">
            <a:solidFill>
              <a:srgbClr val="3FD6C3">
                <a:alpha val="35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5" name="Shape 85"/>
          <p:cNvSpPr/>
          <p:nvPr/>
        </p:nvSpPr>
        <p:spPr>
          <a:xfrm>
            <a:off x="5372100" y="3486150"/>
            <a:ext cx="381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FD6C3"/>
              </a:gs>
              <a:gs pos="100000">
                <a:srgbClr val="E3B85A"/>
              </a:gs>
            </a:gsLst>
            <a:lin ang="5400000" scaled="0"/>
          </a:gradFill>
          <a:ln>
            <a:noFill/>
          </a:ln>
          <a:effectLst>
            <a:glow rad="28575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6" name="Shape 86"/>
          <p:cNvSpPr/>
          <p:nvPr/>
        </p:nvSpPr>
        <p:spPr>
          <a:xfrm>
            <a:off x="5505450" y="3467100"/>
            <a:ext cx="3162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Clear ownership, audit-ready trail</a:t>
            </a:r>
            <a:endParaRPr lang="en-US" sz="1100" dirty="0"/>
          </a:p>
        </p:txBody>
      </p:sp>
      <p:sp>
        <p:nvSpPr>
          <p:cNvPr id="87" name="Shape 87"/>
          <p:cNvSpPr/>
          <p:nvPr/>
        </p:nvSpPr>
        <p:spPr>
          <a:xfrm>
            <a:off x="5505450" y="3667125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CFE0D8"/>
                </a:solidFill>
                <a:latin typeface="Segoe UI"/>
                <a:cs typeface="Segoe UI"/>
              </a:rPr>
              <a:t>Named Reviewer and Approver; Approve, Send back or Reject with comments; workflow history</a:t>
            </a:r>
            <a:endParaRPr lang="en-US" sz="850" dirty="0"/>
          </a:p>
        </p:txBody>
      </p:sp>
      <p:sp>
        <p:nvSpPr>
          <p:cNvPr id="88" name="Shape 88"/>
          <p:cNvSpPr/>
          <p:nvPr/>
        </p:nvSpPr>
        <p:spPr>
          <a:xfrm>
            <a:off x="8858250" y="3409950"/>
            <a:ext cx="2800350" cy="590550"/>
          </a:xfrm>
          <a:prstGeom prst="roundRect">
            <a:avLst>
              <a:gd name="adj" fmla="val 10000"/>
            </a:avLst>
          </a:prstGeom>
          <a:solidFill>
            <a:srgbClr val="2EC4A6">
              <a:alpha val="8000"/>
            </a:srgbClr>
          </a:solidFill>
          <a:ln w="7144" cap="rnd">
            <a:solidFill>
              <a:srgbClr val="3FD6C3">
                <a:alpha val="60000"/>
              </a:srgbClr>
            </a:solidFill>
            <a:prstDash val="dash"/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9" name="Shape 89"/>
          <p:cNvSpPr/>
          <p:nvPr/>
        </p:nvSpPr>
        <p:spPr>
          <a:xfrm>
            <a:off x="8972550" y="3609975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2EC4A6">
              <a:alpha val="2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FD9C0"/>
                </a:solidFill>
                <a:latin typeface="Segoe UI"/>
                <a:cs typeface="Segoe UI"/>
              </a:rPr>
              <a:t>KPI</a:t>
            </a:r>
            <a:endParaRPr lang="en-US" sz="650" dirty="0"/>
          </a:p>
        </p:txBody>
      </p:sp>
      <p:sp>
        <p:nvSpPr>
          <p:cNvPr id="90" name="Shape 90"/>
          <p:cNvSpPr/>
          <p:nvPr/>
        </p:nvSpPr>
        <p:spPr>
          <a:xfrm>
            <a:off x="9334500" y="3409950"/>
            <a:ext cx="22479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EAF4F0"/>
                </a:solidFill>
                <a:latin typeface="Segoe UI"/>
                <a:cs typeface="Segoe UI"/>
              </a:rPr>
              <a:t>Average PET cycle time from submission to approval</a:t>
            </a:r>
            <a:endParaRPr lang="en-US" sz="900" dirty="0"/>
          </a:p>
        </p:txBody>
      </p:sp>
      <p:sp>
        <p:nvSpPr>
          <p:cNvPr id="91" name="Shape 91"/>
          <p:cNvSpPr/>
          <p:nvPr/>
        </p:nvSpPr>
        <p:spPr>
          <a:xfrm>
            <a:off x="533400" y="4057650"/>
            <a:ext cx="2324100" cy="5905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2" name="Shape 92"/>
          <p:cNvSpPr/>
          <p:nvPr/>
        </p:nvSpPr>
        <p:spPr>
          <a:xfrm>
            <a:off x="647700" y="4162425"/>
            <a:ext cx="381000" cy="381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C066"/>
              </a:gs>
              <a:gs pos="100000">
                <a:srgbClr val="A8781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E3B85A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3" name="Shape 93"/>
          <p:cNvSpPr/>
          <p:nvPr/>
        </p:nvSpPr>
        <p:spPr>
          <a:xfrm>
            <a:off x="723900" y="4261485"/>
            <a:ext cx="228600" cy="228600"/>
          </a:xfrm>
          <a:prstGeom prst="blockArc">
            <a:avLst>
              <a:gd name="adj1" fmla="val 10800000"/>
              <a:gd name="adj2" fmla="val 0"/>
              <a:gd name="adj3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cxnSp>
        <p:nvCxnSpPr>
          <p:cNvPr id="94" name="Connector 94"/>
          <p:cNvCxnSpPr/>
          <p:nvPr/>
        </p:nvCxnSpPr>
        <p:spPr>
          <a:xfrm flipV="1">
            <a:off x="838200" y="4307205"/>
            <a:ext cx="60960" cy="68580"/>
          </a:xfrm>
          <a:prstGeom prst="line">
            <a:avLst/>
          </a:prstGeom>
          <a:ln w="22860" cap="rnd">
            <a:solidFill>
              <a:srgbClr val="FFFFFF"/>
            </a:solidFill>
          </a:ln>
        </p:spPr>
      </p:cxnSp>
      <p:sp>
        <p:nvSpPr>
          <p:cNvPr id="95" name="Shape 95"/>
          <p:cNvSpPr/>
          <p:nvPr/>
        </p:nvSpPr>
        <p:spPr>
          <a:xfrm>
            <a:off x="819150" y="4356735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6" name="Shape 96"/>
          <p:cNvSpPr/>
          <p:nvPr/>
        </p:nvSpPr>
        <p:spPr>
          <a:xfrm>
            <a:off x="1123950" y="4057650"/>
            <a:ext cx="1676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Budget control</a:t>
            </a:r>
            <a:endParaRPr lang="en-US" sz="1200" dirty="0"/>
          </a:p>
        </p:txBody>
      </p:sp>
      <p:sp>
        <p:nvSpPr>
          <p:cNvPr id="97" name="Shape 97"/>
          <p:cNvSpPr/>
          <p:nvPr/>
        </p:nvSpPr>
        <p:spPr>
          <a:xfrm>
            <a:off x="2971800" y="4057650"/>
            <a:ext cx="1981200" cy="59055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7144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8" name="Shape 98"/>
          <p:cNvSpPr/>
          <p:nvPr/>
        </p:nvSpPr>
        <p:spPr>
          <a:xfrm>
            <a:off x="3086100" y="4057650"/>
            <a:ext cx="17716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A9BBB4"/>
                </a:solidFill>
                <a:latin typeface="Segoe UI"/>
                <a:cs typeface="Segoe UI"/>
              </a:rPr>
              <a:t>Commitments tracked apart from CAPEX / OPEX budgets</a:t>
            </a:r>
            <a:endParaRPr lang="en-US" sz="900" dirty="0"/>
          </a:p>
        </p:txBody>
      </p:sp>
      <p:sp>
        <p:nvSpPr>
          <p:cNvPr id="99" name="Shape 99"/>
          <p:cNvSpPr/>
          <p:nvPr/>
        </p:nvSpPr>
        <p:spPr>
          <a:xfrm>
            <a:off x="5048250" y="4257675"/>
            <a:ext cx="247650" cy="19050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0" name="Shape 100"/>
          <p:cNvSpPr/>
          <p:nvPr/>
        </p:nvSpPr>
        <p:spPr>
          <a:xfrm>
            <a:off x="5372100" y="4057650"/>
            <a:ext cx="3371850" cy="59055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 w="7144" cap="rnd">
            <a:solidFill>
              <a:srgbClr val="3FD6C3">
                <a:alpha val="35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1" name="Shape 101"/>
          <p:cNvSpPr/>
          <p:nvPr/>
        </p:nvSpPr>
        <p:spPr>
          <a:xfrm>
            <a:off x="5372100" y="4133850"/>
            <a:ext cx="381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FD6C3"/>
              </a:gs>
              <a:gs pos="100000">
                <a:srgbClr val="E3B85A"/>
              </a:gs>
            </a:gsLst>
            <a:lin ang="5400000" scaled="0"/>
          </a:gradFill>
          <a:ln>
            <a:noFill/>
          </a:ln>
          <a:effectLst>
            <a:glow rad="28575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2" name="Shape 102"/>
          <p:cNvSpPr/>
          <p:nvPr/>
        </p:nvSpPr>
        <p:spPr>
          <a:xfrm>
            <a:off x="5505450" y="4114800"/>
            <a:ext cx="3162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Spend approved within available budget</a:t>
            </a:r>
            <a:endParaRPr lang="en-US" sz="1100" dirty="0"/>
          </a:p>
        </p:txBody>
      </p:sp>
      <p:sp>
        <p:nvSpPr>
          <p:cNvPr id="103" name="Shape 103"/>
          <p:cNvSpPr/>
          <p:nvPr/>
        </p:nvSpPr>
        <p:spPr>
          <a:xfrm>
            <a:off x="5505450" y="4314825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CFE0D8"/>
                </a:solidFill>
                <a:latin typeface="Segoe UI"/>
                <a:cs typeface="Segoe UI"/>
              </a:rPr>
              <a:t>Final approval checked against the remaining source balance; utilization per CAPEX / OPEX source</a:t>
            </a:r>
            <a:endParaRPr lang="en-US" sz="850" dirty="0"/>
          </a:p>
        </p:txBody>
      </p:sp>
      <p:sp>
        <p:nvSpPr>
          <p:cNvPr id="104" name="Shape 104"/>
          <p:cNvSpPr/>
          <p:nvPr/>
        </p:nvSpPr>
        <p:spPr>
          <a:xfrm>
            <a:off x="8858250" y="4057650"/>
            <a:ext cx="2800350" cy="590550"/>
          </a:xfrm>
          <a:prstGeom prst="roundRect">
            <a:avLst>
              <a:gd name="adj" fmla="val 10000"/>
            </a:avLst>
          </a:prstGeom>
          <a:solidFill>
            <a:srgbClr val="2EC4A6">
              <a:alpha val="8000"/>
            </a:srgbClr>
          </a:solidFill>
          <a:ln w="7144" cap="rnd">
            <a:solidFill>
              <a:srgbClr val="3FD6C3">
                <a:alpha val="60000"/>
              </a:srgbClr>
            </a:solidFill>
            <a:prstDash val="dash"/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5" name="Shape 105"/>
          <p:cNvSpPr/>
          <p:nvPr/>
        </p:nvSpPr>
        <p:spPr>
          <a:xfrm>
            <a:off x="8972550" y="4257675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2EC4A6">
              <a:alpha val="2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FD9C0"/>
                </a:solidFill>
                <a:latin typeface="Segoe UI"/>
                <a:cs typeface="Segoe UI"/>
              </a:rPr>
              <a:t>KPI</a:t>
            </a:r>
            <a:endParaRPr lang="en-US" sz="650" dirty="0"/>
          </a:p>
        </p:txBody>
      </p:sp>
      <p:sp>
        <p:nvSpPr>
          <p:cNvPr id="106" name="Shape 106"/>
          <p:cNvSpPr/>
          <p:nvPr/>
        </p:nvSpPr>
        <p:spPr>
          <a:xfrm>
            <a:off x="9334500" y="4057650"/>
            <a:ext cx="22479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EAF4F0"/>
                </a:solidFill>
                <a:latin typeface="Segoe UI"/>
                <a:cs typeface="Segoe UI"/>
              </a:rPr>
              <a:t>Utilization vs. budget by CAPEX / OPEX source</a:t>
            </a:r>
            <a:endParaRPr lang="en-US" sz="900" dirty="0"/>
          </a:p>
        </p:txBody>
      </p:sp>
      <p:sp>
        <p:nvSpPr>
          <p:cNvPr id="107" name="Shape 107"/>
          <p:cNvSpPr/>
          <p:nvPr/>
        </p:nvSpPr>
        <p:spPr>
          <a:xfrm>
            <a:off x="533400" y="4705350"/>
            <a:ext cx="2324100" cy="5905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8" name="Shape 108"/>
          <p:cNvSpPr/>
          <p:nvPr/>
        </p:nvSpPr>
        <p:spPr>
          <a:xfrm>
            <a:off x="647700" y="4810125"/>
            <a:ext cx="381000" cy="381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1C9A72"/>
              </a:gs>
              <a:gs pos="100000">
                <a:srgbClr val="0B4A36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2EC4A6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09" name="Shape 109"/>
          <p:cNvSpPr/>
          <p:nvPr/>
        </p:nvSpPr>
        <p:spPr>
          <a:xfrm>
            <a:off x="762000" y="4901565"/>
            <a:ext cx="152400" cy="198120"/>
          </a:xfrm>
          <a:prstGeom prst="flowChartMagneticDisk">
            <a:avLst/>
          </a:pr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0" name="Shape 110"/>
          <p:cNvSpPr/>
          <p:nvPr/>
        </p:nvSpPr>
        <p:spPr>
          <a:xfrm>
            <a:off x="762000" y="4977765"/>
            <a:ext cx="152400" cy="45720"/>
          </a:xfrm>
          <a:custGeom>
            <a:avLst/>
            <a:gdLst/>
            <a:ahLst/>
            <a:cxnLst/>
            <a:rect l="l" t="t" r="r" b="b"/>
            <a:pathLst>
              <a:path w="100" h="100" fill="none">
                <a:moveTo>
                  <a:pt x="0" y="0"/>
                </a:moveTo>
                <a:cubicBezTo>
                  <a:pt x="0" y="100"/>
                  <a:pt x="100" y="100"/>
                  <a:pt x="100" y="0"/>
                </a:cubicBezTo>
              </a:path>
            </a:pathLst>
          </a:custGeom>
          <a:noFill/>
          <a:ln w="19050" cap="rnd">
            <a:solidFill>
              <a:srgbClr val="FFFFFF"/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1" name="Shape 111"/>
          <p:cNvSpPr/>
          <p:nvPr/>
        </p:nvSpPr>
        <p:spPr>
          <a:xfrm>
            <a:off x="1123950" y="4705350"/>
            <a:ext cx="1676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Data consistency</a:t>
            </a:r>
            <a:endParaRPr lang="en-US" sz="1200" dirty="0"/>
          </a:p>
        </p:txBody>
      </p:sp>
      <p:sp>
        <p:nvSpPr>
          <p:cNvPr id="112" name="Shape 112"/>
          <p:cNvSpPr/>
          <p:nvPr/>
        </p:nvSpPr>
        <p:spPr>
          <a:xfrm>
            <a:off x="2971800" y="4705350"/>
            <a:ext cx="1981200" cy="59055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7144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3" name="Shape 113"/>
          <p:cNvSpPr/>
          <p:nvPr/>
        </p:nvSpPr>
        <p:spPr>
          <a:xfrm>
            <a:off x="3086100" y="4705350"/>
            <a:ext cx="17716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A9BBB4"/>
                </a:solidFill>
                <a:latin typeface="Segoe UI"/>
                <a:cs typeface="Segoe UI"/>
              </a:rPr>
              <a:t>Intake, ownership and sizing captured differently per team</a:t>
            </a:r>
            <a:endParaRPr lang="en-US" sz="900" dirty="0"/>
          </a:p>
        </p:txBody>
      </p:sp>
      <p:sp>
        <p:nvSpPr>
          <p:cNvPr id="114" name="Shape 114"/>
          <p:cNvSpPr/>
          <p:nvPr/>
        </p:nvSpPr>
        <p:spPr>
          <a:xfrm>
            <a:off x="5048250" y="4905375"/>
            <a:ext cx="247650" cy="19050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5" name="Shape 115"/>
          <p:cNvSpPr/>
          <p:nvPr/>
        </p:nvSpPr>
        <p:spPr>
          <a:xfrm>
            <a:off x="5372100" y="4705350"/>
            <a:ext cx="3371850" cy="59055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 w="7144" cap="rnd">
            <a:solidFill>
              <a:srgbClr val="3FD6C3">
                <a:alpha val="35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6" name="Shape 116"/>
          <p:cNvSpPr/>
          <p:nvPr/>
        </p:nvSpPr>
        <p:spPr>
          <a:xfrm>
            <a:off x="5372100" y="4781550"/>
            <a:ext cx="381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FD6C3"/>
              </a:gs>
              <a:gs pos="100000">
                <a:srgbClr val="E3B85A"/>
              </a:gs>
            </a:gsLst>
            <a:lin ang="5400000" scaled="0"/>
          </a:gradFill>
          <a:ln>
            <a:noFill/>
          </a:ln>
          <a:effectLst>
            <a:glow rad="28575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17" name="Shape 117"/>
          <p:cNvSpPr/>
          <p:nvPr/>
        </p:nvSpPr>
        <p:spPr>
          <a:xfrm>
            <a:off x="5505450" y="4762500"/>
            <a:ext cx="3162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Comparable, reliable project data</a:t>
            </a:r>
            <a:endParaRPr lang="en-US" sz="1100" dirty="0"/>
          </a:p>
        </p:txBody>
      </p:sp>
      <p:sp>
        <p:nvSpPr>
          <p:cNvPr id="118" name="Shape 118"/>
          <p:cNvSpPr/>
          <p:nvPr/>
        </p:nvSpPr>
        <p:spPr>
          <a:xfrm>
            <a:off x="5505450" y="4962525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CFE0D8"/>
                </a:solidFill>
                <a:latin typeface="Segoe UI"/>
                <a:cs typeface="Segoe UI"/>
              </a:rPr>
              <a:t>Standard registration, scheduled JIRA sync, 7-criteria weighted sizing and upload templates</a:t>
            </a:r>
            <a:endParaRPr lang="en-US" sz="850" dirty="0"/>
          </a:p>
        </p:txBody>
      </p:sp>
      <p:sp>
        <p:nvSpPr>
          <p:cNvPr id="119" name="Shape 119"/>
          <p:cNvSpPr/>
          <p:nvPr/>
        </p:nvSpPr>
        <p:spPr>
          <a:xfrm>
            <a:off x="8858250" y="4705350"/>
            <a:ext cx="2800350" cy="590550"/>
          </a:xfrm>
          <a:prstGeom prst="roundRect">
            <a:avLst>
              <a:gd name="adj" fmla="val 10000"/>
            </a:avLst>
          </a:prstGeom>
          <a:solidFill>
            <a:srgbClr val="2EC4A6">
              <a:alpha val="8000"/>
            </a:srgbClr>
          </a:solidFill>
          <a:ln w="7144" cap="rnd">
            <a:solidFill>
              <a:srgbClr val="3FD6C3">
                <a:alpha val="60000"/>
              </a:srgbClr>
            </a:solidFill>
            <a:prstDash val="dash"/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0" name="Shape 120"/>
          <p:cNvSpPr/>
          <p:nvPr/>
        </p:nvSpPr>
        <p:spPr>
          <a:xfrm>
            <a:off x="8972550" y="4905375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2EC4A6">
              <a:alpha val="2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FD9C0"/>
                </a:solidFill>
                <a:latin typeface="Segoe UI"/>
                <a:cs typeface="Segoe UI"/>
              </a:rPr>
              <a:t>KPI</a:t>
            </a:r>
            <a:endParaRPr lang="en-US" sz="650" dirty="0"/>
          </a:p>
        </p:txBody>
      </p:sp>
      <p:sp>
        <p:nvSpPr>
          <p:cNvPr id="121" name="Shape 121"/>
          <p:cNvSpPr/>
          <p:nvPr/>
        </p:nvSpPr>
        <p:spPr>
          <a:xfrm>
            <a:off x="9334500" y="4705350"/>
            <a:ext cx="22479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EAF4F0"/>
                </a:solidFill>
                <a:latin typeface="Segoe UI"/>
                <a:cs typeface="Segoe UI"/>
              </a:rPr>
              <a:t>% of projects with complete owners and sizing</a:t>
            </a:r>
            <a:endParaRPr lang="en-US" sz="900" dirty="0"/>
          </a:p>
        </p:txBody>
      </p:sp>
      <p:sp>
        <p:nvSpPr>
          <p:cNvPr id="122" name="Shape 122"/>
          <p:cNvSpPr/>
          <p:nvPr/>
        </p:nvSpPr>
        <p:spPr>
          <a:xfrm>
            <a:off x="533400" y="5353050"/>
            <a:ext cx="2324100" cy="5905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0"/>
          </a:gradFill>
          <a:ln w="7144" cap="rnd">
            <a:solidFill>
              <a:srgbClr val="FFFFFF">
                <a:alpha val="22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3" name="Shape 123"/>
          <p:cNvSpPr/>
          <p:nvPr/>
        </p:nvSpPr>
        <p:spPr>
          <a:xfrm>
            <a:off x="647700" y="5457825"/>
            <a:ext cx="381000" cy="381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28B3A3"/>
              </a:gs>
              <a:gs pos="100000">
                <a:srgbClr val="0E5A57"/>
              </a:gs>
            </a:gsLst>
            <a:lin ang="2700000" scaled="0"/>
          </a:gradFill>
          <a:ln w="7144" cap="rnd">
            <a:solidFill>
              <a:srgbClr val="FFFFFF">
                <a:alpha val="30000"/>
              </a:srgbClr>
            </a:solidFill>
            <a:round/>
          </a:ln>
          <a:effectLst>
            <a:glow rad="66675">
              <a:srgbClr val="3FD6C3">
                <a:alpha val="38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4" name="Shape 124"/>
          <p:cNvSpPr/>
          <p:nvPr/>
        </p:nvSpPr>
        <p:spPr>
          <a:xfrm>
            <a:off x="762000" y="5534025"/>
            <a:ext cx="152400" cy="228600"/>
          </a:xfrm>
          <a:prstGeom prst="lightningBol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5" name="Shape 125"/>
          <p:cNvSpPr/>
          <p:nvPr/>
        </p:nvSpPr>
        <p:spPr>
          <a:xfrm>
            <a:off x="1123950" y="5353050"/>
            <a:ext cx="1676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Operational efficiency</a:t>
            </a:r>
            <a:endParaRPr lang="en-US" sz="1200" dirty="0"/>
          </a:p>
        </p:txBody>
      </p:sp>
      <p:sp>
        <p:nvSpPr>
          <p:cNvPr id="126" name="Shape 126"/>
          <p:cNvSpPr/>
          <p:nvPr/>
        </p:nvSpPr>
        <p:spPr>
          <a:xfrm>
            <a:off x="2971800" y="5353050"/>
            <a:ext cx="1981200" cy="59055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7144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7" name="Shape 127"/>
          <p:cNvSpPr/>
          <p:nvPr/>
        </p:nvSpPr>
        <p:spPr>
          <a:xfrm>
            <a:off x="3086100" y="5353050"/>
            <a:ext cx="17716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A9BBB4"/>
                </a:solidFill>
                <a:latin typeface="Segoe UI"/>
                <a:cs typeface="Segoe UI"/>
              </a:rPr>
              <a:t>Manual consolidation, follow-ups and document chasing</a:t>
            </a:r>
            <a:endParaRPr lang="en-US" sz="900" dirty="0"/>
          </a:p>
        </p:txBody>
      </p:sp>
      <p:sp>
        <p:nvSpPr>
          <p:cNvPr id="128" name="Shape 128"/>
          <p:cNvSpPr/>
          <p:nvPr/>
        </p:nvSpPr>
        <p:spPr>
          <a:xfrm>
            <a:off x="5048250" y="5553075"/>
            <a:ext cx="247650" cy="190500"/>
          </a:xfrm>
          <a:prstGeom prst="rightArrow">
            <a:avLst/>
          </a:prstGeom>
          <a:gradFill rotWithShape="1">
            <a:gsLst>
              <a:gs pos="0">
                <a:srgbClr val="E3B85A"/>
              </a:gs>
              <a:gs pos="100000">
                <a:srgbClr val="A87816"/>
              </a:gs>
            </a:gsLst>
            <a:lin ang="5400000" scaled="0"/>
          </a:gradFill>
          <a:ln>
            <a:noFill/>
          </a:ln>
          <a:effectLst>
            <a:glow rad="57150">
              <a:srgbClr val="E3B85A">
                <a:alpha val="45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29" name="Shape 129"/>
          <p:cNvSpPr/>
          <p:nvPr/>
        </p:nvSpPr>
        <p:spPr>
          <a:xfrm>
            <a:off x="5372100" y="5353050"/>
            <a:ext cx="3371850" cy="59055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 w="7144" cap="rnd">
            <a:solidFill>
              <a:srgbClr val="3FD6C3">
                <a:alpha val="35000"/>
              </a:srgbClr>
            </a:solidFill>
            <a:round/>
          </a:ln>
          <a:effectLst>
            <a:outerShdw blurRad="266700" dist="95250" dir="5400000" algn="t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0" name="Shape 130"/>
          <p:cNvSpPr/>
          <p:nvPr/>
        </p:nvSpPr>
        <p:spPr>
          <a:xfrm>
            <a:off x="5372100" y="5429250"/>
            <a:ext cx="38100" cy="438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FD6C3"/>
              </a:gs>
              <a:gs pos="100000">
                <a:srgbClr val="E3B85A"/>
              </a:gs>
            </a:gsLst>
            <a:lin ang="5400000" scaled="0"/>
          </a:gradFill>
          <a:ln>
            <a:noFill/>
          </a:ln>
          <a:effectLst>
            <a:glow rad="28575">
              <a:srgbClr val="2EC4A6">
                <a:alpha val="5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1" name="Shape 131"/>
          <p:cNvSpPr/>
          <p:nvPr/>
        </p:nvSpPr>
        <p:spPr>
          <a:xfrm>
            <a:off x="5505450" y="5410200"/>
            <a:ext cx="3162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Less admin effort, faster decisions</a:t>
            </a:r>
            <a:endParaRPr lang="en-US" sz="1100" dirty="0"/>
          </a:p>
        </p:txBody>
      </p:sp>
      <p:sp>
        <p:nvSpPr>
          <p:cNvPr id="132" name="Shape 132"/>
          <p:cNvSpPr/>
          <p:nvPr/>
        </p:nvSpPr>
        <p:spPr>
          <a:xfrm>
            <a:off x="5505450" y="5610225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CFE0D8"/>
                </a:solidFill>
                <a:latin typeface="Segoe UI"/>
                <a:cs typeface="Segoe UI"/>
              </a:rPr>
              <a:t>Approval queue, bulk uploads and supporting documents in one place</a:t>
            </a:r>
            <a:endParaRPr lang="en-US" sz="850" dirty="0"/>
          </a:p>
        </p:txBody>
      </p:sp>
      <p:sp>
        <p:nvSpPr>
          <p:cNvPr id="133" name="Shape 133"/>
          <p:cNvSpPr/>
          <p:nvPr/>
        </p:nvSpPr>
        <p:spPr>
          <a:xfrm>
            <a:off x="8858250" y="5353050"/>
            <a:ext cx="2800350" cy="590550"/>
          </a:xfrm>
          <a:prstGeom prst="roundRect">
            <a:avLst>
              <a:gd name="adj" fmla="val 10000"/>
            </a:avLst>
          </a:prstGeom>
          <a:solidFill>
            <a:srgbClr val="2EC4A6">
              <a:alpha val="8000"/>
            </a:srgbClr>
          </a:solidFill>
          <a:ln w="7144" cap="rnd">
            <a:solidFill>
              <a:srgbClr val="3FD6C3">
                <a:alpha val="60000"/>
              </a:srgbClr>
            </a:solidFill>
            <a:prstDash val="dash"/>
            <a:round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4" name="Shape 134"/>
          <p:cNvSpPr/>
          <p:nvPr/>
        </p:nvSpPr>
        <p:spPr>
          <a:xfrm>
            <a:off x="8972550" y="5553075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2EC4A6">
              <a:alpha val="2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FD9C0"/>
                </a:solidFill>
                <a:latin typeface="Segoe UI"/>
                <a:cs typeface="Segoe UI"/>
              </a:rPr>
              <a:t>KPI</a:t>
            </a:r>
            <a:endParaRPr lang="en-US" sz="650" dirty="0"/>
          </a:p>
        </p:txBody>
      </p:sp>
      <p:sp>
        <p:nvSpPr>
          <p:cNvPr id="135" name="Shape 135"/>
          <p:cNvSpPr/>
          <p:nvPr/>
        </p:nvSpPr>
        <p:spPr>
          <a:xfrm>
            <a:off x="9334500" y="5353050"/>
            <a:ext cx="22479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EAF4F0"/>
                </a:solidFill>
                <a:latin typeface="Segoe UI"/>
                <a:cs typeface="Segoe UI"/>
              </a:rPr>
              <a:t>PETs pending beyond agreed SLA; sent-back rate</a:t>
            </a:r>
            <a:endParaRPr lang="en-US" sz="900" dirty="0"/>
          </a:p>
        </p:txBody>
      </p:sp>
      <p:sp>
        <p:nvSpPr>
          <p:cNvPr id="136" name="Shape 136"/>
          <p:cNvSpPr/>
          <p:nvPr/>
        </p:nvSpPr>
        <p:spPr>
          <a:xfrm>
            <a:off x="533400" y="6019800"/>
            <a:ext cx="111252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E3B85A"/>
                </a:solidFill>
                <a:latin typeface="Segoe UI"/>
                <a:cs typeface="Segoe UI"/>
              </a:rPr>
              <a:t>Measurement note:  </a:t>
            </a:r>
            <a:r>
              <a:rPr lang="en-US" sz="850" b="0" dirty="0">
                <a:solidFill>
                  <a:srgbClr val="9FBFB3"/>
                </a:solidFill>
                <a:latin typeface="Segoe UI"/>
                <a:cs typeface="Segoe UI"/>
              </a:rPr>
              <a:t>Falcon does not yet hold baselines for these KPIs; they are proposed for future tracking from Falcon's own data. 'Before' reflects typical manual-process challenges to be validated with DIB business owners. UI visuals are illustrative mockups.</a:t>
            </a:r>
            <a:endParaRPr lang="en-US" sz="850" dirty="0"/>
          </a:p>
        </p:txBody>
      </p:sp>
      <p:sp>
        <p:nvSpPr>
          <p:cNvPr id="137" name="Shape 137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gradFill rotWithShape="1">
            <a:gsLst>
              <a:gs pos="0">
                <a:srgbClr val="BD8B22">
                  <a:alpha val="0"/>
                </a:srgbClr>
              </a:gs>
              <a:gs pos="25000">
                <a:srgbClr val="BD8B22">
                  <a:alpha val="70000"/>
                </a:srgbClr>
              </a:gs>
              <a:gs pos="75000">
                <a:srgbClr val="2EC4A6">
                  <a:alpha val="55000"/>
                </a:srgbClr>
              </a:gs>
              <a:gs pos="100000">
                <a:srgbClr val="2EC4A6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8" name="Shape 138"/>
          <p:cNvSpPr/>
          <p:nvPr/>
        </p:nvSpPr>
        <p:spPr>
          <a:xfrm>
            <a:off x="533400" y="6610350"/>
            <a:ext cx="247650" cy="19050"/>
          </a:xfrm>
          <a:prstGeom prst="rect">
            <a:avLst/>
          </a:prstGeom>
          <a:solidFill>
            <a:srgbClr val="2EC4A6"/>
          </a:solidFill>
          <a:ln>
            <a:noFill/>
          </a:ln>
          <a:effectLst>
            <a:glow rad="38100">
              <a:srgbClr val="2EC4A6">
                <a:alpha val="60000"/>
              </a:srgbClr>
            </a:glo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39" name="Shape 139"/>
          <p:cNvSpPr/>
          <p:nvPr/>
        </p:nvSpPr>
        <p:spPr>
          <a:xfrm>
            <a:off x="876300" y="6543675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PREPARED FOR DIB MANAGEMENT   ·   03 / 03</a:t>
            </a:r>
            <a:endParaRPr lang="en-US" sz="750" dirty="0"/>
          </a:p>
        </p:txBody>
      </p:sp>
      <p:sp>
        <p:nvSpPr>
          <p:cNvPr id="140" name="Shape 140"/>
          <p:cNvSpPr/>
          <p:nvPr/>
        </p:nvSpPr>
        <p:spPr>
          <a:xfrm>
            <a:off x="6324600" y="6543675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750" b="1" spc="200" dirty="0">
                <a:solidFill>
                  <a:srgbClr val="9FBFB3"/>
                </a:solidFill>
                <a:latin typeface="Segoe UI"/>
                <a:cs typeface="Segoe UI"/>
              </a:rPr>
              <a:t>ONE PORTFOLIO   |   CLEAR OWNERSHIP   |   STRONGER CONTROL</a:t>
            </a:r>
            <a:endParaRPr lang="en-US" sz="75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Falcon Executive">
  <a:themeElements>
    <a:clrScheme name="Falcon">
      <a:dk1>
        <a:srgbClr val="1D2A24"/>
      </a:dk1>
      <a:lt1>
        <a:srgbClr val="FFFFFF"/>
      </a:lt1>
      <a:dk2>
        <a:srgbClr val="0B4A36"/>
      </a:dk2>
      <a:lt2>
        <a:srgbClr val="F3F6F4"/>
      </a:lt2>
      <a:accent1>
        <a:srgbClr val="0B4A36"/>
      </a:accent1>
      <a:accent2>
        <a:srgbClr val="BD8B22"/>
      </a:accent2>
      <a:accent3>
        <a:srgbClr val="2EC4A6"/>
      </a:accent3>
      <a:accent4>
        <a:srgbClr val="0E5A57"/>
      </a:accent4>
      <a:accent5>
        <a:srgbClr val="E3B85A"/>
      </a:accent5>
      <a:accent6>
        <a:srgbClr val="16805F"/>
      </a:accent6>
      <a:hlink>
        <a:srgbClr val="2EC4A6"/>
      </a:hlink>
      <a:folHlink>
        <a:srgbClr val="BD8B22"/>
      </a:folHlink>
    </a:clrScheme>
    <a:fontScheme name="Falc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alc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3</Slides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Falcon Portfolio Portal - DIB Management Executive Overview</dc:title>
  <dc:creator>Falcon Portfolio Portal</dc:creator>
  <dcterms:created xsi:type="dcterms:W3CDTF">2026-10-23T08:20:19Z</dcterms:created>
</cp:coreProperties>
</file>