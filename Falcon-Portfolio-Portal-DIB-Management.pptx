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Relationship Id="rId6" Type="http://schemas.openxmlformats.org/officeDocument/2006/relationships/presProps" Target="presProps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" name="Shape 3"/>
          <p:cNvSpPr/>
          <p:nvPr/>
        </p:nvSpPr>
        <p:spPr>
          <a:xfrm>
            <a:off x="0" y="647700"/>
            <a:ext cx="12192000" cy="38100"/>
          </a:xfrm>
          <a:prstGeom prst="rect">
            <a:avLst/>
          </a:prstGeom>
          <a:solidFill>
            <a:srgbClr val="BD8B22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81000" y="152400"/>
            <a:ext cx="342900" cy="342900"/>
          </a:xfrm>
          <a:prstGeom prst="roundRect">
            <a:avLst>
              <a:gd name="adj" fmla="val 18000"/>
            </a:avLst>
          </a:prstGeom>
          <a:solidFill>
            <a:srgbClr val="BD8B22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B4A36"/>
                </a:solidFill>
                <a:latin typeface="Segoe UI"/>
                <a:cs typeface="Segoe UI"/>
              </a:rPr>
              <a:t>F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838200" y="1333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500" b="1" spc="300" dirty="0">
                <a:solidFill>
                  <a:srgbClr val="FFFFFF"/>
                </a:solidFill>
                <a:latin typeface="Segoe UI"/>
                <a:cs typeface="Segoe UI"/>
              </a:rPr>
              <a:t>FALCON</a:t>
            </a:r>
            <a:endParaRPr lang="en-US" sz="1500" dirty="0"/>
          </a:p>
        </p:txBody>
      </p:sp>
      <p:sp>
        <p:nvSpPr>
          <p:cNvPr id="6" name="Shape 6"/>
          <p:cNvSpPr/>
          <p:nvPr/>
        </p:nvSpPr>
        <p:spPr>
          <a:xfrm>
            <a:off x="838200" y="3619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000" b="0" dirty="0">
                <a:solidFill>
                  <a:srgbClr val="D9C08A"/>
                </a:solidFill>
                <a:latin typeface="Segoe UI"/>
                <a:cs typeface="Segoe UI"/>
              </a:rPr>
              <a:t>Portfolio Portal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7429500" y="209550"/>
            <a:ext cx="4381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US" sz="1000" b="1" spc="150" dirty="0">
                <a:solidFill>
                  <a:srgbClr val="C7D5CE"/>
                </a:solidFill>
                <a:latin typeface="Segoe UI"/>
                <a:cs typeface="Segoe UI"/>
              </a:rPr>
              <a:t>DIB MANAGEMENT BRIEFING</a:t>
            </a:r>
            <a:endParaRPr lang="en-US" sz="1000" dirty="0"/>
          </a:p>
        </p:txBody>
      </p:sp>
      <p:sp>
        <p:nvSpPr>
          <p:cNvPr id="8" name="Shape 8"/>
          <p:cNvSpPr/>
          <p:nvPr/>
        </p:nvSpPr>
        <p:spPr>
          <a:xfrm>
            <a:off x="381000" y="6505575"/>
            <a:ext cx="11430000" cy="9525"/>
          </a:xfrm>
          <a:prstGeom prst="rect">
            <a:avLst/>
          </a:prstGeom>
          <a:solidFill>
            <a:srgbClr val="D5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381000" y="657225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1" spc="50" dirty="0">
                <a:solidFill>
                  <a:srgbClr val="5B6862"/>
                </a:solidFill>
                <a:latin typeface="Segoe UI"/>
                <a:cs typeface="Segoe UI"/>
              </a:rPr>
              <a:t>Falcon Portfolio Portal  ·  DIB Management Briefing</a:t>
            </a:r>
            <a:endParaRPr lang="en-US" sz="900" dirty="0"/>
          </a:p>
        </p:txBody>
      </p:sp>
      <p:sp>
        <p:nvSpPr>
          <p:cNvPr id="10" name="Shape 10"/>
          <p:cNvSpPr/>
          <p:nvPr/>
        </p:nvSpPr>
        <p:spPr>
          <a:xfrm>
            <a:off x="9906000" y="65722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US" sz="900" b="1" dirty="0">
                <a:solidFill>
                  <a:srgbClr val="0B4A36"/>
                </a:solidFill>
                <a:latin typeface="Segoe UI"/>
                <a:cs typeface="Segoe UI"/>
              </a:rPr>
              <a:t>01 / 03</a:t>
            </a:r>
            <a:endParaRPr lang="en-US" sz="900" dirty="0"/>
          </a:p>
        </p:txBody>
      </p:sp>
      <p:sp>
        <p:nvSpPr>
          <p:cNvPr id="11" name="Shape 11"/>
          <p:cNvSpPr/>
          <p:nvPr/>
        </p:nvSpPr>
        <p:spPr>
          <a:xfrm>
            <a:off x="381000" y="838200"/>
            <a:ext cx="7620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000" b="1" spc="200" dirty="0">
                <a:solidFill>
                  <a:srgbClr val="BD8B22"/>
                </a:solidFill>
                <a:latin typeface="Segoe UI"/>
                <a:cs typeface="Segoe UI"/>
              </a:rPr>
              <a:t>BUSINESS VALUE &amp; KEY BENEFITS</a:t>
            </a:r>
            <a:endParaRPr lang="en-US" sz="1000" dirty="0"/>
          </a:p>
        </p:txBody>
      </p:sp>
      <p:sp>
        <p:nvSpPr>
          <p:cNvPr id="12" name="Shape 12"/>
          <p:cNvSpPr/>
          <p:nvPr/>
        </p:nvSpPr>
        <p:spPr>
          <a:xfrm>
            <a:off x="381000" y="1028700"/>
            <a:ext cx="10477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2600" b="1" dirty="0">
                <a:solidFill>
                  <a:srgbClr val="0B4A36"/>
                </a:solidFill>
                <a:latin typeface="Segoe UI"/>
                <a:cs typeface="Segoe UI"/>
              </a:rPr>
              <a:t>One governed portfolio record for DIB</a:t>
            </a:r>
            <a:endParaRPr lang="en-US" sz="2600" dirty="0"/>
          </a:p>
        </p:txBody>
      </p:sp>
      <p:sp>
        <p:nvSpPr>
          <p:cNvPr id="13" name="Shape 13"/>
          <p:cNvSpPr/>
          <p:nvPr/>
        </p:nvSpPr>
        <p:spPr>
          <a:xfrm>
            <a:off x="381000" y="14478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5B6862"/>
                </a:solidFill>
                <a:latin typeface="Segoe UI"/>
                <a:cs typeface="Segoe UI"/>
              </a:rPr>
              <a:t>Falcon replaces fragmented tracking with a single, controlled view of projects, owners, PET budgets and decisions.</a:t>
            </a:r>
            <a:endParaRPr lang="en-US" sz="1250" dirty="0"/>
          </a:p>
        </p:txBody>
      </p:sp>
      <p:sp>
        <p:nvSpPr>
          <p:cNvPr id="14" name="Shape 14"/>
          <p:cNvSpPr/>
          <p:nvPr/>
        </p:nvSpPr>
        <p:spPr>
          <a:xfrm>
            <a:off x="381000" y="1866900"/>
            <a:ext cx="2857500" cy="4305300"/>
          </a:xfrm>
          <a:prstGeom prst="rect">
            <a:avLst/>
          </a:prstGeom>
          <a:solidFill>
            <a:srgbClr val="F3F4F2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571500" y="2019300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50" b="1" spc="150" dirty="0">
                <a:solidFill>
                  <a:srgbClr val="5B6862"/>
                </a:solidFill>
                <a:latin typeface="Segoe UI"/>
                <a:cs typeface="Segoe UI"/>
              </a:rPr>
              <a:t>BUSINESS CHALLENGES ADDRESSED</a:t>
            </a:r>
            <a:endParaRPr lang="en-US" sz="950" dirty="0"/>
          </a:p>
        </p:txBody>
      </p:sp>
      <p:sp>
        <p:nvSpPr>
          <p:cNvPr id="16" name="Shape 16"/>
          <p:cNvSpPr/>
          <p:nvPr/>
        </p:nvSpPr>
        <p:spPr>
          <a:xfrm>
            <a:off x="571500" y="2381250"/>
            <a:ext cx="285750" cy="285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B918E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8B918E"/>
                </a:solidFill>
                <a:latin typeface="Segoe UI"/>
                <a:cs typeface="Segoe UI"/>
              </a:rPr>
              <a:t>1</a:t>
            </a:r>
            <a:endParaRPr lang="en-US" sz="1100" dirty="0"/>
          </a:p>
        </p:txBody>
      </p:sp>
      <p:sp>
        <p:nvSpPr>
          <p:cNvPr id="17" name="Shape 17"/>
          <p:cNvSpPr/>
          <p:nvPr/>
        </p:nvSpPr>
        <p:spPr>
          <a:xfrm>
            <a:off x="971550" y="2343150"/>
            <a:ext cx="21145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1D2A24"/>
                </a:solidFill>
                <a:latin typeface="Segoe UI"/>
                <a:cs typeface="Segoe UI"/>
              </a:rPr>
              <a:t>Project information scattered across JIRA, spreadsheets and email</a:t>
            </a:r>
            <a:endParaRPr lang="en-US" sz="1200" dirty="0"/>
          </a:p>
        </p:txBody>
      </p:sp>
      <p:sp>
        <p:nvSpPr>
          <p:cNvPr id="18" name="Shape 18"/>
          <p:cNvSpPr/>
          <p:nvPr/>
        </p:nvSpPr>
        <p:spPr>
          <a:xfrm>
            <a:off x="571500" y="3219450"/>
            <a:ext cx="285750" cy="285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B918E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8B918E"/>
                </a:solidFill>
                <a:latin typeface="Segoe UI"/>
                <a:cs typeface="Segoe UI"/>
              </a:rPr>
              <a:t>2</a:t>
            </a:r>
            <a:endParaRPr lang="en-US" sz="1100" dirty="0"/>
          </a:p>
        </p:txBody>
      </p:sp>
      <p:sp>
        <p:nvSpPr>
          <p:cNvPr id="19" name="Shape 19"/>
          <p:cNvSpPr/>
          <p:nvPr/>
        </p:nvSpPr>
        <p:spPr>
          <a:xfrm>
            <a:off x="971550" y="3181350"/>
            <a:ext cx="21145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1D2A24"/>
                </a:solidFill>
                <a:latin typeface="Segoe UI"/>
                <a:cs typeface="Segoe UI"/>
              </a:rPr>
              <a:t>Inconsistent intake, ownership and sizing data</a:t>
            </a:r>
            <a:endParaRPr lang="en-US" sz="1200" dirty="0"/>
          </a:p>
        </p:txBody>
      </p:sp>
      <p:sp>
        <p:nvSpPr>
          <p:cNvPr id="20" name="Shape 20"/>
          <p:cNvSpPr/>
          <p:nvPr/>
        </p:nvSpPr>
        <p:spPr>
          <a:xfrm>
            <a:off x="571500" y="4057650"/>
            <a:ext cx="285750" cy="285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B918E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8B918E"/>
                </a:solidFill>
                <a:latin typeface="Segoe UI"/>
                <a:cs typeface="Segoe UI"/>
              </a:rPr>
              <a:t>3</a:t>
            </a:r>
            <a:endParaRPr lang="en-US" sz="1100" dirty="0"/>
          </a:p>
        </p:txBody>
      </p:sp>
      <p:sp>
        <p:nvSpPr>
          <p:cNvPr id="21" name="Shape 21"/>
          <p:cNvSpPr/>
          <p:nvPr/>
        </p:nvSpPr>
        <p:spPr>
          <a:xfrm>
            <a:off x="971550" y="4019550"/>
            <a:ext cx="21145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1D2A24"/>
                </a:solidFill>
                <a:latin typeface="Segoe UI"/>
                <a:cs typeface="Segoe UI"/>
              </a:rPr>
              <a:t>Approval decisions hard to trace after the fact</a:t>
            </a:r>
            <a:endParaRPr lang="en-US" sz="1200" dirty="0"/>
          </a:p>
        </p:txBody>
      </p:sp>
      <p:sp>
        <p:nvSpPr>
          <p:cNvPr id="22" name="Shape 22"/>
          <p:cNvSpPr/>
          <p:nvPr/>
        </p:nvSpPr>
        <p:spPr>
          <a:xfrm>
            <a:off x="571500" y="4895850"/>
            <a:ext cx="285750" cy="2857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B918E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8B918E"/>
                </a:solidFill>
                <a:latin typeface="Segoe UI"/>
                <a:cs typeface="Segoe UI"/>
              </a:rPr>
              <a:t>4</a:t>
            </a:r>
            <a:endParaRPr lang="en-US" sz="1100" dirty="0"/>
          </a:p>
        </p:txBody>
      </p:sp>
      <p:sp>
        <p:nvSpPr>
          <p:cNvPr id="23" name="Shape 23"/>
          <p:cNvSpPr/>
          <p:nvPr/>
        </p:nvSpPr>
        <p:spPr>
          <a:xfrm>
            <a:off x="971550" y="4857750"/>
            <a:ext cx="21145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1D2A24"/>
                </a:solidFill>
                <a:latin typeface="Segoe UI"/>
                <a:cs typeface="Segoe UI"/>
              </a:rPr>
              <a:t>Limited line-of-sight from budget to commitment</a:t>
            </a:r>
            <a:endParaRPr lang="en-US" sz="1200" dirty="0"/>
          </a:p>
        </p:txBody>
      </p:sp>
      <p:sp>
        <p:nvSpPr>
          <p:cNvPr id="24" name="Shape 24"/>
          <p:cNvSpPr/>
          <p:nvPr/>
        </p:nvSpPr>
        <p:spPr>
          <a:xfrm>
            <a:off x="571500" y="5772150"/>
            <a:ext cx="25146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5B6862"/>
                </a:solidFill>
                <a:latin typeface="Segoe UI"/>
                <a:cs typeface="Segoe UI"/>
              </a:rPr>
              <a:t>Typical portfolio challenges, to be confirmed with business owners.</a:t>
            </a:r>
            <a:endParaRPr lang="en-US" sz="850" dirty="0"/>
          </a:p>
        </p:txBody>
      </p:sp>
      <p:sp>
        <p:nvSpPr>
          <p:cNvPr id="25" name="Shape 25"/>
          <p:cNvSpPr/>
          <p:nvPr/>
        </p:nvSpPr>
        <p:spPr>
          <a:xfrm>
            <a:off x="3295650" y="3714750"/>
            <a:ext cx="247650" cy="209550"/>
          </a:xfrm>
          <a:prstGeom prst="rightArrow">
            <a:avLst/>
          </a:prstGeom>
          <a:solidFill>
            <a:srgbClr val="BD8B22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6" name="Shape 26"/>
          <p:cNvSpPr/>
          <p:nvPr/>
        </p:nvSpPr>
        <p:spPr>
          <a:xfrm>
            <a:off x="3448050" y="1962150"/>
            <a:ext cx="22479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850" b="1" spc="100" dirty="0">
                <a:solidFill>
                  <a:srgbClr val="5B6862"/>
                </a:solidFill>
                <a:latin typeface="Segoe UI"/>
                <a:cs typeface="Segoe UI"/>
              </a:rPr>
              <a:t>WHAT FALCON BRINGS TOGETHER</a:t>
            </a:r>
            <a:endParaRPr lang="en-US" sz="850" dirty="0"/>
          </a:p>
          <a:p>
            <a:pPr algn="ctr">
              <a:spcBef>
                <a:spcPts val="400"/>
              </a:spcBef>
              <a:buNone/>
            </a:pPr>
            <a:r>
              <a:rPr lang="en-US" sz="1050" b="1" dirty="0">
                <a:solidFill>
                  <a:srgbClr val="0B4A36"/>
                </a:solidFill>
                <a:latin typeface="Segoe UI"/>
                <a:cs typeface="Segoe UI"/>
              </a:rPr>
              <a:t>Projects · Owners · PETs · Budgets · Decisions</a:t>
            </a:r>
            <a:endParaRPr lang="en-US" sz="1050" dirty="0"/>
          </a:p>
        </p:txBody>
      </p:sp>
      <p:sp>
        <p:nvSpPr>
          <p:cNvPr id="27" name="Shape 27"/>
          <p:cNvSpPr/>
          <p:nvPr/>
        </p:nvSpPr>
        <p:spPr>
          <a:xfrm>
            <a:off x="3543300" y="2781300"/>
            <a:ext cx="2057400" cy="2057400"/>
          </a:xfrm>
          <a:prstGeom prst="ellipse">
            <a:avLst/>
          </a:prstGeom>
          <a:noFill/>
          <a:ln w="19050">
            <a:solidFill>
              <a:srgbClr val="BD8B22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8" name="Shape 28"/>
          <p:cNvSpPr/>
          <p:nvPr/>
        </p:nvSpPr>
        <p:spPr>
          <a:xfrm>
            <a:off x="3657600" y="2895600"/>
            <a:ext cx="1828800" cy="1828800"/>
          </a:xfrm>
          <a:prstGeom prst="ellipse">
            <a:avLst/>
          </a:prstGeom>
          <a:solidFill>
            <a:srgbClr val="0B4A36"/>
          </a:solidFill>
          <a:ln>
            <a:noFill/>
          </a:ln>
        </p:spPr>
        <p:txBody>
          <a:bodyPr wrap="square" lIns="171450" tIns="0" rIns="171450" bIns="0" anchor="ctr" rtlCol="0">
            <a:noAutofit/>
          </a:bodyPr>
          <a:lstStyle/>
          <a:p>
            <a:pPr algn="ctr">
              <a:buNone/>
            </a:pPr>
            <a:r>
              <a:rPr lang="en-US" sz="1800" b="1" spc="300" dirty="0">
                <a:solidFill>
                  <a:srgbClr val="FFFFFF"/>
                </a:solidFill>
                <a:latin typeface="Segoe UI"/>
                <a:cs typeface="Segoe UI"/>
              </a:rPr>
              <a:t>FALCON</a:t>
            </a:r>
            <a:endParaRPr lang="en-US" sz="1800" dirty="0"/>
          </a:p>
          <a:p>
            <a:pPr algn="ctr">
              <a:spcBef>
                <a:spcPts val="400"/>
              </a:spcBef>
              <a:buNone/>
            </a:pPr>
            <a:r>
              <a:rPr lang="en-US" sz="1050" b="0" dirty="0">
                <a:solidFill>
                  <a:srgbClr val="D9E5DF"/>
                </a:solidFill>
                <a:latin typeface="Segoe UI"/>
                <a:cs typeface="Segoe UI"/>
              </a:rPr>
              <a:t>One governed portfolio record</a:t>
            </a:r>
            <a:endParaRPr lang="en-US" sz="1050" dirty="0"/>
          </a:p>
        </p:txBody>
      </p:sp>
      <p:sp>
        <p:nvSpPr>
          <p:cNvPr id="29" name="Shape 29"/>
          <p:cNvSpPr/>
          <p:nvPr/>
        </p:nvSpPr>
        <p:spPr>
          <a:xfrm>
            <a:off x="3448050" y="5067300"/>
            <a:ext cx="2247900" cy="1104900"/>
          </a:xfrm>
          <a:prstGeom prst="roundRect">
            <a:avLst>
              <a:gd name="adj" fmla="val 8000"/>
            </a:avLst>
          </a:prstGeom>
          <a:solidFill>
            <a:srgbClr val="F7EEDB"/>
          </a:solidFill>
          <a:ln w="9525">
            <a:solidFill>
              <a:srgbClr val="BD8B22"/>
            </a:solidFill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>
              <a:buNone/>
            </a:pPr>
            <a:r>
              <a:rPr lang="en-US" sz="900" b="1" spc="150" dirty="0">
                <a:solidFill>
                  <a:srgbClr val="BD8B22"/>
                </a:solidFill>
                <a:latin typeface="Segoe UI"/>
                <a:cs typeface="Segoe UI"/>
              </a:rPr>
              <a:t>VALUE TO DIB</a:t>
            </a:r>
            <a:endParaRPr lang="en-US" sz="900" dirty="0"/>
          </a:p>
          <a:p>
            <a:pPr algn="ctr"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0B4A36"/>
                </a:solidFill>
                <a:latin typeface="Segoe UI"/>
                <a:cs typeface="Segoe UI"/>
              </a:rPr>
              <a:t>Stronger control</a:t>
            </a:r>
            <a:endParaRPr lang="en-US" sz="1250" dirty="0"/>
          </a:p>
          <a:p>
            <a:pPr algn="ctr">
              <a:spcBef>
                <a:spcPts val="200"/>
              </a:spcBef>
              <a:buNone/>
            </a:pPr>
            <a:r>
              <a:rPr lang="en-US" sz="1250" b="1" dirty="0">
                <a:solidFill>
                  <a:srgbClr val="0B4A36"/>
                </a:solidFill>
                <a:latin typeface="Segoe UI"/>
                <a:cs typeface="Segoe UI"/>
              </a:rPr>
              <a:t>Clear ownership</a:t>
            </a:r>
            <a:endParaRPr lang="en-US" sz="1250" dirty="0"/>
          </a:p>
          <a:p>
            <a:pPr algn="ctr">
              <a:spcBef>
                <a:spcPts val="200"/>
              </a:spcBef>
              <a:buNone/>
            </a:pPr>
            <a:r>
              <a:rPr lang="en-US" sz="1250" b="1" dirty="0">
                <a:solidFill>
                  <a:srgbClr val="0B4A36"/>
                </a:solidFill>
                <a:latin typeface="Segoe UI"/>
                <a:cs typeface="Segoe UI"/>
              </a:rPr>
              <a:t>Evidence-based decisions</a:t>
            </a:r>
            <a:endParaRPr lang="en-US" sz="1250" dirty="0"/>
          </a:p>
        </p:txBody>
      </p:sp>
      <p:cxnSp>
        <p:nvCxnSpPr>
          <p:cNvPr id="30" name="Connector 30"/>
          <p:cNvCxnSpPr/>
          <p:nvPr/>
        </p:nvCxnSpPr>
        <p:spPr>
          <a:xfrm flipV="1">
            <a:off x="5600700" y="2247900"/>
            <a:ext cx="381000" cy="1562100"/>
          </a:xfrm>
          <a:prstGeom prst="line">
            <a:avLst/>
          </a:prstGeom>
          <a:ln w="11906">
            <a:solidFill>
              <a:srgbClr val="BD8B22"/>
            </a:solidFill>
            <a:tailEnd type="oval" w="med" len="med"/>
          </a:ln>
        </p:spPr>
      </p:cxnSp>
      <p:sp>
        <p:nvSpPr>
          <p:cNvPr id="31" name="Shape 31"/>
          <p:cNvSpPr/>
          <p:nvPr/>
        </p:nvSpPr>
        <p:spPr>
          <a:xfrm>
            <a:off x="5981700" y="1866900"/>
            <a:ext cx="58293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8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2" name="Shape 32"/>
          <p:cNvSpPr/>
          <p:nvPr/>
        </p:nvSpPr>
        <p:spPr>
          <a:xfrm>
            <a:off x="5981700" y="1866900"/>
            <a:ext cx="47625" cy="76200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3" name="Shape 33"/>
          <p:cNvSpPr/>
          <p:nvPr/>
        </p:nvSpPr>
        <p:spPr>
          <a:xfrm>
            <a:off x="6172200" y="2057400"/>
            <a:ext cx="381000" cy="381000"/>
          </a:xfrm>
          <a:prstGeom prst="ellipse">
            <a:avLst/>
          </a:prstGeom>
          <a:solidFill>
            <a:srgbClr val="EAF2E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B4A36"/>
                </a:solidFill>
                <a:latin typeface="Segoe UI"/>
                <a:cs typeface="Segoe UI"/>
              </a:rPr>
              <a:t>01</a:t>
            </a:r>
            <a:endParaRPr lang="en-US" sz="1200" dirty="0"/>
          </a:p>
        </p:txBody>
      </p:sp>
      <p:sp>
        <p:nvSpPr>
          <p:cNvPr id="34" name="Shape 34"/>
          <p:cNvSpPr/>
          <p:nvPr/>
        </p:nvSpPr>
        <p:spPr>
          <a:xfrm>
            <a:off x="6686550" y="1962150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0B4A36"/>
                </a:solidFill>
                <a:latin typeface="Segoe UI"/>
                <a:cs typeface="Segoe UI"/>
              </a:rPr>
              <a:t>Centralized portfolio visibility</a:t>
            </a:r>
            <a:endParaRPr lang="en-US" sz="1250" dirty="0"/>
          </a:p>
        </p:txBody>
      </p:sp>
      <p:sp>
        <p:nvSpPr>
          <p:cNvPr id="35" name="Shape 35"/>
          <p:cNvSpPr/>
          <p:nvPr/>
        </p:nvSpPr>
        <p:spPr>
          <a:xfrm>
            <a:off x="6686550" y="2209800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1D2A24"/>
                </a:solidFill>
                <a:latin typeface="Segoe UI"/>
                <a:cs typeface="Segoe UI"/>
              </a:rPr>
              <a:t>One place to see every project, PET, budget line and invoice</a:t>
            </a:r>
            <a:endParaRPr lang="en-US" sz="1100" dirty="0"/>
          </a:p>
        </p:txBody>
      </p:sp>
      <p:sp>
        <p:nvSpPr>
          <p:cNvPr id="36" name="Shape 36"/>
          <p:cNvSpPr/>
          <p:nvPr/>
        </p:nvSpPr>
        <p:spPr>
          <a:xfrm>
            <a:off x="9925050" y="1943100"/>
            <a:ext cx="1809750" cy="60960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txBody>
          <a:bodyPr wrap="square" lIns="76200" tIns="38100" rIns="76200" bIns="38100" anchor="ctr" rtlCol="0">
            <a:noAutofit/>
          </a:bodyPr>
          <a:lstStyle/>
          <a:p>
            <a:pPr algn="l">
              <a:buNone/>
            </a:pPr>
            <a:r>
              <a:rPr lang="en-US" sz="750" b="1" spc="100" dirty="0">
                <a:solidFill>
                  <a:srgbClr val="1F6B4F"/>
                </a:solidFill>
                <a:latin typeface="Segoe UI"/>
                <a:cs typeface="Segoe UI"/>
              </a:rPr>
              <a:t>ENABLED BY  (IN PORTAL)</a:t>
            </a:r>
            <a:endParaRPr lang="en-US" sz="750" dirty="0"/>
          </a:p>
          <a:p>
            <a:pPr algn="l">
              <a:spcBef>
                <a:spcPts val="200"/>
              </a:spcBef>
              <a:buNone/>
            </a:pPr>
            <a:r>
              <a:rPr lang="en-US" sz="850" b="0" dirty="0">
                <a:solidFill>
                  <a:srgbClr val="1D2A24"/>
                </a:solidFill>
                <a:latin typeface="Segoe UI"/>
                <a:cs typeface="Segoe UI"/>
              </a:rPr>
              <a:t>Portfolio register · Management report · CAPEX/OPEX utilization</a:t>
            </a:r>
            <a:endParaRPr lang="en-US" sz="850" dirty="0"/>
          </a:p>
        </p:txBody>
      </p:sp>
      <p:cxnSp>
        <p:nvCxnSpPr>
          <p:cNvPr id="37" name="Connector 37"/>
          <p:cNvCxnSpPr/>
          <p:nvPr/>
        </p:nvCxnSpPr>
        <p:spPr>
          <a:xfrm flipV="1">
            <a:off x="5600700" y="3114675"/>
            <a:ext cx="381000" cy="695325"/>
          </a:xfrm>
          <a:prstGeom prst="line">
            <a:avLst/>
          </a:prstGeom>
          <a:ln w="11906">
            <a:solidFill>
              <a:srgbClr val="BD8B22"/>
            </a:solidFill>
            <a:tailEnd type="oval" w="med" len="med"/>
          </a:ln>
        </p:spPr>
      </p:cxnSp>
      <p:sp>
        <p:nvSpPr>
          <p:cNvPr id="38" name="Shape 38"/>
          <p:cNvSpPr/>
          <p:nvPr/>
        </p:nvSpPr>
        <p:spPr>
          <a:xfrm>
            <a:off x="5981700" y="2733675"/>
            <a:ext cx="58293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8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9" name="Shape 39"/>
          <p:cNvSpPr/>
          <p:nvPr/>
        </p:nvSpPr>
        <p:spPr>
          <a:xfrm>
            <a:off x="5981700" y="2733675"/>
            <a:ext cx="47625" cy="762000"/>
          </a:xfrm>
          <a:prstGeom prst="rect">
            <a:avLst/>
          </a:prstGeom>
          <a:solidFill>
            <a:srgbClr val="BD8B22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0" name="Shape 40"/>
          <p:cNvSpPr/>
          <p:nvPr/>
        </p:nvSpPr>
        <p:spPr>
          <a:xfrm>
            <a:off x="6172200" y="2924175"/>
            <a:ext cx="381000" cy="381000"/>
          </a:xfrm>
          <a:prstGeom prst="ellipse">
            <a:avLst/>
          </a:prstGeom>
          <a:solidFill>
            <a:srgbClr val="EAF2E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B4A36"/>
                </a:solidFill>
                <a:latin typeface="Segoe UI"/>
                <a:cs typeface="Segoe UI"/>
              </a:rPr>
              <a:t>02</a:t>
            </a:r>
            <a:endParaRPr lang="en-US" sz="1200" dirty="0"/>
          </a:p>
        </p:txBody>
      </p:sp>
      <p:sp>
        <p:nvSpPr>
          <p:cNvPr id="41" name="Shape 41"/>
          <p:cNvSpPr/>
          <p:nvPr/>
        </p:nvSpPr>
        <p:spPr>
          <a:xfrm>
            <a:off x="6686550" y="2828925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0B4A36"/>
                </a:solidFill>
                <a:latin typeface="Segoe UI"/>
                <a:cs typeface="Segoe UI"/>
              </a:rPr>
              <a:t>Standardized registration &amp; data</a:t>
            </a:r>
            <a:endParaRPr lang="en-US" sz="1250" dirty="0"/>
          </a:p>
        </p:txBody>
      </p:sp>
      <p:sp>
        <p:nvSpPr>
          <p:cNvPr id="42" name="Shape 42"/>
          <p:cNvSpPr/>
          <p:nvPr/>
        </p:nvSpPr>
        <p:spPr>
          <a:xfrm>
            <a:off x="6686550" y="3076575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1D2A24"/>
                </a:solidFill>
                <a:latin typeface="Segoe UI"/>
                <a:cs typeface="Segoe UI"/>
              </a:rPr>
              <a:t>Every project captured the same way, with comparable sizing</a:t>
            </a:r>
            <a:endParaRPr lang="en-US" sz="1100" dirty="0"/>
          </a:p>
        </p:txBody>
      </p:sp>
      <p:sp>
        <p:nvSpPr>
          <p:cNvPr id="43" name="Shape 43"/>
          <p:cNvSpPr/>
          <p:nvPr/>
        </p:nvSpPr>
        <p:spPr>
          <a:xfrm>
            <a:off x="9925050" y="2809875"/>
            <a:ext cx="1809750" cy="60960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txBody>
          <a:bodyPr wrap="square" lIns="76200" tIns="38100" rIns="76200" bIns="38100" anchor="ctr" rtlCol="0">
            <a:noAutofit/>
          </a:bodyPr>
          <a:lstStyle/>
          <a:p>
            <a:pPr algn="l">
              <a:buNone/>
            </a:pPr>
            <a:r>
              <a:rPr lang="en-US" sz="750" b="1" spc="100" dirty="0">
                <a:solidFill>
                  <a:srgbClr val="1F6B4F"/>
                </a:solidFill>
                <a:latin typeface="Segoe UI"/>
                <a:cs typeface="Segoe UI"/>
              </a:rPr>
              <a:t>ENABLED BY  (IN PORTAL)</a:t>
            </a:r>
            <a:endParaRPr lang="en-US" sz="750" dirty="0"/>
          </a:p>
          <a:p>
            <a:pPr algn="l">
              <a:spcBef>
                <a:spcPts val="200"/>
              </a:spcBef>
              <a:buNone/>
            </a:pPr>
            <a:r>
              <a:rPr lang="en-US" sz="850" b="0" dirty="0">
                <a:solidFill>
                  <a:srgbClr val="1D2A24"/>
                </a:solidFill>
                <a:latin typeface="Segoe UI"/>
                <a:cs typeface="Segoe UI"/>
              </a:rPr>
              <a:t>JIRA sync or Non-JIRA intake · 7-criteria weighted sizing · templates</a:t>
            </a:r>
            <a:endParaRPr lang="en-US" sz="850" dirty="0"/>
          </a:p>
        </p:txBody>
      </p:sp>
      <p:cxnSp>
        <p:nvCxnSpPr>
          <p:cNvPr id="44" name="Connector 44"/>
          <p:cNvCxnSpPr/>
          <p:nvPr/>
        </p:nvCxnSpPr>
        <p:spPr>
          <a:xfrm>
            <a:off x="5600700" y="3810000"/>
            <a:ext cx="381000" cy="171450"/>
          </a:xfrm>
          <a:prstGeom prst="line">
            <a:avLst/>
          </a:prstGeom>
          <a:ln w="11906">
            <a:solidFill>
              <a:srgbClr val="BD8B22"/>
            </a:solidFill>
            <a:tailEnd type="oval" w="med" len="med"/>
          </a:ln>
        </p:spPr>
      </p:cxnSp>
      <p:sp>
        <p:nvSpPr>
          <p:cNvPr id="45" name="Shape 45"/>
          <p:cNvSpPr/>
          <p:nvPr/>
        </p:nvSpPr>
        <p:spPr>
          <a:xfrm>
            <a:off x="5981700" y="3600450"/>
            <a:ext cx="58293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8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6" name="Shape 46"/>
          <p:cNvSpPr/>
          <p:nvPr/>
        </p:nvSpPr>
        <p:spPr>
          <a:xfrm>
            <a:off x="5981700" y="3600450"/>
            <a:ext cx="47625" cy="76200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7" name="Shape 47"/>
          <p:cNvSpPr/>
          <p:nvPr/>
        </p:nvSpPr>
        <p:spPr>
          <a:xfrm>
            <a:off x="6172200" y="3790950"/>
            <a:ext cx="381000" cy="381000"/>
          </a:xfrm>
          <a:prstGeom prst="ellipse">
            <a:avLst/>
          </a:prstGeom>
          <a:solidFill>
            <a:srgbClr val="EAF2E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B4A36"/>
                </a:solidFill>
                <a:latin typeface="Segoe UI"/>
                <a:cs typeface="Segoe UI"/>
              </a:rPr>
              <a:t>03</a:t>
            </a:r>
            <a:endParaRPr lang="en-US" sz="1200" dirty="0"/>
          </a:p>
        </p:txBody>
      </p:sp>
      <p:sp>
        <p:nvSpPr>
          <p:cNvPr id="48" name="Shape 48"/>
          <p:cNvSpPr/>
          <p:nvPr/>
        </p:nvSpPr>
        <p:spPr>
          <a:xfrm>
            <a:off x="6686550" y="3695700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0B4A36"/>
                </a:solidFill>
                <a:latin typeface="Segoe UI"/>
                <a:cs typeface="Segoe UI"/>
              </a:rPr>
              <a:t>Governance &amp; accountability</a:t>
            </a:r>
            <a:endParaRPr lang="en-US" sz="1250" dirty="0"/>
          </a:p>
        </p:txBody>
      </p:sp>
      <p:sp>
        <p:nvSpPr>
          <p:cNvPr id="49" name="Shape 49"/>
          <p:cNvSpPr/>
          <p:nvPr/>
        </p:nvSpPr>
        <p:spPr>
          <a:xfrm>
            <a:off x="6686550" y="3943350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1D2A24"/>
                </a:solidFill>
                <a:latin typeface="Segoe UI"/>
                <a:cs typeface="Segoe UI"/>
              </a:rPr>
              <a:t>Named owners and a traceable record of every decision</a:t>
            </a:r>
            <a:endParaRPr lang="en-US" sz="1100" dirty="0"/>
          </a:p>
        </p:txBody>
      </p:sp>
      <p:sp>
        <p:nvSpPr>
          <p:cNvPr id="50" name="Shape 50"/>
          <p:cNvSpPr/>
          <p:nvPr/>
        </p:nvSpPr>
        <p:spPr>
          <a:xfrm>
            <a:off x="9925050" y="3676650"/>
            <a:ext cx="1809750" cy="60960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txBody>
          <a:bodyPr wrap="square" lIns="76200" tIns="38100" rIns="76200" bIns="38100" anchor="ctr" rtlCol="0">
            <a:noAutofit/>
          </a:bodyPr>
          <a:lstStyle/>
          <a:p>
            <a:pPr algn="l">
              <a:buNone/>
            </a:pPr>
            <a:r>
              <a:rPr lang="en-US" sz="750" b="1" spc="100" dirty="0">
                <a:solidFill>
                  <a:srgbClr val="1F6B4F"/>
                </a:solidFill>
                <a:latin typeface="Segoe UI"/>
                <a:cs typeface="Segoe UI"/>
              </a:rPr>
              <a:t>ENABLED BY  (IN PORTAL)</a:t>
            </a:r>
            <a:endParaRPr lang="en-US" sz="750" dirty="0"/>
          </a:p>
          <a:p>
            <a:pPr algn="l">
              <a:spcBef>
                <a:spcPts val="200"/>
              </a:spcBef>
              <a:buNone/>
            </a:pPr>
            <a:r>
              <a:rPr lang="en-US" sz="850" b="0" dirty="0">
                <a:solidFill>
                  <a:srgbClr val="1D2A24"/>
                </a:solidFill>
                <a:latin typeface="Segoe UI"/>
                <a:cs typeface="Segoe UI"/>
              </a:rPr>
              <a:t>Role-based access · workflow history · supporting documents</a:t>
            </a:r>
            <a:endParaRPr lang="en-US" sz="850" dirty="0"/>
          </a:p>
        </p:txBody>
      </p:sp>
      <p:cxnSp>
        <p:nvCxnSpPr>
          <p:cNvPr id="51" name="Connector 51"/>
          <p:cNvCxnSpPr/>
          <p:nvPr/>
        </p:nvCxnSpPr>
        <p:spPr>
          <a:xfrm>
            <a:off x="5600700" y="3810000"/>
            <a:ext cx="381000" cy="1038225"/>
          </a:xfrm>
          <a:prstGeom prst="line">
            <a:avLst/>
          </a:prstGeom>
          <a:ln w="11906">
            <a:solidFill>
              <a:srgbClr val="BD8B22"/>
            </a:solidFill>
            <a:tailEnd type="oval" w="med" len="med"/>
          </a:ln>
        </p:spPr>
      </p:cxnSp>
      <p:sp>
        <p:nvSpPr>
          <p:cNvPr id="52" name="Shape 52"/>
          <p:cNvSpPr/>
          <p:nvPr/>
        </p:nvSpPr>
        <p:spPr>
          <a:xfrm>
            <a:off x="5981700" y="4467225"/>
            <a:ext cx="58293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8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3" name="Shape 53"/>
          <p:cNvSpPr/>
          <p:nvPr/>
        </p:nvSpPr>
        <p:spPr>
          <a:xfrm>
            <a:off x="5981700" y="4467225"/>
            <a:ext cx="47625" cy="762000"/>
          </a:xfrm>
          <a:prstGeom prst="rect">
            <a:avLst/>
          </a:prstGeom>
          <a:solidFill>
            <a:srgbClr val="BD8B22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4" name="Shape 54"/>
          <p:cNvSpPr/>
          <p:nvPr/>
        </p:nvSpPr>
        <p:spPr>
          <a:xfrm>
            <a:off x="6172200" y="4657725"/>
            <a:ext cx="381000" cy="381000"/>
          </a:xfrm>
          <a:prstGeom prst="ellipse">
            <a:avLst/>
          </a:prstGeom>
          <a:solidFill>
            <a:srgbClr val="EAF2E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B4A36"/>
                </a:solidFill>
                <a:latin typeface="Segoe UI"/>
                <a:cs typeface="Segoe UI"/>
              </a:rPr>
              <a:t>04</a:t>
            </a:r>
            <a:endParaRPr lang="en-US" sz="1200" dirty="0"/>
          </a:p>
        </p:txBody>
      </p:sp>
      <p:sp>
        <p:nvSpPr>
          <p:cNvPr id="55" name="Shape 55"/>
          <p:cNvSpPr/>
          <p:nvPr/>
        </p:nvSpPr>
        <p:spPr>
          <a:xfrm>
            <a:off x="6686550" y="4562475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0B4A36"/>
                </a:solidFill>
                <a:latin typeface="Segoe UI"/>
                <a:cs typeface="Segoe UI"/>
              </a:rPr>
              <a:t>PET &amp; budget workflow oversight</a:t>
            </a:r>
            <a:endParaRPr lang="en-US" sz="1250" dirty="0"/>
          </a:p>
        </p:txBody>
      </p:sp>
      <p:sp>
        <p:nvSpPr>
          <p:cNvPr id="56" name="Shape 56"/>
          <p:cNvSpPr/>
          <p:nvPr/>
        </p:nvSpPr>
        <p:spPr>
          <a:xfrm>
            <a:off x="6686550" y="4810125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1D2A24"/>
                </a:solidFill>
                <a:latin typeface="Segoe UI"/>
                <a:cs typeface="Segoe UI"/>
              </a:rPr>
              <a:t>Spend approved in the right sequence, within available budget</a:t>
            </a:r>
            <a:endParaRPr lang="en-US" sz="1100" dirty="0"/>
          </a:p>
        </p:txBody>
      </p:sp>
      <p:sp>
        <p:nvSpPr>
          <p:cNvPr id="57" name="Shape 57"/>
          <p:cNvSpPr/>
          <p:nvPr/>
        </p:nvSpPr>
        <p:spPr>
          <a:xfrm>
            <a:off x="9925050" y="4543425"/>
            <a:ext cx="1809750" cy="60960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txBody>
          <a:bodyPr wrap="square" lIns="76200" tIns="38100" rIns="76200" bIns="38100" anchor="ctr" rtlCol="0">
            <a:noAutofit/>
          </a:bodyPr>
          <a:lstStyle/>
          <a:p>
            <a:pPr algn="l">
              <a:buNone/>
            </a:pPr>
            <a:r>
              <a:rPr lang="en-US" sz="750" b="1" spc="100" dirty="0">
                <a:solidFill>
                  <a:srgbClr val="1F6B4F"/>
                </a:solidFill>
                <a:latin typeface="Segoe UI"/>
                <a:cs typeface="Segoe UI"/>
              </a:rPr>
              <a:t>ENABLED BY  (IN PORTAL)</a:t>
            </a:r>
            <a:endParaRPr lang="en-US" sz="750" dirty="0"/>
          </a:p>
          <a:p>
            <a:pPr algn="l">
              <a:spcBef>
                <a:spcPts val="200"/>
              </a:spcBef>
              <a:buNone/>
            </a:pPr>
            <a:r>
              <a:rPr lang="en-US" sz="850" b="0" dirty="0">
                <a:solidFill>
                  <a:srgbClr val="1D2A24"/>
                </a:solidFill>
                <a:latin typeface="Segoe UI"/>
                <a:cs typeface="Segoe UI"/>
              </a:rPr>
              <a:t>Review &amp; approval stages · balance check · budget lines after approval</a:t>
            </a:r>
            <a:endParaRPr lang="en-US" sz="850" dirty="0"/>
          </a:p>
        </p:txBody>
      </p:sp>
      <p:cxnSp>
        <p:nvCxnSpPr>
          <p:cNvPr id="58" name="Connector 58"/>
          <p:cNvCxnSpPr/>
          <p:nvPr/>
        </p:nvCxnSpPr>
        <p:spPr>
          <a:xfrm>
            <a:off x="5600700" y="3810000"/>
            <a:ext cx="381000" cy="1905000"/>
          </a:xfrm>
          <a:prstGeom prst="line">
            <a:avLst/>
          </a:prstGeom>
          <a:ln w="11906">
            <a:solidFill>
              <a:srgbClr val="BD8B22"/>
            </a:solidFill>
            <a:tailEnd type="oval" w="med" len="med"/>
          </a:ln>
        </p:spPr>
      </p:cxnSp>
      <p:sp>
        <p:nvSpPr>
          <p:cNvPr id="59" name="Shape 59"/>
          <p:cNvSpPr/>
          <p:nvPr/>
        </p:nvSpPr>
        <p:spPr>
          <a:xfrm>
            <a:off x="5981700" y="5334000"/>
            <a:ext cx="58293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8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0" name="Shape 60"/>
          <p:cNvSpPr/>
          <p:nvPr/>
        </p:nvSpPr>
        <p:spPr>
          <a:xfrm>
            <a:off x="5981700" y="5334000"/>
            <a:ext cx="47625" cy="76200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1" name="Shape 61"/>
          <p:cNvSpPr/>
          <p:nvPr/>
        </p:nvSpPr>
        <p:spPr>
          <a:xfrm>
            <a:off x="6172200" y="5524500"/>
            <a:ext cx="381000" cy="381000"/>
          </a:xfrm>
          <a:prstGeom prst="ellipse">
            <a:avLst/>
          </a:prstGeom>
          <a:solidFill>
            <a:srgbClr val="EAF2E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B4A36"/>
                </a:solidFill>
                <a:latin typeface="Segoe UI"/>
                <a:cs typeface="Segoe UI"/>
              </a:rPr>
              <a:t>05</a:t>
            </a:r>
            <a:endParaRPr lang="en-US" sz="1200" dirty="0"/>
          </a:p>
        </p:txBody>
      </p:sp>
      <p:sp>
        <p:nvSpPr>
          <p:cNvPr id="62" name="Shape 62"/>
          <p:cNvSpPr/>
          <p:nvPr/>
        </p:nvSpPr>
        <p:spPr>
          <a:xfrm>
            <a:off x="6686550" y="5429250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0B4A36"/>
                </a:solidFill>
                <a:latin typeface="Segoe UI"/>
                <a:cs typeface="Segoe UI"/>
              </a:rPr>
              <a:t>More informed management decisions</a:t>
            </a:r>
            <a:endParaRPr lang="en-US" sz="1250" dirty="0"/>
          </a:p>
        </p:txBody>
      </p:sp>
      <p:sp>
        <p:nvSpPr>
          <p:cNvPr id="63" name="Shape 63"/>
          <p:cNvSpPr/>
          <p:nvPr/>
        </p:nvSpPr>
        <p:spPr>
          <a:xfrm>
            <a:off x="6686550" y="5676900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1D2A24"/>
                </a:solidFill>
                <a:latin typeface="Segoe UI"/>
                <a:cs typeface="Segoe UI"/>
              </a:rPr>
              <a:t>Decisions based on current, consistent portfolio data</a:t>
            </a:r>
            <a:endParaRPr lang="en-US" sz="1100" dirty="0"/>
          </a:p>
        </p:txBody>
      </p:sp>
      <p:sp>
        <p:nvSpPr>
          <p:cNvPr id="64" name="Shape 64"/>
          <p:cNvSpPr/>
          <p:nvPr/>
        </p:nvSpPr>
        <p:spPr>
          <a:xfrm>
            <a:off x="9925050" y="5410200"/>
            <a:ext cx="1809750" cy="60960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txBody>
          <a:bodyPr wrap="square" lIns="76200" tIns="38100" rIns="76200" bIns="38100" anchor="ctr" rtlCol="0">
            <a:noAutofit/>
          </a:bodyPr>
          <a:lstStyle/>
          <a:p>
            <a:pPr algn="l">
              <a:buNone/>
            </a:pPr>
            <a:r>
              <a:rPr lang="en-US" sz="750" b="1" spc="100" dirty="0">
                <a:solidFill>
                  <a:srgbClr val="1F6B4F"/>
                </a:solidFill>
                <a:latin typeface="Segoe UI"/>
                <a:cs typeface="Segoe UI"/>
              </a:rPr>
              <a:t>ENABLED BY  (IN PORTAL)</a:t>
            </a:r>
            <a:endParaRPr lang="en-US" sz="750" dirty="0"/>
          </a:p>
          <a:p>
            <a:pPr algn="l">
              <a:spcBef>
                <a:spcPts val="200"/>
              </a:spcBef>
              <a:buNone/>
            </a:pPr>
            <a:r>
              <a:rPr lang="en-US" sz="850" b="0" dirty="0">
                <a:solidFill>
                  <a:srgbClr val="1D2A24"/>
                </a:solidFill>
                <a:latin typeface="Segoe UI"/>
                <a:cs typeface="Segoe UI"/>
              </a:rPr>
              <a:t>Status, utilization and invoice settlement views for leadership review</a:t>
            </a:r>
            <a:endParaRPr lang="en-US" sz="850" dirty="0"/>
          </a:p>
        </p:txBody>
      </p:sp>
      <p:sp>
        <p:nvSpPr>
          <p:cNvPr id="65" name="Shape 65"/>
          <p:cNvSpPr/>
          <p:nvPr/>
        </p:nvSpPr>
        <p:spPr>
          <a:xfrm>
            <a:off x="381000" y="6229350"/>
            <a:ext cx="11430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5B6862"/>
                </a:solidFill>
                <a:latin typeface="Segoe UI"/>
                <a:cs typeface="Segoe UI"/>
              </a:rPr>
              <a:t>Benefits are expected business outcomes. Items marked 'In portal' are features implemented in the current Falcon application.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" name="Shape 3"/>
          <p:cNvSpPr/>
          <p:nvPr/>
        </p:nvSpPr>
        <p:spPr>
          <a:xfrm>
            <a:off x="0" y="647700"/>
            <a:ext cx="12192000" cy="38100"/>
          </a:xfrm>
          <a:prstGeom prst="rect">
            <a:avLst/>
          </a:prstGeom>
          <a:solidFill>
            <a:srgbClr val="BD8B22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81000" y="152400"/>
            <a:ext cx="342900" cy="342900"/>
          </a:xfrm>
          <a:prstGeom prst="roundRect">
            <a:avLst>
              <a:gd name="adj" fmla="val 18000"/>
            </a:avLst>
          </a:prstGeom>
          <a:solidFill>
            <a:srgbClr val="BD8B22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B4A36"/>
                </a:solidFill>
                <a:latin typeface="Segoe UI"/>
                <a:cs typeface="Segoe UI"/>
              </a:rPr>
              <a:t>F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838200" y="1333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500" b="1" spc="300" dirty="0">
                <a:solidFill>
                  <a:srgbClr val="FFFFFF"/>
                </a:solidFill>
                <a:latin typeface="Segoe UI"/>
                <a:cs typeface="Segoe UI"/>
              </a:rPr>
              <a:t>FALCON</a:t>
            </a:r>
            <a:endParaRPr lang="en-US" sz="1500" dirty="0"/>
          </a:p>
        </p:txBody>
      </p:sp>
      <p:sp>
        <p:nvSpPr>
          <p:cNvPr id="6" name="Shape 6"/>
          <p:cNvSpPr/>
          <p:nvPr/>
        </p:nvSpPr>
        <p:spPr>
          <a:xfrm>
            <a:off x="838200" y="3619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000" b="0" dirty="0">
                <a:solidFill>
                  <a:srgbClr val="D9C08A"/>
                </a:solidFill>
                <a:latin typeface="Segoe UI"/>
                <a:cs typeface="Segoe UI"/>
              </a:rPr>
              <a:t>Portfolio Portal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7429500" y="209550"/>
            <a:ext cx="4381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US" sz="1000" b="1" spc="150" dirty="0">
                <a:solidFill>
                  <a:srgbClr val="C7D5CE"/>
                </a:solidFill>
                <a:latin typeface="Segoe UI"/>
                <a:cs typeface="Segoe UI"/>
              </a:rPr>
              <a:t>DIB MANAGEMENT BRIEFING</a:t>
            </a:r>
            <a:endParaRPr lang="en-US" sz="1000" dirty="0"/>
          </a:p>
        </p:txBody>
      </p:sp>
      <p:sp>
        <p:nvSpPr>
          <p:cNvPr id="8" name="Shape 8"/>
          <p:cNvSpPr/>
          <p:nvPr/>
        </p:nvSpPr>
        <p:spPr>
          <a:xfrm>
            <a:off x="381000" y="6505575"/>
            <a:ext cx="11430000" cy="9525"/>
          </a:xfrm>
          <a:prstGeom prst="rect">
            <a:avLst/>
          </a:prstGeom>
          <a:solidFill>
            <a:srgbClr val="D5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381000" y="657225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1" spc="50" dirty="0">
                <a:solidFill>
                  <a:srgbClr val="5B6862"/>
                </a:solidFill>
                <a:latin typeface="Segoe UI"/>
                <a:cs typeface="Segoe UI"/>
              </a:rPr>
              <a:t>Falcon Portfolio Portal  ·  DIB Management Briefing</a:t>
            </a:r>
            <a:endParaRPr lang="en-US" sz="900" dirty="0"/>
          </a:p>
        </p:txBody>
      </p:sp>
      <p:sp>
        <p:nvSpPr>
          <p:cNvPr id="10" name="Shape 10"/>
          <p:cNvSpPr/>
          <p:nvPr/>
        </p:nvSpPr>
        <p:spPr>
          <a:xfrm>
            <a:off x="9906000" y="65722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US" sz="900" b="1" dirty="0">
                <a:solidFill>
                  <a:srgbClr val="0B4A36"/>
                </a:solidFill>
                <a:latin typeface="Segoe UI"/>
                <a:cs typeface="Segoe UI"/>
              </a:rPr>
              <a:t>02 / 03</a:t>
            </a:r>
            <a:endParaRPr lang="en-US" sz="900" dirty="0"/>
          </a:p>
        </p:txBody>
      </p:sp>
      <p:sp>
        <p:nvSpPr>
          <p:cNvPr id="11" name="Shape 11"/>
          <p:cNvSpPr/>
          <p:nvPr/>
        </p:nvSpPr>
        <p:spPr>
          <a:xfrm>
            <a:off x="381000" y="838200"/>
            <a:ext cx="7620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000" b="1" spc="200" dirty="0">
                <a:solidFill>
                  <a:srgbClr val="BD8B22"/>
                </a:solidFill>
                <a:latin typeface="Segoe UI"/>
                <a:cs typeface="Segoe UI"/>
              </a:rPr>
              <a:t>END-TO-END BUSINESS WORKFLOW</a:t>
            </a:r>
            <a:endParaRPr lang="en-US" sz="1000" dirty="0"/>
          </a:p>
        </p:txBody>
      </p:sp>
      <p:sp>
        <p:nvSpPr>
          <p:cNvPr id="12" name="Shape 12"/>
          <p:cNvSpPr/>
          <p:nvPr/>
        </p:nvSpPr>
        <p:spPr>
          <a:xfrm>
            <a:off x="381000" y="1028700"/>
            <a:ext cx="10477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2600" b="1" dirty="0">
                <a:solidFill>
                  <a:srgbClr val="0B4A36"/>
                </a:solidFill>
                <a:latin typeface="Segoe UI"/>
                <a:cs typeface="Segoe UI"/>
              </a:rPr>
              <a:t>How a project moves through Falcon</a:t>
            </a:r>
            <a:endParaRPr lang="en-US" sz="2600" dirty="0"/>
          </a:p>
        </p:txBody>
      </p:sp>
      <p:sp>
        <p:nvSpPr>
          <p:cNvPr id="13" name="Shape 13"/>
          <p:cNvSpPr/>
          <p:nvPr/>
        </p:nvSpPr>
        <p:spPr>
          <a:xfrm>
            <a:off x="381000" y="14478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5B6862"/>
                </a:solidFill>
                <a:latin typeface="Segoe UI"/>
                <a:cs typeface="Segoe UI"/>
              </a:rPr>
              <a:t>Each stage reflects the live portal: who acts, what is decided, and which control applies.</a:t>
            </a:r>
            <a:endParaRPr lang="en-US" sz="1250" dirty="0"/>
          </a:p>
        </p:txBody>
      </p:sp>
      <p:sp>
        <p:nvSpPr>
          <p:cNvPr id="14" name="Shape 14"/>
          <p:cNvSpPr/>
          <p:nvPr/>
        </p:nvSpPr>
        <p:spPr>
          <a:xfrm>
            <a:off x="8210550" y="1504950"/>
            <a:ext cx="152400" cy="152400"/>
          </a:xfrm>
          <a:prstGeom prst="diamond">
            <a:avLst/>
          </a:prstGeom>
          <a:solidFill>
            <a:srgbClr val="F7EEDB"/>
          </a:solidFill>
          <a:ln w="9525">
            <a:solidFill>
              <a:srgbClr val="BD8B22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8420100" y="14859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5B6862"/>
                </a:solidFill>
                <a:latin typeface="Segoe UI"/>
                <a:cs typeface="Segoe UI"/>
              </a:rPr>
              <a:t>Decision point</a:t>
            </a:r>
            <a:endParaRPr lang="en-US" sz="900" dirty="0"/>
          </a:p>
        </p:txBody>
      </p:sp>
      <p:sp>
        <p:nvSpPr>
          <p:cNvPr id="16" name="Shape 16"/>
          <p:cNvSpPr/>
          <p:nvPr/>
        </p:nvSpPr>
        <p:spPr>
          <a:xfrm>
            <a:off x="9429750" y="1514475"/>
            <a:ext cx="247650" cy="133350"/>
          </a:xfrm>
          <a:prstGeom prst="roundRect">
            <a:avLst>
              <a:gd name="adj" fmla="val 30000"/>
            </a:avLst>
          </a:prstGeom>
          <a:solidFill>
            <a:srgbClr val="F7EEDB"/>
          </a:solidFill>
          <a:ln w="7144">
            <a:solidFill>
              <a:srgbClr val="BD8B22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7" name="Shape 17"/>
          <p:cNvSpPr/>
          <p:nvPr/>
        </p:nvSpPr>
        <p:spPr>
          <a:xfrm>
            <a:off x="9734550" y="1485900"/>
            <a:ext cx="8572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5B6862"/>
                </a:solidFill>
                <a:latin typeface="Segoe UI"/>
                <a:cs typeface="Segoe UI"/>
              </a:rPr>
              <a:t>Stakeholder</a:t>
            </a:r>
            <a:endParaRPr lang="en-US" sz="900" dirty="0"/>
          </a:p>
        </p:txBody>
      </p:sp>
      <p:sp>
        <p:nvSpPr>
          <p:cNvPr id="18" name="Shape 18"/>
          <p:cNvSpPr/>
          <p:nvPr/>
        </p:nvSpPr>
        <p:spPr>
          <a:xfrm>
            <a:off x="10706100" y="1504950"/>
            <a:ext cx="38100" cy="15240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10801350" y="1485900"/>
            <a:ext cx="1009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5B6862"/>
                </a:solidFill>
                <a:latin typeface="Segoe UI"/>
                <a:cs typeface="Segoe UI"/>
              </a:rPr>
              <a:t>Key control</a:t>
            </a:r>
            <a:endParaRPr lang="en-US" sz="900" dirty="0"/>
          </a:p>
        </p:txBody>
      </p:sp>
      <p:sp>
        <p:nvSpPr>
          <p:cNvPr id="20" name="Shape 20"/>
          <p:cNvSpPr/>
          <p:nvPr/>
        </p:nvSpPr>
        <p:spPr>
          <a:xfrm>
            <a:off x="381000" y="1847850"/>
            <a:ext cx="8763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50" b="1" spc="100" dirty="0">
                <a:solidFill>
                  <a:srgbClr val="5B6862"/>
                </a:solidFill>
                <a:latin typeface="Segoe UI"/>
                <a:cs typeface="Segoe UI"/>
              </a:rPr>
              <a:t>STAGE</a:t>
            </a:r>
            <a:endParaRPr lang="en-US" sz="850" dirty="0"/>
          </a:p>
        </p:txBody>
      </p:sp>
      <p:sp>
        <p:nvSpPr>
          <p:cNvPr id="21" name="Shape 21"/>
          <p:cNvSpPr/>
          <p:nvPr/>
        </p:nvSpPr>
        <p:spPr>
          <a:xfrm>
            <a:off x="381000" y="2476500"/>
            <a:ext cx="8763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50" b="1" spc="100" dirty="0">
                <a:solidFill>
                  <a:srgbClr val="5B6862"/>
                </a:solidFill>
                <a:latin typeface="Segoe UI"/>
                <a:cs typeface="Segoe UI"/>
              </a:rPr>
              <a:t>WHO</a:t>
            </a:r>
            <a:endParaRPr lang="en-US" sz="850" dirty="0"/>
          </a:p>
        </p:txBody>
      </p:sp>
      <p:sp>
        <p:nvSpPr>
          <p:cNvPr id="22" name="Shape 22"/>
          <p:cNvSpPr/>
          <p:nvPr/>
        </p:nvSpPr>
        <p:spPr>
          <a:xfrm>
            <a:off x="381000" y="2971800"/>
            <a:ext cx="8763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50" b="1" spc="100" dirty="0">
                <a:solidFill>
                  <a:srgbClr val="5B6862"/>
                </a:solidFill>
                <a:latin typeface="Segoe UI"/>
                <a:cs typeface="Segoe UI"/>
              </a:rPr>
              <a:t>WHAT</a:t>
            </a:r>
            <a:endParaRPr lang="en-US" sz="850" dirty="0"/>
          </a:p>
        </p:txBody>
      </p:sp>
      <p:sp>
        <p:nvSpPr>
          <p:cNvPr id="23" name="Shape 23"/>
          <p:cNvSpPr/>
          <p:nvPr/>
        </p:nvSpPr>
        <p:spPr>
          <a:xfrm>
            <a:off x="381000" y="3638550"/>
            <a:ext cx="8763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50" b="1" spc="100" dirty="0">
                <a:solidFill>
                  <a:srgbClr val="5B6862"/>
                </a:solidFill>
                <a:latin typeface="Segoe UI"/>
                <a:cs typeface="Segoe UI"/>
              </a:rPr>
              <a:t>DECISION</a:t>
            </a:r>
            <a:endParaRPr lang="en-US" sz="850" dirty="0"/>
          </a:p>
        </p:txBody>
      </p:sp>
      <p:sp>
        <p:nvSpPr>
          <p:cNvPr id="24" name="Shape 24"/>
          <p:cNvSpPr/>
          <p:nvPr/>
        </p:nvSpPr>
        <p:spPr>
          <a:xfrm>
            <a:off x="381000" y="4667250"/>
            <a:ext cx="8763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50" b="1" spc="100" dirty="0">
                <a:solidFill>
                  <a:srgbClr val="5B6862"/>
                </a:solidFill>
                <a:latin typeface="Segoe UI"/>
                <a:cs typeface="Segoe UI"/>
              </a:rPr>
              <a:t>CONTROL</a:t>
            </a:r>
            <a:endParaRPr lang="en-US" sz="850" dirty="0"/>
          </a:p>
        </p:txBody>
      </p:sp>
      <p:sp>
        <p:nvSpPr>
          <p:cNvPr id="25" name="Shape 25"/>
          <p:cNvSpPr/>
          <p:nvPr/>
        </p:nvSpPr>
        <p:spPr>
          <a:xfrm>
            <a:off x="381000" y="2438400"/>
            <a:ext cx="11430000" cy="9525"/>
          </a:xfrm>
          <a:prstGeom prst="rect">
            <a:avLst/>
          </a:prstGeom>
          <a:solidFill>
            <a:srgbClr val="E7ECE9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6" name="Shape 26"/>
          <p:cNvSpPr/>
          <p:nvPr/>
        </p:nvSpPr>
        <p:spPr>
          <a:xfrm>
            <a:off x="381000" y="2933700"/>
            <a:ext cx="11430000" cy="9525"/>
          </a:xfrm>
          <a:prstGeom prst="rect">
            <a:avLst/>
          </a:prstGeom>
          <a:solidFill>
            <a:srgbClr val="E7ECE9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7" name="Shape 27"/>
          <p:cNvSpPr/>
          <p:nvPr/>
        </p:nvSpPr>
        <p:spPr>
          <a:xfrm>
            <a:off x="381000" y="3600450"/>
            <a:ext cx="11430000" cy="9525"/>
          </a:xfrm>
          <a:prstGeom prst="rect">
            <a:avLst/>
          </a:prstGeom>
          <a:solidFill>
            <a:srgbClr val="E7ECE9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8" name="Shape 28"/>
          <p:cNvSpPr/>
          <p:nvPr/>
        </p:nvSpPr>
        <p:spPr>
          <a:xfrm>
            <a:off x="381000" y="4629150"/>
            <a:ext cx="11430000" cy="9525"/>
          </a:xfrm>
          <a:prstGeom prst="rect">
            <a:avLst/>
          </a:prstGeom>
          <a:solidFill>
            <a:srgbClr val="E7ECE9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9" name="Shape 29"/>
          <p:cNvSpPr/>
          <p:nvPr/>
        </p:nvSpPr>
        <p:spPr>
          <a:xfrm>
            <a:off x="1333500" y="1847850"/>
            <a:ext cx="1714500" cy="552450"/>
          </a:xfrm>
          <a:prstGeom prst="homePlate">
            <a:avLst>
              <a:gd name="adj" fmla="val 28000"/>
            </a:avLst>
          </a:prstGeom>
          <a:solidFill>
            <a:srgbClr val="0B4A36"/>
          </a:solidFill>
          <a:ln>
            <a:noFill/>
          </a:ln>
        </p:spPr>
        <p:txBody>
          <a:bodyPr wrap="square" lIns="228600" tIns="0" rIns="228600" bIns="0" anchor="ctr" rtlCol="0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D9C08A"/>
                </a:solidFill>
                <a:latin typeface="Segoe UI"/>
                <a:cs typeface="Segoe UI"/>
              </a:rPr>
              <a:t>01</a:t>
            </a:r>
            <a:endParaRPr lang="en-US" sz="900" dirty="0"/>
          </a:p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/>
                <a:cs typeface="Segoe UI"/>
              </a:rPr>
              <a:t>Project Registration</a:t>
            </a:r>
            <a:endParaRPr lang="en-US" sz="1050" dirty="0"/>
          </a:p>
        </p:txBody>
      </p:sp>
      <p:sp>
        <p:nvSpPr>
          <p:cNvPr id="30" name="Shape 30"/>
          <p:cNvSpPr/>
          <p:nvPr/>
        </p:nvSpPr>
        <p:spPr>
          <a:xfrm>
            <a:off x="1371600" y="2476500"/>
            <a:ext cx="1638300" cy="419100"/>
          </a:xfrm>
          <a:prstGeom prst="roundRect">
            <a:avLst>
              <a:gd name="adj" fmla="val 20000"/>
            </a:avLst>
          </a:prstGeom>
          <a:solidFill>
            <a:srgbClr val="F7EEDB"/>
          </a:solidFill>
          <a:ln w="7144">
            <a:solidFill>
              <a:srgbClr val="BD8B22"/>
            </a:solidFill>
          </a:ln>
        </p:spPr>
        <p:txBody>
          <a:bodyPr wrap="square" lIns="76200" tIns="0" rIns="76200" bIns="0" anchor="ctr" rtlCol="0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1D2A24"/>
                </a:solidFill>
                <a:latin typeface="Segoe UI"/>
                <a:cs typeface="Segoe UI"/>
              </a:rPr>
              <a:t>Requestor</a:t>
            </a:r>
            <a:endParaRPr lang="en-US" sz="900" dirty="0"/>
          </a:p>
        </p:txBody>
      </p:sp>
      <p:sp>
        <p:nvSpPr>
          <p:cNvPr id="31" name="Shape 31"/>
          <p:cNvSpPr/>
          <p:nvPr/>
        </p:nvSpPr>
        <p:spPr>
          <a:xfrm>
            <a:off x="1371600" y="2971800"/>
            <a:ext cx="1638300" cy="590550"/>
          </a:xfrm>
          <a:prstGeom prst="rect">
            <a:avLst/>
          </a:prstGeom>
          <a:noFill/>
          <a:ln>
            <a:noFill/>
          </a:ln>
        </p:spPr>
        <p:txBody>
          <a:bodyPr wrap="square" lIns="19050" tIns="19050" rIns="19050" bIns="19050" anchor="t" rtlCol="0">
            <a:noAutofit/>
          </a:bodyPr>
          <a:lstStyle/>
          <a:p>
            <a:pPr algn="l">
              <a:buNone/>
            </a:pPr>
            <a:r>
              <a:rPr lang="en-US" sz="950" b="0" dirty="0">
                <a:solidFill>
                  <a:srgbClr val="1D2A24"/>
                </a:solidFill>
                <a:latin typeface="Segoe UI"/>
                <a:cs typeface="Segoe UI"/>
              </a:rPr>
              <a:t>Registers the project from the synced JIRA list or as a Non-JIRA project</a:t>
            </a:r>
            <a:endParaRPr lang="en-US" sz="950" dirty="0"/>
          </a:p>
        </p:txBody>
      </p:sp>
      <p:sp>
        <p:nvSpPr>
          <p:cNvPr id="32" name="Shape 32"/>
          <p:cNvSpPr/>
          <p:nvPr/>
        </p:nvSpPr>
        <p:spPr>
          <a:xfrm>
            <a:off x="1371600" y="4667250"/>
            <a:ext cx="1638300" cy="68580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3" name="Shape 33"/>
          <p:cNvSpPr/>
          <p:nvPr/>
        </p:nvSpPr>
        <p:spPr>
          <a:xfrm>
            <a:off x="1371600" y="4667250"/>
            <a:ext cx="38100" cy="68580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4" name="Shape 34"/>
          <p:cNvSpPr/>
          <p:nvPr/>
        </p:nvSpPr>
        <p:spPr>
          <a:xfrm>
            <a:off x="1466850" y="4686300"/>
            <a:ext cx="1524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spc="100" dirty="0">
                <a:solidFill>
                  <a:srgbClr val="1F6B4F"/>
                </a:solidFill>
                <a:latin typeface="Segoe UI"/>
                <a:cs typeface="Segoe UI"/>
              </a:rPr>
              <a:t>KEY CONTROL</a:t>
            </a:r>
            <a:endParaRPr lang="en-US" sz="750" dirty="0"/>
          </a:p>
          <a:p>
            <a:pPr algn="l">
              <a:spcBef>
                <a:spcPts val="200"/>
              </a:spcBef>
              <a:buNone/>
            </a:pPr>
            <a:r>
              <a:rPr lang="en-US" sz="850" b="0" dirty="0">
                <a:solidFill>
                  <a:srgbClr val="1D2A24"/>
                </a:solidFill>
                <a:latin typeface="Segoe UI"/>
                <a:cs typeface="Segoe UI"/>
              </a:rPr>
              <a:t>Mandatory fields and weighted 7-criteria project sizing</a:t>
            </a:r>
            <a:endParaRPr lang="en-US" sz="850" dirty="0"/>
          </a:p>
        </p:txBody>
      </p:sp>
      <p:sp>
        <p:nvSpPr>
          <p:cNvPr id="35" name="Shape 35"/>
          <p:cNvSpPr/>
          <p:nvPr/>
        </p:nvSpPr>
        <p:spPr>
          <a:xfrm>
            <a:off x="3086100" y="1847850"/>
            <a:ext cx="1714500" cy="552450"/>
          </a:xfrm>
          <a:prstGeom prst="chevron">
            <a:avLst>
              <a:gd name="adj" fmla="val 28000"/>
            </a:avLst>
          </a:prstGeom>
          <a:solidFill>
            <a:srgbClr val="0B4A36"/>
          </a:solidFill>
          <a:ln>
            <a:noFill/>
          </a:ln>
        </p:spPr>
        <p:txBody>
          <a:bodyPr wrap="square" lIns="228600" tIns="0" rIns="228600" bIns="0" anchor="ctr" rtlCol="0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D9C08A"/>
                </a:solidFill>
                <a:latin typeface="Segoe UI"/>
                <a:cs typeface="Segoe UI"/>
              </a:rPr>
              <a:t>02</a:t>
            </a:r>
            <a:endParaRPr lang="en-US" sz="900" dirty="0"/>
          </a:p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/>
                <a:cs typeface="Segoe UI"/>
              </a:rPr>
              <a:t>JIRA / Non-JIRA Details</a:t>
            </a:r>
            <a:endParaRPr lang="en-US" sz="1050" dirty="0"/>
          </a:p>
        </p:txBody>
      </p:sp>
      <p:sp>
        <p:nvSpPr>
          <p:cNvPr id="36" name="Shape 36"/>
          <p:cNvSpPr/>
          <p:nvPr/>
        </p:nvSpPr>
        <p:spPr>
          <a:xfrm>
            <a:off x="3124200" y="2476500"/>
            <a:ext cx="1638300" cy="419100"/>
          </a:xfrm>
          <a:prstGeom prst="roundRect">
            <a:avLst>
              <a:gd name="adj" fmla="val 20000"/>
            </a:avLst>
          </a:prstGeom>
          <a:solidFill>
            <a:srgbClr val="F7EEDB"/>
          </a:solidFill>
          <a:ln w="7144">
            <a:solidFill>
              <a:srgbClr val="BD8B22"/>
            </a:solidFill>
          </a:ln>
        </p:spPr>
        <p:txBody>
          <a:bodyPr wrap="square" lIns="76200" tIns="0" rIns="76200" bIns="0" anchor="ctr" rtlCol="0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1D2A24"/>
                </a:solidFill>
                <a:latin typeface="Segoe UI"/>
                <a:cs typeface="Segoe UI"/>
              </a:rPr>
              <a:t>Requestor + scheduled JIRA sync</a:t>
            </a:r>
            <a:endParaRPr lang="en-US" sz="900" dirty="0"/>
          </a:p>
        </p:txBody>
      </p:sp>
      <p:sp>
        <p:nvSpPr>
          <p:cNvPr id="37" name="Shape 37"/>
          <p:cNvSpPr/>
          <p:nvPr/>
        </p:nvSpPr>
        <p:spPr>
          <a:xfrm>
            <a:off x="3124200" y="2971800"/>
            <a:ext cx="1638300" cy="590550"/>
          </a:xfrm>
          <a:prstGeom prst="rect">
            <a:avLst/>
          </a:prstGeom>
          <a:noFill/>
          <a:ln>
            <a:noFill/>
          </a:ln>
        </p:spPr>
        <p:txBody>
          <a:bodyPr wrap="square" lIns="19050" tIns="19050" rIns="19050" bIns="19050" anchor="t" rtlCol="0">
            <a:noAutofit/>
          </a:bodyPr>
          <a:lstStyle/>
          <a:p>
            <a:pPr algn="l">
              <a:buNone/>
            </a:pPr>
            <a:r>
              <a:rPr lang="en-US" sz="950" b="0" dirty="0">
                <a:solidFill>
                  <a:srgbClr val="1D2A24"/>
                </a:solidFill>
                <a:latin typeface="Segoe UI"/>
                <a:cs typeface="Segoe UI"/>
              </a:rPr>
              <a:t>Details come from the JIRA export, or are entered manually</a:t>
            </a:r>
            <a:endParaRPr lang="en-US" sz="950" dirty="0"/>
          </a:p>
        </p:txBody>
      </p:sp>
      <p:sp>
        <p:nvSpPr>
          <p:cNvPr id="38" name="Shape 38"/>
          <p:cNvSpPr/>
          <p:nvPr/>
        </p:nvSpPr>
        <p:spPr>
          <a:xfrm>
            <a:off x="3124200" y="4667250"/>
            <a:ext cx="1638300" cy="68580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9" name="Shape 39"/>
          <p:cNvSpPr/>
          <p:nvPr/>
        </p:nvSpPr>
        <p:spPr>
          <a:xfrm>
            <a:off x="3124200" y="4667250"/>
            <a:ext cx="38100" cy="68580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0" name="Shape 40"/>
          <p:cNvSpPr/>
          <p:nvPr/>
        </p:nvSpPr>
        <p:spPr>
          <a:xfrm>
            <a:off x="3219450" y="4686300"/>
            <a:ext cx="1524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spc="100" dirty="0">
                <a:solidFill>
                  <a:srgbClr val="1F6B4F"/>
                </a:solidFill>
                <a:latin typeface="Segoe UI"/>
                <a:cs typeface="Segoe UI"/>
              </a:rPr>
              <a:t>KEY CONTROL</a:t>
            </a:r>
            <a:endParaRPr lang="en-US" sz="750" dirty="0"/>
          </a:p>
          <a:p>
            <a:pPr algn="l">
              <a:spcBef>
                <a:spcPts val="200"/>
              </a:spcBef>
              <a:buNone/>
            </a:pPr>
            <a:r>
              <a:rPr lang="en-US" sz="850" b="0" dirty="0">
                <a:solidFill>
                  <a:srgbClr val="1D2A24"/>
                </a:solidFill>
                <a:latin typeface="Segoe UI"/>
                <a:cs typeface="Segoe UI"/>
              </a:rPr>
              <a:t>Portal never writes to JIRA; scheduled CSV sync only</a:t>
            </a:r>
            <a:endParaRPr lang="en-US" sz="850" dirty="0"/>
          </a:p>
        </p:txBody>
      </p:sp>
      <p:sp>
        <p:nvSpPr>
          <p:cNvPr id="41" name="Shape 41"/>
          <p:cNvSpPr/>
          <p:nvPr/>
        </p:nvSpPr>
        <p:spPr>
          <a:xfrm>
            <a:off x="4838700" y="1847850"/>
            <a:ext cx="1714500" cy="552450"/>
          </a:xfrm>
          <a:prstGeom prst="chevron">
            <a:avLst>
              <a:gd name="adj" fmla="val 28000"/>
            </a:avLst>
          </a:prstGeom>
          <a:solidFill>
            <a:srgbClr val="0B4A36"/>
          </a:solidFill>
          <a:ln>
            <a:noFill/>
          </a:ln>
        </p:spPr>
        <p:txBody>
          <a:bodyPr wrap="square" lIns="228600" tIns="0" rIns="228600" bIns="0" anchor="ctr" rtlCol="0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D9C08A"/>
                </a:solidFill>
                <a:latin typeface="Segoe UI"/>
                <a:cs typeface="Segoe UI"/>
              </a:rPr>
              <a:t>03</a:t>
            </a:r>
            <a:endParaRPr lang="en-US" sz="900" dirty="0"/>
          </a:p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/>
                <a:cs typeface="Segoe UI"/>
              </a:rPr>
              <a:t>Ownership &amp; Accountability</a:t>
            </a:r>
            <a:endParaRPr lang="en-US" sz="1050" dirty="0"/>
          </a:p>
        </p:txBody>
      </p:sp>
      <p:sp>
        <p:nvSpPr>
          <p:cNvPr id="42" name="Shape 42"/>
          <p:cNvSpPr/>
          <p:nvPr/>
        </p:nvSpPr>
        <p:spPr>
          <a:xfrm>
            <a:off x="4876800" y="2476500"/>
            <a:ext cx="1638300" cy="419100"/>
          </a:xfrm>
          <a:prstGeom prst="roundRect">
            <a:avLst>
              <a:gd name="adj" fmla="val 20000"/>
            </a:avLst>
          </a:prstGeom>
          <a:solidFill>
            <a:srgbClr val="F7EEDB"/>
          </a:solidFill>
          <a:ln w="7144">
            <a:solidFill>
              <a:srgbClr val="BD8B22"/>
            </a:solidFill>
          </a:ln>
        </p:spPr>
        <p:txBody>
          <a:bodyPr wrap="square" lIns="76200" tIns="0" rIns="76200" bIns="0" anchor="ctr" rtlCol="0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1D2A24"/>
                </a:solidFill>
                <a:latin typeface="Segoe UI"/>
                <a:cs typeface="Segoe UI"/>
              </a:rPr>
              <a:t>Exec Lead · Exec · SME Lead · PM</a:t>
            </a:r>
            <a:endParaRPr lang="en-US" sz="900" dirty="0"/>
          </a:p>
        </p:txBody>
      </p:sp>
      <p:sp>
        <p:nvSpPr>
          <p:cNvPr id="43" name="Shape 43"/>
          <p:cNvSpPr/>
          <p:nvPr/>
        </p:nvSpPr>
        <p:spPr>
          <a:xfrm>
            <a:off x="4876800" y="2971800"/>
            <a:ext cx="1638300" cy="590550"/>
          </a:xfrm>
          <a:prstGeom prst="rect">
            <a:avLst/>
          </a:prstGeom>
          <a:noFill/>
          <a:ln>
            <a:noFill/>
          </a:ln>
        </p:spPr>
        <p:txBody>
          <a:bodyPr wrap="square" lIns="19050" tIns="19050" rIns="19050" bIns="19050" anchor="t" rtlCol="0">
            <a:noAutofit/>
          </a:bodyPr>
          <a:lstStyle/>
          <a:p>
            <a:pPr algn="l">
              <a:buNone/>
            </a:pPr>
            <a:r>
              <a:rPr lang="en-US" sz="950" b="0" dirty="0">
                <a:solidFill>
                  <a:srgbClr val="1D2A24"/>
                </a:solidFill>
                <a:latin typeface="Segoe UI"/>
                <a:cs typeface="Segoe UI"/>
              </a:rPr>
              <a:t>Named owners define the review and approval route</a:t>
            </a:r>
            <a:endParaRPr lang="en-US" sz="950" dirty="0"/>
          </a:p>
        </p:txBody>
      </p:sp>
      <p:sp>
        <p:nvSpPr>
          <p:cNvPr id="44" name="Shape 44"/>
          <p:cNvSpPr/>
          <p:nvPr/>
        </p:nvSpPr>
        <p:spPr>
          <a:xfrm>
            <a:off x="4876800" y="4667250"/>
            <a:ext cx="1638300" cy="68580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5" name="Shape 45"/>
          <p:cNvSpPr/>
          <p:nvPr/>
        </p:nvSpPr>
        <p:spPr>
          <a:xfrm>
            <a:off x="4876800" y="4667250"/>
            <a:ext cx="38100" cy="68580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6" name="Shape 46"/>
          <p:cNvSpPr/>
          <p:nvPr/>
        </p:nvSpPr>
        <p:spPr>
          <a:xfrm>
            <a:off x="4972050" y="4686300"/>
            <a:ext cx="1524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spc="100" dirty="0">
                <a:solidFill>
                  <a:srgbClr val="1F6B4F"/>
                </a:solidFill>
                <a:latin typeface="Segoe UI"/>
                <a:cs typeface="Segoe UI"/>
              </a:rPr>
              <a:t>KEY CONTROL</a:t>
            </a:r>
            <a:endParaRPr lang="en-US" sz="750" dirty="0"/>
          </a:p>
          <a:p>
            <a:pPr algn="l">
              <a:spcBef>
                <a:spcPts val="200"/>
              </a:spcBef>
              <a:buNone/>
            </a:pPr>
            <a:r>
              <a:rPr lang="en-US" sz="850" b="0" dirty="0">
                <a:solidFill>
                  <a:srgbClr val="1D2A24"/>
                </a:solidFill>
                <a:latin typeface="Segoe UI"/>
                <a:cs typeface="Segoe UI"/>
              </a:rPr>
              <a:t>Privileged roles assigned in Role management, not inferred</a:t>
            </a:r>
            <a:endParaRPr lang="en-US" sz="850" dirty="0"/>
          </a:p>
        </p:txBody>
      </p:sp>
      <p:sp>
        <p:nvSpPr>
          <p:cNvPr id="47" name="Shape 47"/>
          <p:cNvSpPr/>
          <p:nvPr/>
        </p:nvSpPr>
        <p:spPr>
          <a:xfrm>
            <a:off x="6591300" y="1847850"/>
            <a:ext cx="1714500" cy="552450"/>
          </a:xfrm>
          <a:prstGeom prst="chevron">
            <a:avLst>
              <a:gd name="adj" fmla="val 28000"/>
            </a:avLst>
          </a:prstGeom>
          <a:solidFill>
            <a:srgbClr val="0B4A36"/>
          </a:solidFill>
          <a:ln>
            <a:noFill/>
          </a:ln>
        </p:spPr>
        <p:txBody>
          <a:bodyPr wrap="square" lIns="228600" tIns="0" rIns="228600" bIns="0" anchor="ctr" rtlCol="0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D9C08A"/>
                </a:solidFill>
                <a:latin typeface="Segoe UI"/>
                <a:cs typeface="Segoe UI"/>
              </a:rPr>
              <a:t>04</a:t>
            </a:r>
            <a:endParaRPr lang="en-US" sz="900" dirty="0"/>
          </a:p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/>
                <a:cs typeface="Segoe UI"/>
              </a:rPr>
              <a:t>PET / Budget Request</a:t>
            </a:r>
            <a:endParaRPr lang="en-US" sz="1050" dirty="0"/>
          </a:p>
        </p:txBody>
      </p:sp>
      <p:sp>
        <p:nvSpPr>
          <p:cNvPr id="48" name="Shape 48"/>
          <p:cNvSpPr/>
          <p:nvPr/>
        </p:nvSpPr>
        <p:spPr>
          <a:xfrm>
            <a:off x="6629400" y="2476500"/>
            <a:ext cx="1638300" cy="419100"/>
          </a:xfrm>
          <a:prstGeom prst="roundRect">
            <a:avLst>
              <a:gd name="adj" fmla="val 20000"/>
            </a:avLst>
          </a:prstGeom>
          <a:solidFill>
            <a:srgbClr val="F7EEDB"/>
          </a:solidFill>
          <a:ln w="7144">
            <a:solidFill>
              <a:srgbClr val="BD8B22"/>
            </a:solidFill>
          </a:ln>
        </p:spPr>
        <p:txBody>
          <a:bodyPr wrap="square" lIns="76200" tIns="0" rIns="76200" bIns="0" anchor="ctr" rtlCol="0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1D2A24"/>
                </a:solidFill>
                <a:latin typeface="Segoe UI"/>
                <a:cs typeface="Segoe UI"/>
              </a:rPr>
              <a:t>Requestor</a:t>
            </a:r>
            <a:endParaRPr lang="en-US" sz="900" dirty="0"/>
          </a:p>
        </p:txBody>
      </p:sp>
      <p:sp>
        <p:nvSpPr>
          <p:cNvPr id="49" name="Shape 49"/>
          <p:cNvSpPr/>
          <p:nvPr/>
        </p:nvSpPr>
        <p:spPr>
          <a:xfrm>
            <a:off x="6629400" y="2971800"/>
            <a:ext cx="1638300" cy="590550"/>
          </a:xfrm>
          <a:prstGeom prst="rect">
            <a:avLst/>
          </a:prstGeom>
          <a:noFill/>
          <a:ln>
            <a:noFill/>
          </a:ln>
        </p:spPr>
        <p:txBody>
          <a:bodyPr wrap="square" lIns="19050" tIns="19050" rIns="19050" bIns="19050" anchor="t" rtlCol="0">
            <a:noAutofit/>
          </a:bodyPr>
          <a:lstStyle/>
          <a:p>
            <a:pPr algn="l">
              <a:buNone/>
            </a:pPr>
            <a:r>
              <a:rPr lang="en-US" sz="950" b="0" dirty="0">
                <a:solidFill>
                  <a:srgbClr val="1D2A24"/>
                </a:solidFill>
                <a:latin typeface="Segoe UI"/>
                <a:cs typeface="Segoe UI"/>
              </a:rPr>
              <a:t>PET with spend lines raised against a CAPEX / OPEX source</a:t>
            </a:r>
            <a:endParaRPr lang="en-US" sz="950" dirty="0"/>
          </a:p>
        </p:txBody>
      </p:sp>
      <p:sp>
        <p:nvSpPr>
          <p:cNvPr id="50" name="Shape 50"/>
          <p:cNvSpPr/>
          <p:nvPr/>
        </p:nvSpPr>
        <p:spPr>
          <a:xfrm>
            <a:off x="6629400" y="4667250"/>
            <a:ext cx="1638300" cy="68580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1" name="Shape 51"/>
          <p:cNvSpPr/>
          <p:nvPr/>
        </p:nvSpPr>
        <p:spPr>
          <a:xfrm>
            <a:off x="6629400" y="4667250"/>
            <a:ext cx="38100" cy="68580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2" name="Shape 52"/>
          <p:cNvSpPr/>
          <p:nvPr/>
        </p:nvSpPr>
        <p:spPr>
          <a:xfrm>
            <a:off x="6724650" y="4686300"/>
            <a:ext cx="1524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spc="100" dirty="0">
                <a:solidFill>
                  <a:srgbClr val="1F6B4F"/>
                </a:solidFill>
                <a:latin typeface="Segoe UI"/>
                <a:cs typeface="Segoe UI"/>
              </a:rPr>
              <a:t>KEY CONTROL</a:t>
            </a:r>
            <a:endParaRPr lang="en-US" sz="750" dirty="0"/>
          </a:p>
          <a:p>
            <a:pPr algn="l">
              <a:spcBef>
                <a:spcPts val="200"/>
              </a:spcBef>
              <a:buNone/>
            </a:pPr>
            <a:r>
              <a:rPr lang="en-US" sz="850" b="0" dirty="0">
                <a:solidFill>
                  <a:srgbClr val="1D2A24"/>
                </a:solidFill>
                <a:latin typeface="Segoe UI"/>
                <a:cs typeface="Segoe UI"/>
              </a:rPr>
              <a:t>Available budget shown; spend lines locked once reviewed</a:t>
            </a:r>
            <a:endParaRPr lang="en-US" sz="850" dirty="0"/>
          </a:p>
        </p:txBody>
      </p:sp>
      <p:sp>
        <p:nvSpPr>
          <p:cNvPr id="53" name="Shape 53"/>
          <p:cNvSpPr/>
          <p:nvPr/>
        </p:nvSpPr>
        <p:spPr>
          <a:xfrm>
            <a:off x="8343900" y="1847850"/>
            <a:ext cx="1714500" cy="552450"/>
          </a:xfrm>
          <a:prstGeom prst="chevron">
            <a:avLst>
              <a:gd name="adj" fmla="val 28000"/>
            </a:avLst>
          </a:prstGeom>
          <a:solidFill>
            <a:srgbClr val="0B4A36"/>
          </a:solidFill>
          <a:ln>
            <a:noFill/>
          </a:ln>
        </p:spPr>
        <p:txBody>
          <a:bodyPr wrap="square" lIns="228600" tIns="0" rIns="228600" bIns="0" anchor="ctr" rtlCol="0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D9C08A"/>
                </a:solidFill>
                <a:latin typeface="Segoe UI"/>
                <a:cs typeface="Segoe UI"/>
              </a:rPr>
              <a:t>05</a:t>
            </a:r>
            <a:endParaRPr lang="en-US" sz="900" dirty="0"/>
          </a:p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/>
                <a:cs typeface="Segoe UI"/>
              </a:rPr>
              <a:t>Review &amp; Approval</a:t>
            </a:r>
            <a:endParaRPr lang="en-US" sz="1050" dirty="0"/>
          </a:p>
        </p:txBody>
      </p:sp>
      <p:sp>
        <p:nvSpPr>
          <p:cNvPr id="54" name="Shape 54"/>
          <p:cNvSpPr/>
          <p:nvPr/>
        </p:nvSpPr>
        <p:spPr>
          <a:xfrm>
            <a:off x="8382000" y="2476500"/>
            <a:ext cx="1638300" cy="419100"/>
          </a:xfrm>
          <a:prstGeom prst="roundRect">
            <a:avLst>
              <a:gd name="adj" fmla="val 20000"/>
            </a:avLst>
          </a:prstGeom>
          <a:solidFill>
            <a:srgbClr val="F7EEDB"/>
          </a:solidFill>
          <a:ln w="7144">
            <a:solidFill>
              <a:srgbClr val="BD8B22"/>
            </a:solidFill>
          </a:ln>
        </p:spPr>
        <p:txBody>
          <a:bodyPr wrap="square" lIns="76200" tIns="0" rIns="76200" bIns="0" anchor="ctr" rtlCol="0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1D2A24"/>
                </a:solidFill>
                <a:latin typeface="Segoe UI"/>
                <a:cs typeface="Segoe UI"/>
              </a:rPr>
              <a:t>Reviewer (Exec Lead) → Approver (Exec)</a:t>
            </a:r>
            <a:endParaRPr lang="en-US" sz="900" dirty="0"/>
          </a:p>
        </p:txBody>
      </p:sp>
      <p:sp>
        <p:nvSpPr>
          <p:cNvPr id="55" name="Shape 55"/>
          <p:cNvSpPr/>
          <p:nvPr/>
        </p:nvSpPr>
        <p:spPr>
          <a:xfrm>
            <a:off x="8382000" y="2971800"/>
            <a:ext cx="1638300" cy="590550"/>
          </a:xfrm>
          <a:prstGeom prst="rect">
            <a:avLst/>
          </a:prstGeom>
          <a:noFill/>
          <a:ln>
            <a:noFill/>
          </a:ln>
        </p:spPr>
        <p:txBody>
          <a:bodyPr wrap="square" lIns="19050" tIns="19050" rIns="19050" bIns="19050" anchor="t" rtlCol="0">
            <a:noAutofit/>
          </a:bodyPr>
          <a:lstStyle/>
          <a:p>
            <a:pPr algn="l">
              <a:buNone/>
            </a:pPr>
            <a:r>
              <a:rPr lang="en-US" sz="950" b="0" dirty="0">
                <a:solidFill>
                  <a:srgbClr val="1D2A24"/>
                </a:solidFill>
                <a:latin typeface="Segoe UI"/>
                <a:cs typeface="Segoe UI"/>
              </a:rPr>
              <a:t>Decision recorded with comments at each stage</a:t>
            </a:r>
            <a:endParaRPr lang="en-US" sz="950" dirty="0"/>
          </a:p>
        </p:txBody>
      </p:sp>
      <p:sp>
        <p:nvSpPr>
          <p:cNvPr id="56" name="Shape 56"/>
          <p:cNvSpPr/>
          <p:nvPr/>
        </p:nvSpPr>
        <p:spPr>
          <a:xfrm>
            <a:off x="8382000" y="4667250"/>
            <a:ext cx="1638300" cy="68580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7" name="Shape 57"/>
          <p:cNvSpPr/>
          <p:nvPr/>
        </p:nvSpPr>
        <p:spPr>
          <a:xfrm>
            <a:off x="8382000" y="4667250"/>
            <a:ext cx="38100" cy="68580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8" name="Shape 58"/>
          <p:cNvSpPr/>
          <p:nvPr/>
        </p:nvSpPr>
        <p:spPr>
          <a:xfrm>
            <a:off x="8477250" y="4686300"/>
            <a:ext cx="1524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spc="100" dirty="0">
                <a:solidFill>
                  <a:srgbClr val="1F6B4F"/>
                </a:solidFill>
                <a:latin typeface="Segoe UI"/>
                <a:cs typeface="Segoe UI"/>
              </a:rPr>
              <a:t>KEY CONTROL</a:t>
            </a:r>
            <a:endParaRPr lang="en-US" sz="750" dirty="0"/>
          </a:p>
          <a:p>
            <a:pPr algn="l">
              <a:spcBef>
                <a:spcPts val="200"/>
              </a:spcBef>
              <a:buNone/>
            </a:pPr>
            <a:r>
              <a:rPr lang="en-US" sz="850" b="0" dirty="0">
                <a:solidFill>
                  <a:srgbClr val="1D2A24"/>
                </a:solidFill>
                <a:latin typeface="Segoe UI"/>
                <a:cs typeface="Segoe UI"/>
              </a:rPr>
              <a:t>Approval blocked above remaining budget; full decision history</a:t>
            </a:r>
            <a:endParaRPr lang="en-US" sz="850" dirty="0"/>
          </a:p>
        </p:txBody>
      </p:sp>
      <p:sp>
        <p:nvSpPr>
          <p:cNvPr id="59" name="Shape 59"/>
          <p:cNvSpPr/>
          <p:nvPr/>
        </p:nvSpPr>
        <p:spPr>
          <a:xfrm>
            <a:off x="10096500" y="1847850"/>
            <a:ext cx="1714500" cy="552450"/>
          </a:xfrm>
          <a:prstGeom prst="chevron">
            <a:avLst>
              <a:gd name="adj" fmla="val 28000"/>
            </a:avLst>
          </a:prstGeom>
          <a:solidFill>
            <a:srgbClr val="BD8B22"/>
          </a:solidFill>
          <a:ln>
            <a:noFill/>
          </a:ln>
        </p:spPr>
        <p:txBody>
          <a:bodyPr wrap="square" lIns="228600" tIns="0" rIns="228600" bIns="0" anchor="ctr" rtlCol="0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0B4A36"/>
                </a:solidFill>
                <a:latin typeface="Segoe UI"/>
                <a:cs typeface="Segoe UI"/>
              </a:rPr>
              <a:t>06</a:t>
            </a:r>
            <a:endParaRPr lang="en-US" sz="900" dirty="0"/>
          </a:p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/>
                <a:cs typeface="Segoe UI"/>
              </a:rPr>
              <a:t>Management Visibility</a:t>
            </a:r>
            <a:endParaRPr lang="en-US" sz="1050" dirty="0"/>
          </a:p>
        </p:txBody>
      </p:sp>
      <p:sp>
        <p:nvSpPr>
          <p:cNvPr id="60" name="Shape 60"/>
          <p:cNvSpPr/>
          <p:nvPr/>
        </p:nvSpPr>
        <p:spPr>
          <a:xfrm>
            <a:off x="10134600" y="2476500"/>
            <a:ext cx="1638300" cy="419100"/>
          </a:xfrm>
          <a:prstGeom prst="roundRect">
            <a:avLst>
              <a:gd name="adj" fmla="val 20000"/>
            </a:avLst>
          </a:prstGeom>
          <a:solidFill>
            <a:srgbClr val="F7EEDB"/>
          </a:solidFill>
          <a:ln w="7144">
            <a:solidFill>
              <a:srgbClr val="BD8B22"/>
            </a:solidFill>
          </a:ln>
        </p:spPr>
        <p:txBody>
          <a:bodyPr wrap="square" lIns="76200" tIns="0" rIns="76200" bIns="0" anchor="ctr" rtlCol="0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1D2A24"/>
                </a:solidFill>
                <a:latin typeface="Segoe UI"/>
                <a:cs typeface="Segoe UI"/>
              </a:rPr>
              <a:t>DIB Management · Portfolio owners</a:t>
            </a:r>
            <a:endParaRPr lang="en-US" sz="900" dirty="0"/>
          </a:p>
        </p:txBody>
      </p:sp>
      <p:sp>
        <p:nvSpPr>
          <p:cNvPr id="61" name="Shape 61"/>
          <p:cNvSpPr/>
          <p:nvPr/>
        </p:nvSpPr>
        <p:spPr>
          <a:xfrm>
            <a:off x="10134600" y="2971800"/>
            <a:ext cx="1638300" cy="590550"/>
          </a:xfrm>
          <a:prstGeom prst="rect">
            <a:avLst/>
          </a:prstGeom>
          <a:noFill/>
          <a:ln>
            <a:noFill/>
          </a:ln>
        </p:spPr>
        <p:txBody>
          <a:bodyPr wrap="square" lIns="19050" tIns="19050" rIns="19050" bIns="19050" anchor="t" rtlCol="0">
            <a:noAutofit/>
          </a:bodyPr>
          <a:lstStyle/>
          <a:p>
            <a:pPr algn="l">
              <a:buNone/>
            </a:pPr>
            <a:r>
              <a:rPr lang="en-US" sz="950" b="0" dirty="0">
                <a:solidFill>
                  <a:srgbClr val="1D2A24"/>
                </a:solidFill>
                <a:latin typeface="Segoe UI"/>
                <a:cs typeface="Segoe UI"/>
              </a:rPr>
              <a:t>Portfolio, approval status and utilization in one view</a:t>
            </a:r>
            <a:endParaRPr lang="en-US" sz="950" dirty="0"/>
          </a:p>
        </p:txBody>
      </p:sp>
      <p:sp>
        <p:nvSpPr>
          <p:cNvPr id="62" name="Shape 62"/>
          <p:cNvSpPr/>
          <p:nvPr/>
        </p:nvSpPr>
        <p:spPr>
          <a:xfrm>
            <a:off x="10134600" y="4667250"/>
            <a:ext cx="1638300" cy="68580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3" name="Shape 63"/>
          <p:cNvSpPr/>
          <p:nvPr/>
        </p:nvSpPr>
        <p:spPr>
          <a:xfrm>
            <a:off x="10134600" y="4667250"/>
            <a:ext cx="38100" cy="68580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4" name="Shape 64"/>
          <p:cNvSpPr/>
          <p:nvPr/>
        </p:nvSpPr>
        <p:spPr>
          <a:xfrm>
            <a:off x="10229850" y="4686300"/>
            <a:ext cx="1524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750" b="1" spc="100" dirty="0">
                <a:solidFill>
                  <a:srgbClr val="1F6B4F"/>
                </a:solidFill>
                <a:latin typeface="Segoe UI"/>
                <a:cs typeface="Segoe UI"/>
              </a:rPr>
              <a:t>KEY CONTROL</a:t>
            </a:r>
            <a:endParaRPr lang="en-US" sz="750" dirty="0"/>
          </a:p>
          <a:p>
            <a:pPr algn="l">
              <a:spcBef>
                <a:spcPts val="200"/>
              </a:spcBef>
              <a:buNone/>
            </a:pPr>
            <a:r>
              <a:rPr lang="en-US" sz="850" b="0" dirty="0">
                <a:solidFill>
                  <a:srgbClr val="1D2A24"/>
                </a:solidFill>
                <a:latin typeface="Segoe UI"/>
                <a:cs typeface="Segoe UI"/>
              </a:rPr>
              <a:t>Role-based views; Management report and CAPEX/OPEX utilization</a:t>
            </a:r>
            <a:endParaRPr lang="en-US" sz="850" dirty="0"/>
          </a:p>
        </p:txBody>
      </p:sp>
      <p:sp>
        <p:nvSpPr>
          <p:cNvPr id="65" name="Shape 65"/>
          <p:cNvSpPr/>
          <p:nvPr/>
        </p:nvSpPr>
        <p:spPr>
          <a:xfrm>
            <a:off x="3371850" y="3657600"/>
            <a:ext cx="1143000" cy="514350"/>
          </a:xfrm>
          <a:prstGeom prst="diamond">
            <a:avLst/>
          </a:prstGeom>
          <a:solidFill>
            <a:srgbClr val="F7EEDB"/>
          </a:solidFill>
          <a:ln w="9525">
            <a:solidFill>
              <a:srgbClr val="BD8B22"/>
            </a:solidFill>
          </a:ln>
        </p:spPr>
        <p:txBody>
          <a:bodyPr wrap="square" lIns="114300" tIns="0" rIns="114300" bIns="0" anchor="ctr" rtlCol="0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0B4A36"/>
                </a:solidFill>
                <a:latin typeface="Segoe UI"/>
                <a:cs typeface="Segoe UI"/>
              </a:rPr>
              <a:t>JIRA project?</a:t>
            </a:r>
            <a:endParaRPr lang="en-US" sz="900" dirty="0"/>
          </a:p>
        </p:txBody>
      </p:sp>
      <p:cxnSp>
        <p:nvCxnSpPr>
          <p:cNvPr id="66" name="Connector 66"/>
          <p:cNvCxnSpPr/>
          <p:nvPr/>
        </p:nvCxnSpPr>
        <p:spPr>
          <a:xfrm flipH="1">
            <a:off x="3524250" y="4038600"/>
            <a:ext cx="133350" cy="209550"/>
          </a:xfrm>
          <a:prstGeom prst="line">
            <a:avLst/>
          </a:prstGeom>
          <a:ln w="9525">
            <a:solidFill>
              <a:srgbClr val="BD8B22"/>
            </a:solidFill>
            <a:tailEnd type="triangle" w="med" len="med"/>
          </a:ln>
        </p:spPr>
      </p:cxnSp>
      <p:cxnSp>
        <p:nvCxnSpPr>
          <p:cNvPr id="67" name="Connector 67"/>
          <p:cNvCxnSpPr/>
          <p:nvPr/>
        </p:nvCxnSpPr>
        <p:spPr>
          <a:xfrm>
            <a:off x="4229100" y="4038600"/>
            <a:ext cx="133350" cy="209550"/>
          </a:xfrm>
          <a:prstGeom prst="line">
            <a:avLst/>
          </a:prstGeom>
          <a:ln w="9525">
            <a:solidFill>
              <a:srgbClr val="BD8B22"/>
            </a:solidFill>
            <a:tailEnd type="triangle" w="med" len="med"/>
          </a:ln>
        </p:spPr>
      </p:cxnSp>
      <p:sp>
        <p:nvSpPr>
          <p:cNvPr id="68" name="Shape 68"/>
          <p:cNvSpPr/>
          <p:nvPr/>
        </p:nvSpPr>
        <p:spPr>
          <a:xfrm>
            <a:off x="3124200" y="4248150"/>
            <a:ext cx="8001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US" sz="750" b="1" spc="100" dirty="0">
                <a:solidFill>
                  <a:srgbClr val="BD8B22"/>
                </a:solidFill>
                <a:latin typeface="Segoe UI"/>
                <a:cs typeface="Segoe UI"/>
              </a:rPr>
              <a:t>YES</a:t>
            </a:r>
            <a:endParaRPr lang="en-US" sz="750" dirty="0"/>
          </a:p>
          <a:p>
            <a:pPr algn="ctr">
              <a:buNone/>
            </a:pPr>
            <a:r>
              <a:rPr lang="en-US" sz="850" b="0" dirty="0">
                <a:solidFill>
                  <a:srgbClr val="1D2A24"/>
                </a:solidFill>
                <a:latin typeface="Segoe UI"/>
                <a:cs typeface="Segoe UI"/>
              </a:rPr>
              <a:t>Synced from JIRA</a:t>
            </a:r>
            <a:endParaRPr lang="en-US" sz="850" dirty="0"/>
          </a:p>
        </p:txBody>
      </p:sp>
      <p:sp>
        <p:nvSpPr>
          <p:cNvPr id="69" name="Shape 69"/>
          <p:cNvSpPr/>
          <p:nvPr/>
        </p:nvSpPr>
        <p:spPr>
          <a:xfrm>
            <a:off x="3962400" y="4248150"/>
            <a:ext cx="8001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US" sz="750" b="1" spc="100" dirty="0">
                <a:solidFill>
                  <a:srgbClr val="BD8B22"/>
                </a:solidFill>
                <a:latin typeface="Segoe UI"/>
                <a:cs typeface="Segoe UI"/>
              </a:rPr>
              <a:t>NO</a:t>
            </a:r>
            <a:endParaRPr lang="en-US" sz="750" dirty="0"/>
          </a:p>
          <a:p>
            <a:pPr algn="ctr">
              <a:buNone/>
            </a:pPr>
            <a:r>
              <a:rPr lang="en-US" sz="850" b="0" dirty="0">
                <a:solidFill>
                  <a:srgbClr val="1D2A24"/>
                </a:solidFill>
                <a:latin typeface="Segoe UI"/>
                <a:cs typeface="Segoe UI"/>
              </a:rPr>
              <a:t>Manual entry</a:t>
            </a:r>
            <a:endParaRPr lang="en-US" sz="850" dirty="0"/>
          </a:p>
        </p:txBody>
      </p:sp>
      <p:sp>
        <p:nvSpPr>
          <p:cNvPr id="70" name="Shape 70"/>
          <p:cNvSpPr/>
          <p:nvPr/>
        </p:nvSpPr>
        <p:spPr>
          <a:xfrm>
            <a:off x="6877050" y="3657600"/>
            <a:ext cx="1143000" cy="514350"/>
          </a:xfrm>
          <a:prstGeom prst="diamond">
            <a:avLst/>
          </a:prstGeom>
          <a:solidFill>
            <a:srgbClr val="F7EEDB"/>
          </a:solidFill>
          <a:ln w="9525">
            <a:solidFill>
              <a:srgbClr val="BD8B22"/>
            </a:solidFill>
          </a:ln>
        </p:spPr>
        <p:txBody>
          <a:bodyPr wrap="square" lIns="114300" tIns="0" rIns="114300" bIns="0" anchor="ctr" rtlCol="0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0B4A36"/>
                </a:solidFill>
                <a:latin typeface="Segoe UI"/>
                <a:cs typeface="Segoe UI"/>
              </a:rPr>
              <a:t>Review required?</a:t>
            </a:r>
            <a:endParaRPr lang="en-US" sz="900" dirty="0"/>
          </a:p>
        </p:txBody>
      </p:sp>
      <p:cxnSp>
        <p:nvCxnSpPr>
          <p:cNvPr id="71" name="Connector 71"/>
          <p:cNvCxnSpPr/>
          <p:nvPr/>
        </p:nvCxnSpPr>
        <p:spPr>
          <a:xfrm flipH="1">
            <a:off x="7029450" y="4038600"/>
            <a:ext cx="133350" cy="209550"/>
          </a:xfrm>
          <a:prstGeom prst="line">
            <a:avLst/>
          </a:prstGeom>
          <a:ln w="9525">
            <a:solidFill>
              <a:srgbClr val="BD8B22"/>
            </a:solidFill>
            <a:tailEnd type="triangle" w="med" len="med"/>
          </a:ln>
        </p:spPr>
      </p:cxnSp>
      <p:cxnSp>
        <p:nvCxnSpPr>
          <p:cNvPr id="72" name="Connector 72"/>
          <p:cNvCxnSpPr/>
          <p:nvPr/>
        </p:nvCxnSpPr>
        <p:spPr>
          <a:xfrm>
            <a:off x="7734300" y="4038600"/>
            <a:ext cx="133350" cy="209550"/>
          </a:xfrm>
          <a:prstGeom prst="line">
            <a:avLst/>
          </a:prstGeom>
          <a:ln w="9525">
            <a:solidFill>
              <a:srgbClr val="BD8B22"/>
            </a:solidFill>
            <a:tailEnd type="triangle" w="med" len="med"/>
          </a:ln>
        </p:spPr>
      </p:cxnSp>
      <p:sp>
        <p:nvSpPr>
          <p:cNvPr id="73" name="Shape 73"/>
          <p:cNvSpPr/>
          <p:nvPr/>
        </p:nvSpPr>
        <p:spPr>
          <a:xfrm>
            <a:off x="6629400" y="4248150"/>
            <a:ext cx="8001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US" sz="750" b="1" spc="100" dirty="0">
                <a:solidFill>
                  <a:srgbClr val="BD8B22"/>
                </a:solidFill>
                <a:latin typeface="Segoe UI"/>
                <a:cs typeface="Segoe UI"/>
              </a:rPr>
              <a:t>YES</a:t>
            </a:r>
            <a:endParaRPr lang="en-US" sz="750" dirty="0"/>
          </a:p>
          <a:p>
            <a:pPr algn="ctr">
              <a:buNone/>
            </a:pPr>
            <a:r>
              <a:rPr lang="en-US" sz="850" b="0" dirty="0">
                <a:solidFill>
                  <a:srgbClr val="1D2A24"/>
                </a:solidFill>
                <a:latin typeface="Segoe UI"/>
                <a:cs typeface="Segoe UI"/>
              </a:rPr>
              <a:t>Pending Review</a:t>
            </a:r>
            <a:endParaRPr lang="en-US" sz="850" dirty="0"/>
          </a:p>
        </p:txBody>
      </p:sp>
      <p:sp>
        <p:nvSpPr>
          <p:cNvPr id="74" name="Shape 74"/>
          <p:cNvSpPr/>
          <p:nvPr/>
        </p:nvSpPr>
        <p:spPr>
          <a:xfrm>
            <a:off x="7467600" y="4248150"/>
            <a:ext cx="8001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US" sz="750" b="1" spc="100" dirty="0">
                <a:solidFill>
                  <a:srgbClr val="BD8B22"/>
                </a:solidFill>
                <a:latin typeface="Segoe UI"/>
                <a:cs typeface="Segoe UI"/>
              </a:rPr>
              <a:t>NO</a:t>
            </a:r>
            <a:endParaRPr lang="en-US" sz="750" dirty="0"/>
          </a:p>
          <a:p>
            <a:pPr algn="ctr">
              <a:buNone/>
            </a:pPr>
            <a:r>
              <a:rPr lang="en-US" sz="850" b="0" dirty="0">
                <a:solidFill>
                  <a:srgbClr val="1D2A24"/>
                </a:solidFill>
                <a:latin typeface="Segoe UI"/>
                <a:cs typeface="Segoe UI"/>
              </a:rPr>
              <a:t>Pending Approval</a:t>
            </a:r>
            <a:endParaRPr lang="en-US" sz="850" dirty="0"/>
          </a:p>
        </p:txBody>
      </p:sp>
      <p:sp>
        <p:nvSpPr>
          <p:cNvPr id="75" name="Shape 75"/>
          <p:cNvSpPr/>
          <p:nvPr/>
        </p:nvSpPr>
        <p:spPr>
          <a:xfrm>
            <a:off x="1371600" y="3981450"/>
            <a:ext cx="16383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100" b="0" dirty="0">
                <a:solidFill>
                  <a:srgbClr val="C3CBC7"/>
                </a:solidFill>
                <a:latin typeface="Segoe UI"/>
                <a:cs typeface="Segoe UI"/>
              </a:rPr>
              <a:t>—</a:t>
            </a:r>
            <a:endParaRPr lang="en-US" sz="1100" dirty="0"/>
          </a:p>
        </p:txBody>
      </p:sp>
      <p:sp>
        <p:nvSpPr>
          <p:cNvPr id="76" name="Shape 76"/>
          <p:cNvSpPr/>
          <p:nvPr/>
        </p:nvSpPr>
        <p:spPr>
          <a:xfrm>
            <a:off x="4876800" y="3981450"/>
            <a:ext cx="16383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100" b="0" dirty="0">
                <a:solidFill>
                  <a:srgbClr val="C3CBC7"/>
                </a:solidFill>
                <a:latin typeface="Segoe UI"/>
                <a:cs typeface="Segoe UI"/>
              </a:rPr>
              <a:t>—</a:t>
            </a:r>
            <a:endParaRPr lang="en-US" sz="1100" dirty="0"/>
          </a:p>
        </p:txBody>
      </p:sp>
      <p:sp>
        <p:nvSpPr>
          <p:cNvPr id="77" name="Shape 77"/>
          <p:cNvSpPr/>
          <p:nvPr/>
        </p:nvSpPr>
        <p:spPr>
          <a:xfrm>
            <a:off x="10134600" y="3981450"/>
            <a:ext cx="16383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100" b="0" dirty="0">
                <a:solidFill>
                  <a:srgbClr val="C3CBC7"/>
                </a:solidFill>
                <a:latin typeface="Segoe UI"/>
                <a:cs typeface="Segoe UI"/>
              </a:rPr>
              <a:t>—</a:t>
            </a:r>
            <a:endParaRPr lang="en-US" sz="1100" dirty="0"/>
          </a:p>
        </p:txBody>
      </p:sp>
      <p:sp>
        <p:nvSpPr>
          <p:cNvPr id="78" name="Shape 78"/>
          <p:cNvSpPr/>
          <p:nvPr/>
        </p:nvSpPr>
        <p:spPr>
          <a:xfrm>
            <a:off x="8382000" y="3676650"/>
            <a:ext cx="1638300" cy="247650"/>
          </a:xfrm>
          <a:prstGeom prst="roundRect">
            <a:avLst>
              <a:gd name="adj" fmla="val 25000"/>
            </a:avLst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/>
                <a:cs typeface="Segoe UI"/>
              </a:rPr>
              <a:t>Approve → next stage</a:t>
            </a:r>
            <a:endParaRPr lang="en-US" sz="900" dirty="0"/>
          </a:p>
        </p:txBody>
      </p:sp>
      <p:sp>
        <p:nvSpPr>
          <p:cNvPr id="79" name="Shape 79"/>
          <p:cNvSpPr/>
          <p:nvPr/>
        </p:nvSpPr>
        <p:spPr>
          <a:xfrm>
            <a:off x="8382000" y="3981450"/>
            <a:ext cx="1638300" cy="247650"/>
          </a:xfrm>
          <a:prstGeom prst="roundRect">
            <a:avLst>
              <a:gd name="adj" fmla="val 25000"/>
            </a:avLst>
          </a:prstGeom>
          <a:solidFill>
            <a:srgbClr val="F7EEDB"/>
          </a:solidFill>
          <a:ln w="9525">
            <a:solidFill>
              <a:srgbClr val="BD8B22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0B4A36"/>
                </a:solidFill>
                <a:latin typeface="Segoe UI"/>
                <a:cs typeface="Segoe UI"/>
              </a:rPr>
              <a:t>Send back → amend &amp; resubmit</a:t>
            </a:r>
            <a:endParaRPr lang="en-US" sz="900" dirty="0"/>
          </a:p>
        </p:txBody>
      </p:sp>
      <p:sp>
        <p:nvSpPr>
          <p:cNvPr id="80" name="Shape 80"/>
          <p:cNvSpPr/>
          <p:nvPr/>
        </p:nvSpPr>
        <p:spPr>
          <a:xfrm>
            <a:off x="8382000" y="4286250"/>
            <a:ext cx="1638300" cy="24765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8B918E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4A524E"/>
                </a:solidFill>
                <a:latin typeface="Segoe UI"/>
                <a:cs typeface="Segoe UI"/>
              </a:rPr>
              <a:t>Reject → closed</a:t>
            </a:r>
            <a:endParaRPr lang="en-US" sz="900" dirty="0"/>
          </a:p>
        </p:txBody>
      </p:sp>
      <p:cxnSp>
        <p:nvCxnSpPr>
          <p:cNvPr id="81" name="Connector 81"/>
          <p:cNvCxnSpPr/>
          <p:nvPr/>
        </p:nvCxnSpPr>
        <p:spPr>
          <a:xfrm flipH="1">
            <a:off x="8058150" y="4105275"/>
            <a:ext cx="304800" cy="0"/>
          </a:xfrm>
          <a:prstGeom prst="line">
            <a:avLst/>
          </a:prstGeom>
          <a:ln w="14288">
            <a:solidFill>
              <a:srgbClr val="BD8B22"/>
            </a:solidFill>
            <a:prstDash val="dash"/>
            <a:tailEnd type="triangle" w="med" len="med"/>
          </a:ln>
        </p:spPr>
      </p:cxnSp>
      <p:sp>
        <p:nvSpPr>
          <p:cNvPr id="82" name="Shape 82"/>
          <p:cNvSpPr/>
          <p:nvPr/>
        </p:nvSpPr>
        <p:spPr>
          <a:xfrm>
            <a:off x="381000" y="5486400"/>
            <a:ext cx="11430000" cy="704850"/>
          </a:xfrm>
          <a:prstGeom prst="rect">
            <a:avLst/>
          </a:prstGeom>
          <a:solidFill>
            <a:srgbClr val="F3F4F2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83" name="Shape 83"/>
          <p:cNvSpPr/>
          <p:nvPr/>
        </p:nvSpPr>
        <p:spPr>
          <a:xfrm>
            <a:off x="533400" y="5543550"/>
            <a:ext cx="200025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50" b="1" spc="150" dirty="0">
                <a:solidFill>
                  <a:srgbClr val="BD8B22"/>
                </a:solidFill>
                <a:latin typeface="Segoe UI"/>
                <a:cs typeface="Segoe UI"/>
              </a:rPr>
              <a:t>AFTER PET APPROVAL</a:t>
            </a:r>
            <a:endParaRPr lang="en-US" sz="850" dirty="0"/>
          </a:p>
          <a:p>
            <a:pPr algn="l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0B4A36"/>
                </a:solidFill>
                <a:latin typeface="Segoe UI"/>
                <a:cs typeface="Segoe UI"/>
              </a:rPr>
              <a:t>Execution tracking</a:t>
            </a:r>
            <a:endParaRPr lang="en-US" sz="1300" dirty="0"/>
          </a:p>
        </p:txBody>
      </p:sp>
      <p:sp>
        <p:nvSpPr>
          <p:cNvPr id="84" name="Shape 84"/>
          <p:cNvSpPr/>
          <p:nvPr/>
        </p:nvSpPr>
        <p:spPr>
          <a:xfrm>
            <a:off x="2667000" y="5619750"/>
            <a:ext cx="2247900" cy="438150"/>
          </a:xfrm>
          <a:prstGeom prst="homePlate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0B4A36"/>
            </a:solidFill>
          </a:ln>
        </p:spPr>
        <p:txBody>
          <a:bodyPr wrap="square" lIns="228600" tIns="0" rIns="228600" bIns="0" anchor="ctr" rtlCol="0">
            <a:noAutofit/>
          </a:bodyPr>
          <a:lstStyle/>
          <a:p>
            <a:pPr algn="ctr">
              <a:buNone/>
            </a:pPr>
            <a:r>
              <a:rPr lang="en-US" sz="950" b="1" dirty="0">
                <a:solidFill>
                  <a:srgbClr val="0B4A36"/>
                </a:solidFill>
                <a:latin typeface="Segoe UI"/>
                <a:cs typeface="Segoe UI"/>
              </a:rPr>
              <a:t>Budget lines (approved PET only)</a:t>
            </a:r>
            <a:endParaRPr lang="en-US" sz="950" dirty="0"/>
          </a:p>
        </p:txBody>
      </p:sp>
      <p:sp>
        <p:nvSpPr>
          <p:cNvPr id="85" name="Shape 85"/>
          <p:cNvSpPr/>
          <p:nvPr/>
        </p:nvSpPr>
        <p:spPr>
          <a:xfrm>
            <a:off x="4933950" y="5619750"/>
            <a:ext cx="2247900" cy="438150"/>
          </a:xfrm>
          <a:prstGeom prst="chevron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0B4A36"/>
            </a:solidFill>
          </a:ln>
        </p:spPr>
        <p:txBody>
          <a:bodyPr wrap="square" lIns="228600" tIns="0" rIns="228600" bIns="0" anchor="ctr" rtlCol="0">
            <a:noAutofit/>
          </a:bodyPr>
          <a:lstStyle/>
          <a:p>
            <a:pPr algn="ctr">
              <a:buNone/>
            </a:pPr>
            <a:r>
              <a:rPr lang="en-US" sz="950" b="1" dirty="0">
                <a:solidFill>
                  <a:srgbClr val="0B4A36"/>
                </a:solidFill>
                <a:latin typeface="Segoe UI"/>
                <a:cs typeface="Segoe UI"/>
              </a:rPr>
              <a:t>CAM &amp; LPO status</a:t>
            </a:r>
            <a:endParaRPr lang="en-US" sz="950" dirty="0"/>
          </a:p>
        </p:txBody>
      </p:sp>
      <p:sp>
        <p:nvSpPr>
          <p:cNvPr id="86" name="Shape 86"/>
          <p:cNvSpPr/>
          <p:nvPr/>
        </p:nvSpPr>
        <p:spPr>
          <a:xfrm>
            <a:off x="7200900" y="5619750"/>
            <a:ext cx="2247900" cy="438150"/>
          </a:xfrm>
          <a:prstGeom prst="chevron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0B4A36"/>
            </a:solidFill>
          </a:ln>
        </p:spPr>
        <p:txBody>
          <a:bodyPr wrap="square" lIns="228600" tIns="0" rIns="228600" bIns="0" anchor="ctr" rtlCol="0">
            <a:noAutofit/>
          </a:bodyPr>
          <a:lstStyle/>
          <a:p>
            <a:pPr algn="ctr">
              <a:buNone/>
            </a:pPr>
            <a:r>
              <a:rPr lang="en-US" sz="950" b="1" dirty="0">
                <a:solidFill>
                  <a:srgbClr val="0B4A36"/>
                </a:solidFill>
                <a:latin typeface="Segoe UI"/>
                <a:cs typeface="Segoe UI"/>
              </a:rPr>
              <a:t>Invoices &amp; settlement</a:t>
            </a:r>
            <a:endParaRPr lang="en-US" sz="950" dirty="0"/>
          </a:p>
        </p:txBody>
      </p:sp>
      <p:sp>
        <p:nvSpPr>
          <p:cNvPr id="87" name="Shape 87"/>
          <p:cNvSpPr/>
          <p:nvPr/>
        </p:nvSpPr>
        <p:spPr>
          <a:xfrm>
            <a:off x="9467850" y="5619750"/>
            <a:ext cx="2247900" cy="438150"/>
          </a:xfrm>
          <a:prstGeom prst="chevron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0B4A36"/>
            </a:solidFill>
          </a:ln>
        </p:spPr>
        <p:txBody>
          <a:bodyPr wrap="square" lIns="228600" tIns="0" rIns="228600" bIns="0" anchor="ctr" rtlCol="0">
            <a:noAutofit/>
          </a:bodyPr>
          <a:lstStyle/>
          <a:p>
            <a:pPr algn="ctr">
              <a:buNone/>
            </a:pPr>
            <a:r>
              <a:rPr lang="en-US" sz="950" b="1" dirty="0">
                <a:solidFill>
                  <a:srgbClr val="0B4A36"/>
                </a:solidFill>
                <a:latin typeface="Segoe UI"/>
                <a:cs typeface="Segoe UI"/>
              </a:rPr>
              <a:t>GL funding &amp; CAPEX/OPEX utilization</a:t>
            </a:r>
            <a:endParaRPr lang="en-US" sz="950" dirty="0"/>
          </a:p>
        </p:txBody>
      </p:sp>
      <p:sp>
        <p:nvSpPr>
          <p:cNvPr id="88" name="Shape 88"/>
          <p:cNvSpPr/>
          <p:nvPr/>
        </p:nvSpPr>
        <p:spPr>
          <a:xfrm>
            <a:off x="381000" y="6229350"/>
            <a:ext cx="11430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5B6862"/>
                </a:solidFill>
                <a:latin typeface="Segoe UI"/>
                <a:cs typeface="Segoe UI"/>
              </a:rPr>
              <a:t>All stages, roles, decisions and controls shown are implemented in the current Falcon portal.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" name="Shape 3"/>
          <p:cNvSpPr/>
          <p:nvPr/>
        </p:nvSpPr>
        <p:spPr>
          <a:xfrm>
            <a:off x="0" y="647700"/>
            <a:ext cx="12192000" cy="38100"/>
          </a:xfrm>
          <a:prstGeom prst="rect">
            <a:avLst/>
          </a:prstGeom>
          <a:solidFill>
            <a:srgbClr val="BD8B22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81000" y="152400"/>
            <a:ext cx="342900" cy="342900"/>
          </a:xfrm>
          <a:prstGeom prst="roundRect">
            <a:avLst>
              <a:gd name="adj" fmla="val 18000"/>
            </a:avLst>
          </a:prstGeom>
          <a:solidFill>
            <a:srgbClr val="BD8B22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B4A36"/>
                </a:solidFill>
                <a:latin typeface="Segoe UI"/>
                <a:cs typeface="Segoe UI"/>
              </a:rPr>
              <a:t>F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838200" y="1333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500" b="1" spc="300" dirty="0">
                <a:solidFill>
                  <a:srgbClr val="FFFFFF"/>
                </a:solidFill>
                <a:latin typeface="Segoe UI"/>
                <a:cs typeface="Segoe UI"/>
              </a:rPr>
              <a:t>FALCON</a:t>
            </a:r>
            <a:endParaRPr lang="en-US" sz="1500" dirty="0"/>
          </a:p>
        </p:txBody>
      </p:sp>
      <p:sp>
        <p:nvSpPr>
          <p:cNvPr id="6" name="Shape 6"/>
          <p:cNvSpPr/>
          <p:nvPr/>
        </p:nvSpPr>
        <p:spPr>
          <a:xfrm>
            <a:off x="838200" y="3619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000" b="0" dirty="0">
                <a:solidFill>
                  <a:srgbClr val="D9C08A"/>
                </a:solidFill>
                <a:latin typeface="Segoe UI"/>
                <a:cs typeface="Segoe UI"/>
              </a:rPr>
              <a:t>Portfolio Portal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7429500" y="209550"/>
            <a:ext cx="4381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US" sz="1000" b="1" spc="150" dirty="0">
                <a:solidFill>
                  <a:srgbClr val="C7D5CE"/>
                </a:solidFill>
                <a:latin typeface="Segoe UI"/>
                <a:cs typeface="Segoe UI"/>
              </a:rPr>
              <a:t>DIB MANAGEMENT BRIEFING</a:t>
            </a:r>
            <a:endParaRPr lang="en-US" sz="1000" dirty="0"/>
          </a:p>
        </p:txBody>
      </p:sp>
      <p:sp>
        <p:nvSpPr>
          <p:cNvPr id="8" name="Shape 8"/>
          <p:cNvSpPr/>
          <p:nvPr/>
        </p:nvSpPr>
        <p:spPr>
          <a:xfrm>
            <a:off x="381000" y="6505575"/>
            <a:ext cx="11430000" cy="9525"/>
          </a:xfrm>
          <a:prstGeom prst="rect">
            <a:avLst/>
          </a:prstGeom>
          <a:solidFill>
            <a:srgbClr val="D5DDD8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381000" y="657225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900" b="1" spc="50" dirty="0">
                <a:solidFill>
                  <a:srgbClr val="5B6862"/>
                </a:solidFill>
                <a:latin typeface="Segoe UI"/>
                <a:cs typeface="Segoe UI"/>
              </a:rPr>
              <a:t>Falcon Portfolio Portal  ·  DIB Management Briefing</a:t>
            </a:r>
            <a:endParaRPr lang="en-US" sz="900" dirty="0"/>
          </a:p>
        </p:txBody>
      </p:sp>
      <p:sp>
        <p:nvSpPr>
          <p:cNvPr id="10" name="Shape 10"/>
          <p:cNvSpPr/>
          <p:nvPr/>
        </p:nvSpPr>
        <p:spPr>
          <a:xfrm>
            <a:off x="9906000" y="65722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US" sz="900" b="1" dirty="0">
                <a:solidFill>
                  <a:srgbClr val="0B4A36"/>
                </a:solidFill>
                <a:latin typeface="Segoe UI"/>
                <a:cs typeface="Segoe UI"/>
              </a:rPr>
              <a:t>03 / 03</a:t>
            </a:r>
            <a:endParaRPr lang="en-US" sz="900" dirty="0"/>
          </a:p>
        </p:txBody>
      </p:sp>
      <p:sp>
        <p:nvSpPr>
          <p:cNvPr id="11" name="Shape 11"/>
          <p:cNvSpPr/>
          <p:nvPr/>
        </p:nvSpPr>
        <p:spPr>
          <a:xfrm>
            <a:off x="381000" y="838200"/>
            <a:ext cx="7620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000" b="1" spc="200" dirty="0">
                <a:solidFill>
                  <a:srgbClr val="BD8B22"/>
                </a:solidFill>
                <a:latin typeface="Segoe UI"/>
                <a:cs typeface="Segoe UI"/>
              </a:rPr>
              <a:t>BUSINESS IMPACT FOR DIB</a:t>
            </a:r>
            <a:endParaRPr lang="en-US" sz="1000" dirty="0"/>
          </a:p>
        </p:txBody>
      </p:sp>
      <p:sp>
        <p:nvSpPr>
          <p:cNvPr id="12" name="Shape 12"/>
          <p:cNvSpPr/>
          <p:nvPr/>
        </p:nvSpPr>
        <p:spPr>
          <a:xfrm>
            <a:off x="381000" y="1028700"/>
            <a:ext cx="10477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2600" b="1" dirty="0">
                <a:solidFill>
                  <a:srgbClr val="0B4A36"/>
                </a:solidFill>
                <a:latin typeface="Segoe UI"/>
                <a:cs typeface="Segoe UI"/>
              </a:rPr>
              <a:t>From manual tracking to governed, decision-ready data</a:t>
            </a:r>
            <a:endParaRPr lang="en-US" sz="2600" dirty="0"/>
          </a:p>
        </p:txBody>
      </p:sp>
      <p:sp>
        <p:nvSpPr>
          <p:cNvPr id="13" name="Shape 13"/>
          <p:cNvSpPr/>
          <p:nvPr/>
        </p:nvSpPr>
        <p:spPr>
          <a:xfrm>
            <a:off x="381000" y="14478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5B6862"/>
                </a:solidFill>
                <a:latin typeface="Segoe UI"/>
                <a:cs typeface="Segoe UI"/>
              </a:rPr>
              <a:t>For each area: the typical starting point, how Falcon enables change, the outcome for DIB, and a KPI to track.</a:t>
            </a:r>
            <a:endParaRPr lang="en-US" sz="1250" dirty="0"/>
          </a:p>
        </p:txBody>
      </p:sp>
      <p:sp>
        <p:nvSpPr>
          <p:cNvPr id="14" name="Shape 14"/>
          <p:cNvSpPr/>
          <p:nvPr/>
        </p:nvSpPr>
        <p:spPr>
          <a:xfrm>
            <a:off x="381000" y="1847850"/>
            <a:ext cx="19621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50" b="1" spc="100" dirty="0">
                <a:solidFill>
                  <a:srgbClr val="5B6862"/>
                </a:solidFill>
                <a:latin typeface="Segoe UI"/>
                <a:cs typeface="Segoe UI"/>
              </a:rPr>
              <a:t>IMPACT AREA</a:t>
            </a:r>
            <a:endParaRPr lang="en-US" sz="850" dirty="0"/>
          </a:p>
        </p:txBody>
      </p:sp>
      <p:sp>
        <p:nvSpPr>
          <p:cNvPr id="15" name="Shape 15"/>
          <p:cNvSpPr/>
          <p:nvPr/>
        </p:nvSpPr>
        <p:spPr>
          <a:xfrm>
            <a:off x="2400300" y="1847850"/>
            <a:ext cx="207645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850" b="1" spc="100" dirty="0">
                <a:solidFill>
                  <a:srgbClr val="8B918E"/>
                </a:solidFill>
                <a:latin typeface="Segoe UI"/>
                <a:cs typeface="Segoe UI"/>
              </a:rPr>
              <a:t>TYPICAL BEFORE</a:t>
            </a:r>
            <a:endParaRPr lang="en-US" sz="850" dirty="0"/>
          </a:p>
        </p:txBody>
      </p:sp>
      <p:sp>
        <p:nvSpPr>
          <p:cNvPr id="16" name="Shape 16"/>
          <p:cNvSpPr/>
          <p:nvPr/>
        </p:nvSpPr>
        <p:spPr>
          <a:xfrm>
            <a:off x="4838700" y="184785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850" b="1" spc="100" dirty="0">
                <a:solidFill>
                  <a:srgbClr val="0B4A36"/>
                </a:solidFill>
                <a:latin typeface="Segoe UI"/>
                <a:cs typeface="Segoe UI"/>
              </a:rPr>
              <a:t>WITH FALCON  (IN PORTAL)</a:t>
            </a:r>
            <a:endParaRPr lang="en-US" sz="850" dirty="0"/>
          </a:p>
        </p:txBody>
      </p:sp>
      <p:sp>
        <p:nvSpPr>
          <p:cNvPr id="17" name="Shape 17"/>
          <p:cNvSpPr/>
          <p:nvPr/>
        </p:nvSpPr>
        <p:spPr>
          <a:xfrm>
            <a:off x="7753350" y="1847850"/>
            <a:ext cx="211455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850" b="1" spc="100" dirty="0">
                <a:solidFill>
                  <a:srgbClr val="0B4A36"/>
                </a:solidFill>
                <a:latin typeface="Segoe UI"/>
                <a:cs typeface="Segoe UI"/>
              </a:rPr>
              <a:t>BUSINESS OUTCOME</a:t>
            </a:r>
            <a:endParaRPr lang="en-US" sz="850" dirty="0"/>
          </a:p>
        </p:txBody>
      </p:sp>
      <p:sp>
        <p:nvSpPr>
          <p:cNvPr id="18" name="Shape 18"/>
          <p:cNvSpPr/>
          <p:nvPr/>
        </p:nvSpPr>
        <p:spPr>
          <a:xfrm>
            <a:off x="9925050" y="1847850"/>
            <a:ext cx="1885950" cy="247650"/>
          </a:xfrm>
          <a:prstGeom prst="rect">
            <a:avLst/>
          </a:prstGeom>
          <a:noFill/>
          <a:ln>
            <a:noFill/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850" b="1" spc="100" dirty="0">
                <a:solidFill>
                  <a:srgbClr val="BD8B22"/>
                </a:solidFill>
                <a:latin typeface="Segoe UI"/>
                <a:cs typeface="Segoe UI"/>
              </a:rPr>
              <a:t>KPI TO TRACK  (PROPOSED)</a:t>
            </a:r>
            <a:endParaRPr lang="en-US" sz="850" dirty="0"/>
          </a:p>
        </p:txBody>
      </p:sp>
      <p:sp>
        <p:nvSpPr>
          <p:cNvPr id="19" name="Shape 19"/>
          <p:cNvSpPr/>
          <p:nvPr/>
        </p:nvSpPr>
        <p:spPr>
          <a:xfrm>
            <a:off x="381000" y="2133600"/>
            <a:ext cx="11430000" cy="1905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0" name="Shape 20"/>
          <p:cNvSpPr/>
          <p:nvPr/>
        </p:nvSpPr>
        <p:spPr>
          <a:xfrm>
            <a:off x="381000" y="2228850"/>
            <a:ext cx="19621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8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1" name="Shape 21"/>
          <p:cNvSpPr/>
          <p:nvPr/>
        </p:nvSpPr>
        <p:spPr>
          <a:xfrm>
            <a:off x="476250" y="2409825"/>
            <a:ext cx="342900" cy="342900"/>
          </a:xfrm>
          <a:prstGeom prst="ellipse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  <a:endParaRPr lang="en-US" sz="1200" dirty="0"/>
          </a:p>
        </p:txBody>
      </p:sp>
      <p:sp>
        <p:nvSpPr>
          <p:cNvPr id="22" name="Shape 22"/>
          <p:cNvSpPr/>
          <p:nvPr/>
        </p:nvSpPr>
        <p:spPr>
          <a:xfrm>
            <a:off x="895350" y="2228850"/>
            <a:ext cx="14097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0B4A36"/>
                </a:solidFill>
                <a:latin typeface="Segoe UI"/>
                <a:cs typeface="Segoe UI"/>
              </a:rPr>
              <a:t>Project visibility &amp; reporting</a:t>
            </a:r>
            <a:endParaRPr lang="en-US" sz="1150" dirty="0"/>
          </a:p>
        </p:txBody>
      </p:sp>
      <p:sp>
        <p:nvSpPr>
          <p:cNvPr id="23" name="Shape 23"/>
          <p:cNvSpPr/>
          <p:nvPr/>
        </p:nvSpPr>
        <p:spPr>
          <a:xfrm>
            <a:off x="2400300" y="2228850"/>
            <a:ext cx="2076450" cy="704850"/>
          </a:xfrm>
          <a:prstGeom prst="rect">
            <a:avLst/>
          </a:prstGeom>
          <a:solidFill>
            <a:srgbClr val="F3F4F2"/>
          </a:solidFill>
          <a:ln>
            <a:noFill/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1000" b="0" dirty="0">
                <a:solidFill>
                  <a:srgbClr val="4A524E"/>
                </a:solidFill>
                <a:latin typeface="Segoe UI"/>
                <a:cs typeface="Segoe UI"/>
              </a:rPr>
              <a:t>Portfolio status assembled manually from JIRA, spreadsheets and email</a:t>
            </a:r>
            <a:endParaRPr lang="en-US" sz="1000" dirty="0"/>
          </a:p>
        </p:txBody>
      </p:sp>
      <p:sp>
        <p:nvSpPr>
          <p:cNvPr id="24" name="Shape 24"/>
          <p:cNvSpPr/>
          <p:nvPr/>
        </p:nvSpPr>
        <p:spPr>
          <a:xfrm>
            <a:off x="4552950" y="2466975"/>
            <a:ext cx="228600" cy="228600"/>
          </a:xfrm>
          <a:prstGeom prst="rightArrow">
            <a:avLst/>
          </a:prstGeom>
          <a:solidFill>
            <a:srgbClr val="BD8B22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5" name="Shape 25"/>
          <p:cNvSpPr/>
          <p:nvPr/>
        </p:nvSpPr>
        <p:spPr>
          <a:xfrm>
            <a:off x="4838700" y="2228850"/>
            <a:ext cx="2857500" cy="70485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6" name="Shape 26"/>
          <p:cNvSpPr/>
          <p:nvPr/>
        </p:nvSpPr>
        <p:spPr>
          <a:xfrm>
            <a:off x="4838700" y="2228850"/>
            <a:ext cx="38100" cy="70485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27" name="Shape 27"/>
          <p:cNvSpPr/>
          <p:nvPr/>
        </p:nvSpPr>
        <p:spPr>
          <a:xfrm>
            <a:off x="4953000" y="2228850"/>
            <a:ext cx="27051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000" b="0" dirty="0">
                <a:solidFill>
                  <a:srgbClr val="1D2A24"/>
                </a:solidFill>
                <a:latin typeface="Segoe UI"/>
                <a:cs typeface="Segoe UI"/>
              </a:rPr>
              <a:t>Single portfolio register with projects, PETs, budget lines and invoices, plus the Management report</a:t>
            </a:r>
            <a:endParaRPr lang="en-US" sz="1000" dirty="0"/>
          </a:p>
        </p:txBody>
      </p:sp>
      <p:sp>
        <p:nvSpPr>
          <p:cNvPr id="28" name="Shape 28"/>
          <p:cNvSpPr/>
          <p:nvPr/>
        </p:nvSpPr>
        <p:spPr>
          <a:xfrm>
            <a:off x="7753350" y="2228850"/>
            <a:ext cx="21145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0B4A36"/>
            </a:solidFill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0B4A36"/>
                </a:solidFill>
                <a:latin typeface="Segoe UI"/>
                <a:cs typeface="Segoe UI"/>
              </a:rPr>
              <a:t>One trusted view for portfolio reviews</a:t>
            </a:r>
            <a:endParaRPr lang="en-US" sz="1100" dirty="0"/>
          </a:p>
        </p:txBody>
      </p:sp>
      <p:sp>
        <p:nvSpPr>
          <p:cNvPr id="29" name="Shape 29"/>
          <p:cNvSpPr/>
          <p:nvPr/>
        </p:nvSpPr>
        <p:spPr>
          <a:xfrm>
            <a:off x="9925050" y="2228850"/>
            <a:ext cx="1885950" cy="704850"/>
          </a:xfrm>
          <a:prstGeom prst="rect">
            <a:avLst/>
          </a:prstGeom>
          <a:solidFill>
            <a:srgbClr val="F7EEDB"/>
          </a:solidFill>
          <a:ln w="7144">
            <a:solidFill>
              <a:srgbClr val="BD8B22"/>
            </a:solidFill>
            <a:prstDash val="dash"/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950" b="0" dirty="0">
                <a:solidFill>
                  <a:srgbClr val="1D2A24"/>
                </a:solidFill>
                <a:latin typeface="Segoe UI"/>
                <a:cs typeface="Segoe UI"/>
              </a:rPr>
              <a:t>% of active projects registered in Falcon; time to prepare portfolio status</a:t>
            </a:r>
            <a:endParaRPr lang="en-US" sz="950" dirty="0"/>
          </a:p>
        </p:txBody>
      </p:sp>
      <p:sp>
        <p:nvSpPr>
          <p:cNvPr id="30" name="Shape 30"/>
          <p:cNvSpPr/>
          <p:nvPr/>
        </p:nvSpPr>
        <p:spPr>
          <a:xfrm>
            <a:off x="381000" y="3009900"/>
            <a:ext cx="19621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8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1" name="Shape 31"/>
          <p:cNvSpPr/>
          <p:nvPr/>
        </p:nvSpPr>
        <p:spPr>
          <a:xfrm>
            <a:off x="476250" y="3190875"/>
            <a:ext cx="342900" cy="342900"/>
          </a:xfrm>
          <a:prstGeom prst="ellipse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  <a:endParaRPr lang="en-US" sz="1200" dirty="0"/>
          </a:p>
        </p:txBody>
      </p:sp>
      <p:sp>
        <p:nvSpPr>
          <p:cNvPr id="32" name="Shape 32"/>
          <p:cNvSpPr/>
          <p:nvPr/>
        </p:nvSpPr>
        <p:spPr>
          <a:xfrm>
            <a:off x="895350" y="3009900"/>
            <a:ext cx="14097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0B4A36"/>
                </a:solidFill>
                <a:latin typeface="Segoe UI"/>
                <a:cs typeface="Segoe UI"/>
              </a:rPr>
              <a:t>Data quality &amp; consistency</a:t>
            </a:r>
            <a:endParaRPr lang="en-US" sz="1150" dirty="0"/>
          </a:p>
        </p:txBody>
      </p:sp>
      <p:sp>
        <p:nvSpPr>
          <p:cNvPr id="33" name="Shape 33"/>
          <p:cNvSpPr/>
          <p:nvPr/>
        </p:nvSpPr>
        <p:spPr>
          <a:xfrm>
            <a:off x="2400300" y="3009900"/>
            <a:ext cx="2076450" cy="704850"/>
          </a:xfrm>
          <a:prstGeom prst="rect">
            <a:avLst/>
          </a:prstGeom>
          <a:solidFill>
            <a:srgbClr val="F3F4F2"/>
          </a:solidFill>
          <a:ln>
            <a:noFill/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1000" b="0" dirty="0">
                <a:solidFill>
                  <a:srgbClr val="4A524E"/>
                </a:solidFill>
                <a:latin typeface="Segoe UI"/>
                <a:cs typeface="Segoe UI"/>
              </a:rPr>
              <a:t>Intake fields, ownership and sizing captured differently per team</a:t>
            </a:r>
            <a:endParaRPr lang="en-US" sz="1000" dirty="0"/>
          </a:p>
        </p:txBody>
      </p:sp>
      <p:sp>
        <p:nvSpPr>
          <p:cNvPr id="34" name="Shape 34"/>
          <p:cNvSpPr/>
          <p:nvPr/>
        </p:nvSpPr>
        <p:spPr>
          <a:xfrm>
            <a:off x="4552950" y="3248025"/>
            <a:ext cx="228600" cy="228600"/>
          </a:xfrm>
          <a:prstGeom prst="rightArrow">
            <a:avLst/>
          </a:prstGeom>
          <a:solidFill>
            <a:srgbClr val="BD8B22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5" name="Shape 35"/>
          <p:cNvSpPr/>
          <p:nvPr/>
        </p:nvSpPr>
        <p:spPr>
          <a:xfrm>
            <a:off x="4838700" y="3009900"/>
            <a:ext cx="2857500" cy="70485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6" name="Shape 36"/>
          <p:cNvSpPr/>
          <p:nvPr/>
        </p:nvSpPr>
        <p:spPr>
          <a:xfrm>
            <a:off x="4838700" y="3009900"/>
            <a:ext cx="38100" cy="70485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37" name="Shape 37"/>
          <p:cNvSpPr/>
          <p:nvPr/>
        </p:nvSpPr>
        <p:spPr>
          <a:xfrm>
            <a:off x="4953000" y="3009900"/>
            <a:ext cx="27051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000" b="0" dirty="0">
                <a:solidFill>
                  <a:srgbClr val="1D2A24"/>
                </a:solidFill>
                <a:latin typeface="Segoe UI"/>
                <a:cs typeface="Segoe UI"/>
              </a:rPr>
              <a:t>Standard registration, JIRA data sync, weighted project sizing and upload templates</a:t>
            </a:r>
            <a:endParaRPr lang="en-US" sz="1000" dirty="0"/>
          </a:p>
        </p:txBody>
      </p:sp>
      <p:sp>
        <p:nvSpPr>
          <p:cNvPr id="38" name="Shape 38"/>
          <p:cNvSpPr/>
          <p:nvPr/>
        </p:nvSpPr>
        <p:spPr>
          <a:xfrm>
            <a:off x="7753350" y="3009900"/>
            <a:ext cx="21145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0B4A36"/>
            </a:solidFill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0B4A36"/>
                </a:solidFill>
                <a:latin typeface="Segoe UI"/>
                <a:cs typeface="Segoe UI"/>
              </a:rPr>
              <a:t>Comparable, reliable project data</a:t>
            </a:r>
            <a:endParaRPr lang="en-US" sz="1100" dirty="0"/>
          </a:p>
        </p:txBody>
      </p:sp>
      <p:sp>
        <p:nvSpPr>
          <p:cNvPr id="39" name="Shape 39"/>
          <p:cNvSpPr/>
          <p:nvPr/>
        </p:nvSpPr>
        <p:spPr>
          <a:xfrm>
            <a:off x="9925050" y="3009900"/>
            <a:ext cx="1885950" cy="704850"/>
          </a:xfrm>
          <a:prstGeom prst="rect">
            <a:avLst/>
          </a:prstGeom>
          <a:solidFill>
            <a:srgbClr val="F7EEDB"/>
          </a:solidFill>
          <a:ln w="7144">
            <a:solidFill>
              <a:srgbClr val="BD8B22"/>
            </a:solidFill>
            <a:prstDash val="dash"/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950" b="0" dirty="0">
                <a:solidFill>
                  <a:srgbClr val="1D2A24"/>
                </a:solidFill>
                <a:latin typeface="Segoe UI"/>
                <a:cs typeface="Segoe UI"/>
              </a:rPr>
              <a:t>% of projects with complete owners and sizing</a:t>
            </a:r>
            <a:endParaRPr lang="en-US" sz="950" dirty="0"/>
          </a:p>
        </p:txBody>
      </p:sp>
      <p:sp>
        <p:nvSpPr>
          <p:cNvPr id="40" name="Shape 40"/>
          <p:cNvSpPr/>
          <p:nvPr/>
        </p:nvSpPr>
        <p:spPr>
          <a:xfrm>
            <a:off x="381000" y="3790950"/>
            <a:ext cx="19621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8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1" name="Shape 41"/>
          <p:cNvSpPr/>
          <p:nvPr/>
        </p:nvSpPr>
        <p:spPr>
          <a:xfrm>
            <a:off x="476250" y="3971925"/>
            <a:ext cx="342900" cy="342900"/>
          </a:xfrm>
          <a:prstGeom prst="ellipse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  <a:endParaRPr lang="en-US" sz="1200" dirty="0"/>
          </a:p>
        </p:txBody>
      </p:sp>
      <p:sp>
        <p:nvSpPr>
          <p:cNvPr id="42" name="Shape 42"/>
          <p:cNvSpPr/>
          <p:nvPr/>
        </p:nvSpPr>
        <p:spPr>
          <a:xfrm>
            <a:off x="895350" y="3790950"/>
            <a:ext cx="14097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0B4A36"/>
                </a:solidFill>
                <a:latin typeface="Segoe UI"/>
                <a:cs typeface="Segoe UI"/>
              </a:rPr>
              <a:t>Budget control &amp; governance</a:t>
            </a:r>
            <a:endParaRPr lang="en-US" sz="1150" dirty="0"/>
          </a:p>
        </p:txBody>
      </p:sp>
      <p:sp>
        <p:nvSpPr>
          <p:cNvPr id="43" name="Shape 43"/>
          <p:cNvSpPr/>
          <p:nvPr/>
        </p:nvSpPr>
        <p:spPr>
          <a:xfrm>
            <a:off x="2400300" y="3790950"/>
            <a:ext cx="2076450" cy="704850"/>
          </a:xfrm>
          <a:prstGeom prst="rect">
            <a:avLst/>
          </a:prstGeom>
          <a:solidFill>
            <a:srgbClr val="F3F4F2"/>
          </a:solidFill>
          <a:ln>
            <a:noFill/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1000" b="0" dirty="0">
                <a:solidFill>
                  <a:srgbClr val="4A524E"/>
                </a:solidFill>
                <a:latin typeface="Segoe UI"/>
                <a:cs typeface="Segoe UI"/>
              </a:rPr>
              <a:t>Commitments tracked separately from CAPEX / OPEX budgets</a:t>
            </a:r>
            <a:endParaRPr lang="en-US" sz="1000" dirty="0"/>
          </a:p>
        </p:txBody>
      </p:sp>
      <p:sp>
        <p:nvSpPr>
          <p:cNvPr id="44" name="Shape 44"/>
          <p:cNvSpPr/>
          <p:nvPr/>
        </p:nvSpPr>
        <p:spPr>
          <a:xfrm>
            <a:off x="4552950" y="4029075"/>
            <a:ext cx="228600" cy="228600"/>
          </a:xfrm>
          <a:prstGeom prst="rightArrow">
            <a:avLst/>
          </a:prstGeom>
          <a:solidFill>
            <a:srgbClr val="BD8B22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5" name="Shape 45"/>
          <p:cNvSpPr/>
          <p:nvPr/>
        </p:nvSpPr>
        <p:spPr>
          <a:xfrm>
            <a:off x="4838700" y="3790950"/>
            <a:ext cx="2857500" cy="70485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6" name="Shape 46"/>
          <p:cNvSpPr/>
          <p:nvPr/>
        </p:nvSpPr>
        <p:spPr>
          <a:xfrm>
            <a:off x="4838700" y="3790950"/>
            <a:ext cx="38100" cy="70485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47" name="Shape 47"/>
          <p:cNvSpPr/>
          <p:nvPr/>
        </p:nvSpPr>
        <p:spPr>
          <a:xfrm>
            <a:off x="4953000" y="3790950"/>
            <a:ext cx="27051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000" b="0" dirty="0">
                <a:solidFill>
                  <a:srgbClr val="1D2A24"/>
                </a:solidFill>
                <a:latin typeface="Segoe UI"/>
                <a:cs typeface="Segoe UI"/>
              </a:rPr>
              <a:t>Final approval checked against the remaining source balance; utilization tracked per CAPEX / OPEX source</a:t>
            </a:r>
            <a:endParaRPr lang="en-US" sz="1000" dirty="0"/>
          </a:p>
        </p:txBody>
      </p:sp>
      <p:sp>
        <p:nvSpPr>
          <p:cNvPr id="48" name="Shape 48"/>
          <p:cNvSpPr/>
          <p:nvPr/>
        </p:nvSpPr>
        <p:spPr>
          <a:xfrm>
            <a:off x="7753350" y="3790950"/>
            <a:ext cx="21145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0B4A36"/>
            </a:solidFill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0B4A36"/>
                </a:solidFill>
                <a:latin typeface="Segoe UI"/>
                <a:cs typeface="Segoe UI"/>
              </a:rPr>
              <a:t>Spend approved only within available budget</a:t>
            </a:r>
            <a:endParaRPr lang="en-US" sz="1100" dirty="0"/>
          </a:p>
        </p:txBody>
      </p:sp>
      <p:sp>
        <p:nvSpPr>
          <p:cNvPr id="49" name="Shape 49"/>
          <p:cNvSpPr/>
          <p:nvPr/>
        </p:nvSpPr>
        <p:spPr>
          <a:xfrm>
            <a:off x="9925050" y="3790950"/>
            <a:ext cx="1885950" cy="704850"/>
          </a:xfrm>
          <a:prstGeom prst="rect">
            <a:avLst/>
          </a:prstGeom>
          <a:solidFill>
            <a:srgbClr val="F7EEDB"/>
          </a:solidFill>
          <a:ln w="7144">
            <a:solidFill>
              <a:srgbClr val="BD8B22"/>
            </a:solidFill>
            <a:prstDash val="dash"/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950" b="0" dirty="0">
                <a:solidFill>
                  <a:srgbClr val="1D2A24"/>
                </a:solidFill>
                <a:latin typeface="Segoe UI"/>
                <a:cs typeface="Segoe UI"/>
              </a:rPr>
              <a:t>Utilization vs. budget by CAPEX / OPEX source</a:t>
            </a:r>
            <a:endParaRPr lang="en-US" sz="950" dirty="0"/>
          </a:p>
        </p:txBody>
      </p:sp>
      <p:sp>
        <p:nvSpPr>
          <p:cNvPr id="50" name="Shape 50"/>
          <p:cNvSpPr/>
          <p:nvPr/>
        </p:nvSpPr>
        <p:spPr>
          <a:xfrm>
            <a:off x="381000" y="4572000"/>
            <a:ext cx="19621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8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1" name="Shape 51"/>
          <p:cNvSpPr/>
          <p:nvPr/>
        </p:nvSpPr>
        <p:spPr>
          <a:xfrm>
            <a:off x="476250" y="4752975"/>
            <a:ext cx="342900" cy="342900"/>
          </a:xfrm>
          <a:prstGeom prst="ellipse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  <a:endParaRPr lang="en-US" sz="1200" dirty="0"/>
          </a:p>
        </p:txBody>
      </p:sp>
      <p:sp>
        <p:nvSpPr>
          <p:cNvPr id="52" name="Shape 52"/>
          <p:cNvSpPr/>
          <p:nvPr/>
        </p:nvSpPr>
        <p:spPr>
          <a:xfrm>
            <a:off x="895350" y="4572000"/>
            <a:ext cx="14097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0B4A36"/>
                </a:solidFill>
                <a:latin typeface="Segoe UI"/>
                <a:cs typeface="Segoe UI"/>
              </a:rPr>
              <a:t>Accountability &amp; approval tracking</a:t>
            </a:r>
            <a:endParaRPr lang="en-US" sz="1150" dirty="0"/>
          </a:p>
        </p:txBody>
      </p:sp>
      <p:sp>
        <p:nvSpPr>
          <p:cNvPr id="53" name="Shape 53"/>
          <p:cNvSpPr/>
          <p:nvPr/>
        </p:nvSpPr>
        <p:spPr>
          <a:xfrm>
            <a:off x="2400300" y="4572000"/>
            <a:ext cx="2076450" cy="704850"/>
          </a:xfrm>
          <a:prstGeom prst="rect">
            <a:avLst/>
          </a:prstGeom>
          <a:solidFill>
            <a:srgbClr val="F3F4F2"/>
          </a:solidFill>
          <a:ln>
            <a:noFill/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1000" b="0" dirty="0">
                <a:solidFill>
                  <a:srgbClr val="4A524E"/>
                </a:solidFill>
                <a:latin typeface="Segoe UI"/>
                <a:cs typeface="Segoe UI"/>
              </a:rPr>
              <a:t>Approvals by email; decision trail hard to reconstruct</a:t>
            </a:r>
            <a:endParaRPr lang="en-US" sz="1000" dirty="0"/>
          </a:p>
        </p:txBody>
      </p:sp>
      <p:sp>
        <p:nvSpPr>
          <p:cNvPr id="54" name="Shape 54"/>
          <p:cNvSpPr/>
          <p:nvPr/>
        </p:nvSpPr>
        <p:spPr>
          <a:xfrm>
            <a:off x="4552950" y="4810125"/>
            <a:ext cx="228600" cy="228600"/>
          </a:xfrm>
          <a:prstGeom prst="rightArrow">
            <a:avLst/>
          </a:prstGeom>
          <a:solidFill>
            <a:srgbClr val="BD8B22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5" name="Shape 55"/>
          <p:cNvSpPr/>
          <p:nvPr/>
        </p:nvSpPr>
        <p:spPr>
          <a:xfrm>
            <a:off x="4838700" y="4572000"/>
            <a:ext cx="2857500" cy="70485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6" name="Shape 56"/>
          <p:cNvSpPr/>
          <p:nvPr/>
        </p:nvSpPr>
        <p:spPr>
          <a:xfrm>
            <a:off x="4838700" y="4572000"/>
            <a:ext cx="38100" cy="70485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57" name="Shape 57"/>
          <p:cNvSpPr/>
          <p:nvPr/>
        </p:nvSpPr>
        <p:spPr>
          <a:xfrm>
            <a:off x="4953000" y="4572000"/>
            <a:ext cx="27051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000" b="0" dirty="0">
                <a:solidFill>
                  <a:srgbClr val="1D2A24"/>
                </a:solidFill>
                <a:latin typeface="Segoe UI"/>
                <a:cs typeface="Segoe UI"/>
              </a:rPr>
              <a:t>Named Reviewer and Approver; Approve, Send back or Reject with comments; workflow history</a:t>
            </a:r>
            <a:endParaRPr lang="en-US" sz="1000" dirty="0"/>
          </a:p>
        </p:txBody>
      </p:sp>
      <p:sp>
        <p:nvSpPr>
          <p:cNvPr id="58" name="Shape 58"/>
          <p:cNvSpPr/>
          <p:nvPr/>
        </p:nvSpPr>
        <p:spPr>
          <a:xfrm>
            <a:off x="7753350" y="4572000"/>
            <a:ext cx="21145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0B4A36"/>
            </a:solidFill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0B4A36"/>
                </a:solidFill>
                <a:latin typeface="Segoe UI"/>
                <a:cs typeface="Segoe UI"/>
              </a:rPr>
              <a:t>Clear ownership and an audit-ready trail</a:t>
            </a:r>
            <a:endParaRPr lang="en-US" sz="1100" dirty="0"/>
          </a:p>
        </p:txBody>
      </p:sp>
      <p:sp>
        <p:nvSpPr>
          <p:cNvPr id="59" name="Shape 59"/>
          <p:cNvSpPr/>
          <p:nvPr/>
        </p:nvSpPr>
        <p:spPr>
          <a:xfrm>
            <a:off x="9925050" y="4572000"/>
            <a:ext cx="1885950" cy="704850"/>
          </a:xfrm>
          <a:prstGeom prst="rect">
            <a:avLst/>
          </a:prstGeom>
          <a:solidFill>
            <a:srgbClr val="F7EEDB"/>
          </a:solidFill>
          <a:ln w="7144">
            <a:solidFill>
              <a:srgbClr val="BD8B22"/>
            </a:solidFill>
            <a:prstDash val="dash"/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950" b="0" dirty="0">
                <a:solidFill>
                  <a:srgbClr val="1D2A24"/>
                </a:solidFill>
                <a:latin typeface="Segoe UI"/>
                <a:cs typeface="Segoe UI"/>
              </a:rPr>
              <a:t>Average PET cycle time from submission to approval</a:t>
            </a:r>
            <a:endParaRPr lang="en-US" sz="950" dirty="0"/>
          </a:p>
        </p:txBody>
      </p:sp>
      <p:sp>
        <p:nvSpPr>
          <p:cNvPr id="60" name="Shape 60"/>
          <p:cNvSpPr/>
          <p:nvPr/>
        </p:nvSpPr>
        <p:spPr>
          <a:xfrm>
            <a:off x="381000" y="5353050"/>
            <a:ext cx="19621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D8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1" name="Shape 61"/>
          <p:cNvSpPr/>
          <p:nvPr/>
        </p:nvSpPr>
        <p:spPr>
          <a:xfrm>
            <a:off x="476250" y="5534025"/>
            <a:ext cx="342900" cy="342900"/>
          </a:xfrm>
          <a:prstGeom prst="ellipse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5</a:t>
            </a:r>
            <a:endParaRPr lang="en-US" sz="1200" dirty="0"/>
          </a:p>
        </p:txBody>
      </p:sp>
      <p:sp>
        <p:nvSpPr>
          <p:cNvPr id="62" name="Shape 62"/>
          <p:cNvSpPr/>
          <p:nvPr/>
        </p:nvSpPr>
        <p:spPr>
          <a:xfrm>
            <a:off x="895350" y="5353050"/>
            <a:ext cx="14097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150" b="1" dirty="0">
                <a:solidFill>
                  <a:srgbClr val="0B4A36"/>
                </a:solidFill>
                <a:latin typeface="Segoe UI"/>
                <a:cs typeface="Segoe UI"/>
              </a:rPr>
              <a:t>Operational efficiency &amp; decisions</a:t>
            </a:r>
            <a:endParaRPr lang="en-US" sz="1150" dirty="0"/>
          </a:p>
        </p:txBody>
      </p:sp>
      <p:sp>
        <p:nvSpPr>
          <p:cNvPr id="63" name="Shape 63"/>
          <p:cNvSpPr/>
          <p:nvPr/>
        </p:nvSpPr>
        <p:spPr>
          <a:xfrm>
            <a:off x="2400300" y="5353050"/>
            <a:ext cx="2076450" cy="704850"/>
          </a:xfrm>
          <a:prstGeom prst="rect">
            <a:avLst/>
          </a:prstGeom>
          <a:solidFill>
            <a:srgbClr val="F3F4F2"/>
          </a:solidFill>
          <a:ln>
            <a:noFill/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1000" b="0" dirty="0">
                <a:solidFill>
                  <a:srgbClr val="4A524E"/>
                </a:solidFill>
                <a:latin typeface="Segoe UI"/>
                <a:cs typeface="Segoe UI"/>
              </a:rPr>
              <a:t>Manual consolidation, follow-ups and document chasing</a:t>
            </a:r>
            <a:endParaRPr lang="en-US" sz="1000" dirty="0"/>
          </a:p>
        </p:txBody>
      </p:sp>
      <p:sp>
        <p:nvSpPr>
          <p:cNvPr id="64" name="Shape 64"/>
          <p:cNvSpPr/>
          <p:nvPr/>
        </p:nvSpPr>
        <p:spPr>
          <a:xfrm>
            <a:off x="4552950" y="5591175"/>
            <a:ext cx="228600" cy="228600"/>
          </a:xfrm>
          <a:prstGeom prst="rightArrow">
            <a:avLst/>
          </a:prstGeom>
          <a:solidFill>
            <a:srgbClr val="BD8B22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5" name="Shape 65"/>
          <p:cNvSpPr/>
          <p:nvPr/>
        </p:nvSpPr>
        <p:spPr>
          <a:xfrm>
            <a:off x="4838700" y="5353050"/>
            <a:ext cx="2857500" cy="704850"/>
          </a:xfrm>
          <a:prstGeom prst="rect">
            <a:avLst/>
          </a:prstGeom>
          <a:solidFill>
            <a:srgbClr val="EAF2EE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6" name="Shape 66"/>
          <p:cNvSpPr/>
          <p:nvPr/>
        </p:nvSpPr>
        <p:spPr>
          <a:xfrm>
            <a:off x="4838700" y="5353050"/>
            <a:ext cx="38100" cy="704850"/>
          </a:xfrm>
          <a:prstGeom prst="rect">
            <a:avLst/>
          </a:prstGeom>
          <a:solidFill>
            <a:srgbClr val="0B4A36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 dirty="0"/>
          </a:p>
        </p:txBody>
      </p:sp>
      <p:sp>
        <p:nvSpPr>
          <p:cNvPr id="67" name="Shape 67"/>
          <p:cNvSpPr/>
          <p:nvPr/>
        </p:nvSpPr>
        <p:spPr>
          <a:xfrm>
            <a:off x="4953000" y="5353050"/>
            <a:ext cx="27051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000" b="0" dirty="0">
                <a:solidFill>
                  <a:srgbClr val="1D2A24"/>
                </a:solidFill>
                <a:latin typeface="Segoe UI"/>
                <a:cs typeface="Segoe UI"/>
              </a:rPr>
              <a:t>Approval queue, bulk uploads and supporting documents in one place</a:t>
            </a:r>
            <a:endParaRPr lang="en-US" sz="1000" dirty="0"/>
          </a:p>
        </p:txBody>
      </p:sp>
      <p:sp>
        <p:nvSpPr>
          <p:cNvPr id="68" name="Shape 68"/>
          <p:cNvSpPr/>
          <p:nvPr/>
        </p:nvSpPr>
        <p:spPr>
          <a:xfrm>
            <a:off x="7753350" y="5353050"/>
            <a:ext cx="21145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0B4A36"/>
            </a:solidFill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0B4A36"/>
                </a:solidFill>
                <a:latin typeface="Segoe UI"/>
                <a:cs typeface="Segoe UI"/>
              </a:rPr>
              <a:t>Less admin effort; faster, better-informed decisions</a:t>
            </a:r>
            <a:endParaRPr lang="en-US" sz="1100" dirty="0"/>
          </a:p>
        </p:txBody>
      </p:sp>
      <p:sp>
        <p:nvSpPr>
          <p:cNvPr id="69" name="Shape 69"/>
          <p:cNvSpPr/>
          <p:nvPr/>
        </p:nvSpPr>
        <p:spPr>
          <a:xfrm>
            <a:off x="9925050" y="5353050"/>
            <a:ext cx="1885950" cy="704850"/>
          </a:xfrm>
          <a:prstGeom prst="rect">
            <a:avLst/>
          </a:prstGeom>
          <a:solidFill>
            <a:srgbClr val="F7EEDB"/>
          </a:solidFill>
          <a:ln w="7144">
            <a:solidFill>
              <a:srgbClr val="BD8B22"/>
            </a:solidFill>
            <a:prstDash val="dash"/>
          </a:ln>
        </p:spPr>
        <p:txBody>
          <a:bodyPr wrap="square" lIns="114300" tIns="0" rIns="114300" bIns="0" anchor="ctr" rtlCol="0">
            <a:noAutofit/>
          </a:bodyPr>
          <a:lstStyle/>
          <a:p>
            <a:pPr algn="l">
              <a:buNone/>
            </a:pPr>
            <a:r>
              <a:rPr lang="en-US" sz="950" b="0" dirty="0">
                <a:solidFill>
                  <a:srgbClr val="1D2A24"/>
                </a:solidFill>
                <a:latin typeface="Segoe UI"/>
                <a:cs typeface="Segoe UI"/>
              </a:rPr>
              <a:t>PETs pending beyond agreed SLA; sent-back rate</a:t>
            </a:r>
            <a:endParaRPr lang="en-US" sz="950" dirty="0"/>
          </a:p>
        </p:txBody>
      </p:sp>
      <p:sp>
        <p:nvSpPr>
          <p:cNvPr id="70" name="Shape 70"/>
          <p:cNvSpPr/>
          <p:nvPr/>
        </p:nvSpPr>
        <p:spPr>
          <a:xfrm>
            <a:off x="381000" y="6134100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0B4A36"/>
                </a:solidFill>
                <a:latin typeface="Segoe UI"/>
                <a:cs typeface="Segoe UI"/>
              </a:rPr>
              <a:t>Measurement note:  </a:t>
            </a:r>
            <a:r>
              <a:rPr lang="en-US" sz="850" b="0" dirty="0">
                <a:solidFill>
                  <a:srgbClr val="5B6862"/>
                </a:solidFill>
                <a:latin typeface="Segoe UI"/>
                <a:cs typeface="Segoe UI"/>
              </a:rPr>
              <a:t>Falcon does not yet hold a baseline for these KPIs; they are proposed for future tracking from Falcon's own data. 'Typical before' reflects common manual-process challenges to be validated with DIB business owners.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lcon">
  <a:themeElements>
    <a:clrScheme name="Falcon">
      <a:dk1>
        <a:srgbClr val="1D2A24"/>
      </a:dk1>
      <a:lt1>
        <a:srgbClr val="FFFFFF"/>
      </a:lt1>
      <a:dk2>
        <a:srgbClr val="0B4A36"/>
      </a:dk2>
      <a:lt2>
        <a:srgbClr val="F3F4F2"/>
      </a:lt2>
      <a:accent1>
        <a:srgbClr val="0B4A36"/>
      </a:accent1>
      <a:accent2>
        <a:srgbClr val="BD8B22"/>
      </a:accent2>
      <a:accent3>
        <a:srgbClr val="1F6B4F"/>
      </a:accent3>
      <a:accent4>
        <a:srgbClr val="8B918E"/>
      </a:accent4>
      <a:accent5>
        <a:srgbClr val="5B6862"/>
      </a:accent5>
      <a:accent6>
        <a:srgbClr val="D9C08A"/>
      </a:accent6>
      <a:hlink>
        <a:srgbClr val="0B4A36"/>
      </a:hlink>
      <a:folHlink>
        <a:srgbClr val="BD8B22"/>
      </a:folHlink>
    </a:clrScheme>
    <a:fontScheme name="Falc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Falc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3</Slides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Falcon Portfolio Portal - DIB Management</dc:title>
  <dc:creator>Falcon Portfolio Portal</dc:creator>
  <dcterms:created xsi:type="dcterms:W3CDTF">2026-10-23T06:25:21Z</dcterms:created>
</cp:coreProperties>
</file>